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301" r:id="rId2"/>
    <p:sldId id="312" r:id="rId3"/>
    <p:sldId id="317" r:id="rId4"/>
    <p:sldId id="313" r:id="rId5"/>
    <p:sldId id="392" r:id="rId6"/>
    <p:sldId id="376" r:id="rId7"/>
    <p:sldId id="385" r:id="rId8"/>
    <p:sldId id="380" r:id="rId9"/>
    <p:sldId id="382" r:id="rId10"/>
    <p:sldId id="389" r:id="rId11"/>
    <p:sldId id="390" r:id="rId12"/>
    <p:sldId id="387" r:id="rId13"/>
    <p:sldId id="388" r:id="rId14"/>
    <p:sldId id="413" r:id="rId15"/>
    <p:sldId id="414" r:id="rId16"/>
    <p:sldId id="391" r:id="rId17"/>
    <p:sldId id="415" r:id="rId18"/>
    <p:sldId id="411" r:id="rId19"/>
    <p:sldId id="417" r:id="rId20"/>
    <p:sldId id="418" r:id="rId21"/>
    <p:sldId id="420" r:id="rId22"/>
    <p:sldId id="419" r:id="rId23"/>
    <p:sldId id="266" r:id="rId2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2169BB3-EFC2-7940-8398-154E1E0B2510}">
          <p14:sldIdLst>
            <p14:sldId id="301"/>
            <p14:sldId id="312"/>
          </p14:sldIdLst>
        </p14:section>
        <p14:section name="SYSTEM MODEL" id="{3634A92E-ADB6-CE42-BE50-EECB3D07BDC5}">
          <p14:sldIdLst>
            <p14:sldId id="317"/>
            <p14:sldId id="313"/>
          </p14:sldIdLst>
        </p14:section>
        <p14:section name="SATELLITE CHANNEL MODEL" id="{158B801C-CB75-1A4B-BA41-FBD5474778A6}">
          <p14:sldIdLst/>
        </p14:section>
        <p14:section name="Intro" id="{607D4A3B-AAAE-5C4C-BE22-783630CB112A}">
          <p14:sldIdLst>
            <p14:sldId id="392"/>
            <p14:sldId id="376"/>
          </p14:sldIdLst>
        </p14:section>
        <p14:section name="time correlation - channel gain process" id="{1A054E96-67B9-C041-B2E8-0C9E25953DB4}">
          <p14:sldIdLst>
            <p14:sldId id="385"/>
            <p14:sldId id="380"/>
            <p14:sldId id="382"/>
          </p14:sldIdLst>
        </p14:section>
        <p14:section name="time correlation - autocorrelation of NLoS component" id="{28226E8C-2CE8-8D4A-81D8-F20ED277FB17}">
          <p14:sldIdLst>
            <p14:sldId id="389"/>
            <p14:sldId id="390"/>
          </p14:sldIdLst>
        </p14:section>
        <p14:section name="time correlation - PSD of the NLoS component" id="{F58E20AB-2CEA-6F4F-BD5F-EED960C7D995}">
          <p14:sldIdLst>
            <p14:sldId id="387"/>
            <p14:sldId id="388"/>
          </p14:sldIdLst>
        </p14:section>
        <p14:section name="PRECODING TECHNIQUES" id="{9B53D541-DF3E-DD4E-942E-DF2B6E066170}">
          <p14:sldIdLst>
            <p14:sldId id="413"/>
            <p14:sldId id="414"/>
          </p14:sldIdLst>
        </p14:section>
        <p14:section name="PERFORMANCE WITH OUTDATED CSI" id="{44516C3F-7AB6-E64A-9E31-C9537AC35D6D}">
          <p14:sldIdLst>
            <p14:sldId id="391"/>
            <p14:sldId id="415"/>
          </p14:sldIdLst>
        </p14:section>
        <p14:section name="PERFORMANCE WITH OUTDATED CSI AND CHANNEL PREDICTION" id="{C802AD15-D148-5E43-9819-3AB495AFA7BA}">
          <p14:sldIdLst>
            <p14:sldId id="411"/>
            <p14:sldId id="417"/>
            <p14:sldId id="418"/>
            <p14:sldId id="420"/>
            <p14:sldId id="419"/>
          </p14:sldIdLst>
        </p14:section>
        <p14:section name="OUTRO" id="{BFBD6C70-805E-5A4F-B1A9-E2507E720D2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543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9" orient="horz" pos="1480" userDrawn="1">
          <p15:clr>
            <a:srgbClr val="A4A3A4"/>
          </p15:clr>
        </p15:guide>
        <p15:guide id="10" orient="horz" pos="2251" userDrawn="1">
          <p15:clr>
            <a:srgbClr val="A4A3A4"/>
          </p15:clr>
        </p15:guide>
        <p15:guide id="12" pos="7446" userDrawn="1">
          <p15:clr>
            <a:srgbClr val="A4A3A4"/>
          </p15:clr>
        </p15:guide>
        <p15:guide id="13" pos="35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6602"/>
    <a:srgbClr val="1E64C8"/>
    <a:srgbClr val="1E840F"/>
    <a:srgbClr val="8BBEE8"/>
    <a:srgbClr val="C8D8F0"/>
    <a:srgbClr val="E9F0FA"/>
    <a:srgbClr val="AEB05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82" autoAdjust="0"/>
    <p:restoredTop sz="89768"/>
  </p:normalViewPr>
  <p:slideViewPr>
    <p:cSldViewPr snapToGrid="0" showGuides="1">
      <p:cViewPr varScale="1">
        <p:scale>
          <a:sx n="142" d="100"/>
          <a:sy n="142" d="100"/>
        </p:scale>
        <p:origin x="1120" y="184"/>
      </p:cViewPr>
      <p:guideLst>
        <p:guide orient="horz" pos="3543"/>
        <p:guide pos="211"/>
        <p:guide orient="horz" pos="4133"/>
        <p:guide orient="horz" pos="1480"/>
        <p:guide orient="horz" pos="2251"/>
        <p:guide pos="7446"/>
        <p:guide pos="3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59" d="100"/>
          <a:sy n="159" d="100"/>
        </p:scale>
        <p:origin x="53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0EFEC-C3FA-3C4A-B7F4-DA1C3F57E471}" type="datetimeFigureOut">
              <a:t>01/05/2026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22D08-1F01-BB49-AF51-EBB99F15D995}" type="slidenum"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048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The Rice factor K quantifies the strength of the deterministic LoS component relative to the scattered multipath.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f_D is the Doppler Frequency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94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["2_sl_0.1.5.3", "2_sl_0.4.5.3"]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466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ZF: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["2_sl_0.1.5.3", "2_sl_1.1.5.3", "2_sl_2.1.5.3", "2_sl_3.1.5.3", "2_sl_4.1.5.3", "2_sl_5.1.5.3"]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WMMSE: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["2_sl_0.4.5.3", "2_sl_1.4.5.3", "2_sl_2.4.5.3", "2_sl_3.4.5.3", "2_sl_4.4.5.3", "2_sl_5.4.5.3"]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998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["3_sl_0.1.5.3", "3_sl_1.1.5.3", "3_sl_2.1.5.3", "3_sl_3.1.5.3", "3_sl_4.1.5.3", "3_sl_5.1.5.3"]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5136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["3_sl_0.4.5.3", "3_sl_1.4.5.3", "3_sl_2.4.5.3", "3_sl_3.4.5.3", "3_sl_4.4.5.3", "3_sl_5.4.5.3"]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8220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6F5A-5479-97A8-D340-CFAE7B92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686AE-941B-AD87-3F49-15EEB5BAD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A32F9-3F4C-3812-C4EF-3A473DBD5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[["1_sl_0.1.5.3", "2_sl_0.1.5.3", "3_sl_0.1.5.3"], ["1_sl_0.1.5.3", "2_sl_1.1.5.3", "3_sl_1.1.5.3"], ["1_sl_0.1.5.3", "2_sl_2.1.5.3", "3_sl_2.1.5.3"], ["1_sl_0.1.5.3", "2_sl_3.1.5.3", "3_sl_3.1.5.3"], ["1_sl_0.1.5.3", "2_sl_4.1.5.3", "3_sl_4.1.5.3"], ["1_sl_0.1.5.3", "2_sl_5.1.5.3", "3_sl_5.1.5.3"]]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F4200-92DF-35E6-D71B-FFBC48530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020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sys_ref_numbers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[["1_sl_0.4.5.3", "2_sl_0.4.5.3", "3_sl_0.4.5.3"], ["1_sl_0.4.5.3", "2_sl_1.4.5.3", "3_sl_1.4.5.3"], ["1_sl_0.4.5.3", "2_sl_2.4.5.3", "3_sl_2.4.5.3"], ["1_sl_0.4.5.3", "2_sl_3.4.5.3", "3_sl_3.4.5.3"], ["1_sl_0.4.5.3", "2_sl_4.4.5.3", "3_sl_4.4.5.3"], ["1_sl_0.4.5.3", "2_sl_5.4.5.3", "3_sl_5.4.5.3"]]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9390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ugent.be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904834"/>
            <a:ext cx="5483225" cy="472761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1076122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1336460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 dirty="0"/>
              <a:t>Click to add subtitle / presenter / date [dd-mm-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CD99CC8-1C66-FA5B-C68B-CA8D27A11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2126254"/>
            <a:ext cx="5632959" cy="26012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pic>
        <p:nvPicPr>
          <p:cNvPr id="8" name="Afbeelding 17">
            <a:extLst>
              <a:ext uri="{FF2B5EF4-FFF2-40B4-BE49-F238E27FC236}">
                <a16:creationId xmlns:a16="http://schemas.microsoft.com/office/drawing/2014/main" id="{377D64E3-D8A5-11E3-0E0C-76355B8A07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0581EEBD-3A2E-3F65-A7CB-B3DD05283A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</p:spTree>
    <p:extLst>
      <p:ext uri="{BB962C8B-B14F-4D97-AF65-F5344CB8AC3E}">
        <p14:creationId xmlns:p14="http://schemas.microsoft.com/office/powerpoint/2010/main" val="388821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pos="415" userDrawn="1">
          <p15:clr>
            <a:srgbClr val="FBAE40"/>
          </p15:clr>
        </p15:guide>
        <p15:guide id="5" orient="horz" pos="25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-7643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769549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711564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01129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8BBEE8"/>
          </a:solidFill>
        </p:spPr>
        <p:txBody>
          <a:bodyPr lIns="216000" tIns="21600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42036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solidFill>
            <a:schemeClr val="bg1">
              <a:alpha val="10106"/>
            </a:schemeClr>
          </a:solidFill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944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8BBEE8"/>
          </a:solidFill>
        </p:spPr>
        <p:txBody>
          <a:bodyPr lIns="288000" tIns="144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6269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 userDrawn="1">
          <p15:clr>
            <a:srgbClr val="FBAE40"/>
          </p15:clr>
        </p15:guide>
        <p15:guide id="8" pos="40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31973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55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B6634-3E7A-5251-E883-2E5086975C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 dirty="0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362F20F1-ED28-85C0-71DB-505E68838417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128813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name presenter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744365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presenter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51459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r>
              <a:rPr lang="nl-BE" dirty="0"/>
              <a:t> or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448928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email </a:t>
            </a:r>
            <a:r>
              <a:rPr lang="nl-BE" dirty="0" err="1"/>
              <a:t>address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90654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37932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87902B-45B8-AF60-EDBD-FCD5EFD06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88FF502E-8D06-7F3E-2B5A-7C3BB3F17DC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E6C3D79-39D2-1CC1-710A-71F4376473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5C7FD63-C24F-9766-4D38-14E96DC1DE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7A2FB37-D7D0-D120-A655-7C75B68BBD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03C7886B-E8EB-BF9C-5EAB-500C666EA06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188310-B4F5-84E8-1582-FA7CC5C711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D6AAACB1-04C7-44D6-2E19-7196D2FAE16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6746C4A-1A2B-73F9-2735-FCADDF6790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680C7AB2-4763-95A8-4FA3-AE9A97C677E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DB81306-A097-1971-ACA8-4EBE7A81B9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Afbeelding 17">
            <a:extLst>
              <a:ext uri="{FF2B5EF4-FFF2-40B4-BE49-F238E27FC236}">
                <a16:creationId xmlns:a16="http://schemas.microsoft.com/office/drawing/2014/main" id="{1268C458-54E6-556D-8781-D86A10F2D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09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en-BE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C1D3A25-F5F4-AF4A-8239-A533218656DA}" type="slidenum">
              <a:rPr lang="en-BE"/>
              <a:pPr/>
              <a:t>‹#›</a:t>
            </a:fld>
            <a:endParaRPr lang="en-B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257FDC4-781E-E84B-ACE4-EF1686371FEC}" type="datetimeFigureOut">
              <a:rPr lang="en-BE"/>
              <a:pPr/>
              <a:t>01/05/2026</a:t>
            </a:fld>
            <a:endParaRPr lang="en-B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BE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19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3" r:id="rId5"/>
    <p:sldLayoutId id="2147483662" r:id="rId6"/>
    <p:sldLayoutId id="2147483668" r:id="rId7"/>
    <p:sldLayoutId id="2147483654" r:id="rId8"/>
    <p:sldLayoutId id="2147483666" r:id="rId9"/>
    <p:sldLayoutId id="2147483667" r:id="rId10"/>
  </p:sldLayoutIdLst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none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40.png"/><Relationship Id="rId5" Type="http://schemas.openxmlformats.org/officeDocument/2006/relationships/image" Target="../media/image31.png"/><Relationship Id="rId10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4.png"/><Relationship Id="rId3" Type="http://schemas.openxmlformats.org/officeDocument/2006/relationships/image" Target="../media/image35.png"/><Relationship Id="rId7" Type="http://schemas.openxmlformats.org/officeDocument/2006/relationships/image" Target="../media/image45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52.png"/><Relationship Id="rId5" Type="http://schemas.openxmlformats.org/officeDocument/2006/relationships/image" Target="../media/image37.png"/><Relationship Id="rId10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school/ghent-university" TargetMode="External"/><Relationship Id="rId3" Type="http://schemas.openxmlformats.org/officeDocument/2006/relationships/image" Target="../media/image47.svg"/><Relationship Id="rId7" Type="http://schemas.openxmlformats.org/officeDocument/2006/relationships/image" Target="../media/image49.svg"/><Relationship Id="rId12" Type="http://schemas.openxmlformats.org/officeDocument/2006/relationships/hyperlink" Target="http://www.ugent.be/" TargetMode="External"/><Relationship Id="rId2" Type="http://schemas.openxmlformats.org/officeDocument/2006/relationships/hyperlink" Target="https://www.facebook.com/ugent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instagram.com/ugent/" TargetMode="External"/><Relationship Id="rId11" Type="http://schemas.openxmlformats.org/officeDocument/2006/relationships/image" Target="../media/image51.svg"/><Relationship Id="rId5" Type="http://schemas.openxmlformats.org/officeDocument/2006/relationships/image" Target="../media/image48.svg"/><Relationship Id="rId10" Type="http://schemas.openxmlformats.org/officeDocument/2006/relationships/hyperlink" Target="http://www.youtube.com/user/UniversiteitGent" TargetMode="External"/><Relationship Id="rId4" Type="http://schemas.openxmlformats.org/officeDocument/2006/relationships/hyperlink" Target="https://www.twitter.com/ugent" TargetMode="External"/><Relationship Id="rId9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C24E2-8742-78CB-C3F1-07D657E9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B669136-86AD-0159-82AA-14CEB0334C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FCF8F4B-3FCA-EE96-54D7-DB166294F4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endParaRPr lang="en-B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B32D74B-39BA-87B2-5CB1-967A96264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B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107B840-194D-F887-2C2F-46798E0863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4F0712C-4B59-D2D7-57E0-99420852AD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8CE30F3-7283-19D0-68BC-C9CAB7D00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20C31CD-24C3-1A80-B208-50D8A84E129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F1B66F1-03CB-96BE-2610-B5C1B12A3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2126254"/>
            <a:ext cx="11511134" cy="2601271"/>
          </a:xfrm>
        </p:spPr>
        <p:txBody>
          <a:bodyPr>
            <a:normAutofit/>
          </a:bodyPr>
          <a:lstStyle/>
          <a:p>
            <a:r>
              <a:rPr lang="en-BE" sz="6000" dirty="0"/>
              <a:t>MU-MIMO</a:t>
            </a:r>
          </a:p>
          <a:p>
            <a:r>
              <a:rPr lang="en-BE" sz="6000" dirty="0"/>
              <a:t>Satellite Precoding Techniques</a:t>
            </a: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7CA3A590-0155-56E0-4F96-0AF193335E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00555" y="5852592"/>
            <a:ext cx="1929765" cy="698896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567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9CC61-0CDE-3E5B-272B-2DA17EC4B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dirty="0"/>
              <a:t>Introduction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387A2B-4315-07E5-C8CD-499A5691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668" y="912434"/>
            <a:ext cx="7426663" cy="55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7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0BDD59-91C0-A918-0CC1-9FBA945D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System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03129-74C9-8861-3C7C-0ACDA465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3" y="1412409"/>
            <a:ext cx="5596850" cy="1428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F4BE3-AF22-8B58-C851-2B306589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47" y="3109150"/>
            <a:ext cx="6779250" cy="1434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D2E9A-47A2-E21C-E369-A1215D603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27" y="4916422"/>
            <a:ext cx="7613619" cy="14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5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D055A5-F3E4-F026-81AD-3B147F18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162221"/>
            <a:ext cx="10893422" cy="893656"/>
          </a:xfrm>
        </p:spPr>
        <p:txBody>
          <a:bodyPr/>
          <a:lstStyle/>
          <a:p>
            <a:r>
              <a:rPr lang="en-BE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8FB2A0E4-A24D-C614-BC03-D9F99BFFA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609" y="2621898"/>
                <a:ext cx="10605121" cy="48768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sz="2600" dirty="0"/>
                  <a:t>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sz="2600" dirty="0"/>
                  <a:t>  at UT</a:t>
                </a:r>
                <a:r>
                  <a:rPr lang="en-BE" sz="2600" baseline="-25000" dirty="0"/>
                  <a:t>k</a:t>
                </a:r>
                <a:r>
                  <a:rPr lang="en-BE" sz="2600" dirty="0"/>
                  <a:t> can be written in terms of the transmitted signal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BE" sz="2600" dirty="0"/>
                  <a:t> as: 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8FB2A0E4-A24D-C614-BC03-D9F99BFFA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609" y="2621898"/>
                <a:ext cx="10605121" cy="487680"/>
              </a:xfrm>
              <a:blipFill>
                <a:blip r:embed="rId2"/>
                <a:stretch>
                  <a:fillRect l="-837" t="-17949" b="-2564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F65633-D501-67D3-66BA-8B615F773861}"/>
                  </a:ext>
                </a:extLst>
              </p:cNvPr>
              <p:cNvSpPr txBox="1"/>
              <p:nvPr/>
            </p:nvSpPr>
            <p:spPr>
              <a:xfrm>
                <a:off x="4779506" y="3193381"/>
                <a:ext cx="24722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 + 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F65633-D501-67D3-66BA-8B615F773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506" y="3193381"/>
                <a:ext cx="2472215" cy="369332"/>
              </a:xfrm>
              <a:prstGeom prst="rect">
                <a:avLst/>
              </a:prstGeom>
              <a:blipFill>
                <a:blip r:embed="rId3"/>
                <a:stretch>
                  <a:fillRect l="-2041" t="-10000" b="-3333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619BADA-0065-5D63-7946-03DD181BF8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609" y="4030575"/>
                <a:ext cx="10605121" cy="4876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1pPr>
                <a:lvl2pPr marL="9525" indent="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4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2pPr>
                <a:lvl3pPr marL="801688" indent="-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0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dirty="0"/>
                  <a:t>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dirty="0"/>
                  <a:t>  at UT</a:t>
                </a:r>
                <a:r>
                  <a:rPr lang="en-BE" baseline="-25000" dirty="0"/>
                  <a:t>k</a:t>
                </a:r>
                <a:r>
                  <a:rPr lang="en-BE" dirty="0"/>
                  <a:t> </a:t>
                </a:r>
                <a:r>
                  <a:rPr lang="en-US" dirty="0"/>
                  <a:t>is combined to obtain the scaled decision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dirty="0"/>
                  <a:t>:   </a:t>
                </a:r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619BADA-0065-5D63-7946-03DD181BF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" y="4030575"/>
                <a:ext cx="10605121" cy="487680"/>
              </a:xfrm>
              <a:prstGeom prst="rect">
                <a:avLst/>
              </a:prstGeom>
              <a:blipFill>
                <a:blip r:embed="rId4"/>
                <a:stretch>
                  <a:fillRect l="-837" t="-17949" b="-2564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FA2C49-3EF3-F68D-D453-98E1DC46A859}"/>
                  </a:ext>
                </a:extLst>
              </p:cNvPr>
              <p:cNvSpPr txBox="1"/>
              <p:nvPr/>
            </p:nvSpPr>
            <p:spPr>
              <a:xfrm>
                <a:off x="5098695" y="4654188"/>
                <a:ext cx="1767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FA2C49-3EF3-F68D-D453-98E1DC46A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695" y="4654188"/>
                <a:ext cx="1767920" cy="369332"/>
              </a:xfrm>
              <a:prstGeom prst="rect">
                <a:avLst/>
              </a:prstGeom>
              <a:blipFill>
                <a:blip r:embed="rId5"/>
                <a:stretch>
                  <a:fillRect l="-2143" t="-10000" r="-6429" b="-3666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04425AF-E7FB-13A1-3028-8CDAE42207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609" y="1191810"/>
                <a:ext cx="10605121" cy="8936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1pPr>
                <a:lvl2pPr marL="9525" indent="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4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2pPr>
                <a:lvl3pPr marL="801688" indent="-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0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sz="2600" dirty="0"/>
                  <a:t>The transmitted signal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BE" sz="2600" dirty="0"/>
                  <a:t> </a:t>
                </a:r>
                <a:r>
                  <a:rPr lang="en-US" sz="2600" dirty="0"/>
                  <a:t>is constructed at the BS by precoding the data streams:</a:t>
                </a:r>
                <a:endParaRPr lang="en-BE" sz="2600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04425AF-E7FB-13A1-3028-8CDAE4220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" y="1191810"/>
                <a:ext cx="10605121" cy="893656"/>
              </a:xfrm>
              <a:prstGeom prst="rect">
                <a:avLst/>
              </a:prstGeom>
              <a:blipFill>
                <a:blip r:embed="rId6"/>
                <a:stretch>
                  <a:fillRect l="-837" t="-11268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03B5-13E2-0541-8C1A-E82495AD26AB}"/>
                  </a:ext>
                </a:extLst>
              </p:cNvPr>
              <p:cNvSpPr txBox="1"/>
              <p:nvPr/>
            </p:nvSpPr>
            <p:spPr>
              <a:xfrm>
                <a:off x="4376299" y="1627877"/>
                <a:ext cx="3439395" cy="7613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⋅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03B5-13E2-0541-8C1A-E82495AD2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299" y="1627877"/>
                <a:ext cx="3439395" cy="761362"/>
              </a:xfrm>
              <a:prstGeom prst="rect">
                <a:avLst/>
              </a:prstGeom>
              <a:blipFill>
                <a:blip r:embed="rId7"/>
                <a:stretch>
                  <a:fillRect t="-172131" b="-25737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6EFAD-92E3-838A-1ABC-92767240CF13}"/>
                  </a:ext>
                </a:extLst>
              </p:cNvPr>
              <p:cNvSpPr txBox="1"/>
              <p:nvPr/>
            </p:nvSpPr>
            <p:spPr>
              <a:xfrm>
                <a:off x="4766016" y="6084276"/>
                <a:ext cx="263110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= 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𝐆𝐇𝐅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6EFAD-92E3-838A-1ABC-92767240C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016" y="6084276"/>
                <a:ext cx="2631105" cy="369332"/>
              </a:xfrm>
              <a:prstGeom prst="rect">
                <a:avLst/>
              </a:prstGeom>
              <a:blipFill>
                <a:blip r:embed="rId8"/>
                <a:stretch>
                  <a:fillRect l="-957" t="-6452" r="-4306"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4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FCA32-8302-6D33-49EF-DEDA46590A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7" y="1904921"/>
            <a:ext cx="5805040" cy="3597780"/>
          </a:xfrm>
        </p:spPr>
        <p:txBody>
          <a:bodyPr/>
          <a:lstStyle/>
          <a:p>
            <a:r>
              <a:rPr lang="en-BE" dirty="0"/>
              <a:t>Satellite</a:t>
            </a:r>
          </a:p>
          <a:p>
            <a:r>
              <a:rPr lang="en-BE" dirty="0"/>
              <a:t>Channel Model</a:t>
            </a:r>
          </a:p>
        </p:txBody>
      </p:sp>
    </p:spTree>
    <p:extLst>
      <p:ext uri="{BB962C8B-B14F-4D97-AF65-F5344CB8AC3E}">
        <p14:creationId xmlns:p14="http://schemas.microsoft.com/office/powerpoint/2010/main" val="219917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5AFE67-E93C-66E2-3463-801012FE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Satellite Channel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FADD63-4C2F-01F1-3BB4-5C29C921159B}"/>
                  </a:ext>
                </a:extLst>
              </p:cNvPr>
              <p:cNvSpPr txBox="1"/>
              <p:nvPr/>
            </p:nvSpPr>
            <p:spPr>
              <a:xfrm>
                <a:off x="475552" y="1356875"/>
                <a:ext cx="11240895" cy="368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j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NLoS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BE" sz="2000" dirty="0"/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sz="20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 ∞</m:t>
                        </m:r>
                      </m:e>
                    </m:d>
                  </m:oMath>
                </a14:m>
                <a:r>
                  <a:rPr lang="en-BE" i="1" dirty="0"/>
                  <a:t>   </a:t>
                </a:r>
                <a:r>
                  <a:rPr lang="en-BE" dirty="0"/>
                  <a:t>: The “Rice-factor”.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BE" dirty="0"/>
                  <a:t> : The arbitrary channel phase.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NLoS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NrxNt</m:t>
                        </m:r>
                      </m:sup>
                    </m:sSup>
                  </m:oMath>
                </a14:m>
                <a:r>
                  <a:rPr lang="en-BE" dirty="0"/>
                  <a:t> : The No Line-of-Sight (NLoS) components.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BE" dirty="0"/>
                  <a:t>	The entries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NLoS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BE" sz="1600" dirty="0"/>
                  <a:t> </a:t>
                </a:r>
                <a:r>
                  <a:rPr lang="en-BE" dirty="0"/>
                  <a:t>are i.i.d. zero-mean unit-variance complex Gaussian random processes: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NLoS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∼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0  1</m:t>
                        </m:r>
                      </m:e>
                    </m:d>
                  </m:oMath>
                </a14:m>
                <a:endParaRPr lang="en-BE" dirty="0"/>
              </a:p>
              <a:p>
                <a:pPr lvl="1"/>
                <a:r>
                  <a:rPr lang="en-BE" dirty="0"/>
                  <a:t>	Each process is correlated in time! The PSD is given by: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box>
                                          <m:box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argPr>
                                              <m:argSz m:val="-1"/>
                                            </m:argPr>
                                            <m:f>
                                              <m:f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f</m:t>
                                                </m:r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f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D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box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BE" dirty="0"/>
                  <a:t>(Clarke’s Fading Model)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FADD63-4C2F-01F1-3BB4-5C29C921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52" y="1356875"/>
                <a:ext cx="11240895" cy="36835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01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F188-B18F-BE7D-9406-5179190C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7672A0-1980-7092-0002-92EFC78E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09" y="2014468"/>
            <a:ext cx="10893106" cy="3540262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1E377-02CD-6440-6743-B49B7EEEE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6FD440-9C2C-FE11-3795-3F4E5B5B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342519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A181568-9E4A-49E0-C847-6DC02A922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09" y="2014468"/>
            <a:ext cx="10893106" cy="3540262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2CFE-FC16-A658-250F-0A12863462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0C4F9-70C9-DB70-AF20-197E555B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119415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F2C8-8364-7F17-B954-80060350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A64C535-3000-4B47-D49A-6B45F818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09" y="2014468"/>
            <a:ext cx="10893106" cy="3540262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14BD7-492D-39B5-0552-46B4E78B09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45970B-7408-BFFA-28C4-0D14189B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137166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2B8E-7EEB-AB99-8216-ADD7E6DB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0349F-21E9-EFD4-B744-D6A44B26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45" y="1889759"/>
            <a:ext cx="9655233" cy="378968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B98AC-5493-3BB6-7AF1-48CB272AF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 – autocorrelation of the NLoS component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4BEC3-174A-691C-4D3D-2F3B1415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4170720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E54C-9C30-49E9-7AD0-622AF79F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8D4C63-F7A9-D4C1-2F6B-F54638BFA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45" y="1889759"/>
            <a:ext cx="9655233" cy="378968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B1C5A-4651-2BE3-49F7-E92B459379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 – autocorrelation of the NLoS component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E3D6E9-ECC9-6451-E5EC-BCB2AACDC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196262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6110-78B4-B509-5B65-A6655027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063213-66F5-A6EE-335A-AAB51C39E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45" y="1889759"/>
            <a:ext cx="9655233" cy="378968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F275A-ABC9-4A83-8D7F-1C1D647F7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 – PSD of the NLoS component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A1930E-B883-75AF-E1E0-57299194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345620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FEB7-1986-40CE-12C6-D4967F0B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AC5B41-9CA1-E2CB-B88B-3A82EA96D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45" y="1889759"/>
            <a:ext cx="9655233" cy="3789681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58B7F-399D-09E1-60A4-5A40424CD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150143"/>
            <a:ext cx="10893106" cy="549275"/>
          </a:xfrm>
        </p:spPr>
        <p:txBody>
          <a:bodyPr>
            <a:normAutofit/>
          </a:bodyPr>
          <a:lstStyle/>
          <a:p>
            <a:r>
              <a:rPr lang="en-BE" dirty="0"/>
              <a:t>Time Correlation – PSD of the NLoS component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CC022E-714D-6C72-48B5-77B34D54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250995"/>
            <a:ext cx="10893422" cy="893656"/>
          </a:xfrm>
        </p:spPr>
        <p:txBody>
          <a:bodyPr anchor="ctr">
            <a:normAutofit/>
          </a:bodyPr>
          <a:lstStyle/>
          <a:p>
            <a:r>
              <a:rPr lang="en-BE" dirty="0"/>
              <a:t>Satellite Channel Model</a:t>
            </a:r>
          </a:p>
        </p:txBody>
      </p:sp>
    </p:spTree>
    <p:extLst>
      <p:ext uri="{BB962C8B-B14F-4D97-AF65-F5344CB8AC3E}">
        <p14:creationId xmlns:p14="http://schemas.microsoft.com/office/powerpoint/2010/main" val="2369506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1C7F-7B74-F3FF-B09D-1CEE2758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CA92797-9D8B-077C-FCA2-D6A846FB17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AC6DB-8E72-6C2C-38FA-3A28AB52C0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BE" dirty="0"/>
              <a:t>Precoding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757418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FFAD3-5CA7-B305-472D-123451E98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Fixed Bit Loader (16-QAM), Fully Loaded System (4 U</a:t>
            </a:r>
            <a:r>
              <a:rPr lang="en-GB" dirty="0"/>
              <a:t>T</a:t>
            </a:r>
            <a:r>
              <a:rPr lang="en-BE" dirty="0"/>
              <a:t>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C774F0-A3E8-9A66-0F2B-D638D014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B82E1-341D-017C-B71C-BE76DA3D3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" y="2039651"/>
            <a:ext cx="4934712" cy="4112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0DE66-0EBD-723F-94D6-25B6DD966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19" y="2039651"/>
            <a:ext cx="4934712" cy="411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55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D00C6E9-BBC0-C5C8-9F8F-185AD849EE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80787-3A5C-A4A0-C6B8-6FB6C29FD2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BE" dirty="0"/>
              <a:t>Performance with</a:t>
            </a:r>
          </a:p>
          <a:p>
            <a:r>
              <a:rPr lang="en-BE" dirty="0"/>
              <a:t>Outdated CSI</a:t>
            </a:r>
          </a:p>
        </p:txBody>
      </p:sp>
    </p:spTree>
    <p:extLst>
      <p:ext uri="{BB962C8B-B14F-4D97-AF65-F5344CB8AC3E}">
        <p14:creationId xmlns:p14="http://schemas.microsoft.com/office/powerpoint/2010/main" val="213189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46CFFD-C45A-7E1B-4A1A-630E7E40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Impact of Outdated CSI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CD14A-DB0E-CF39-6B99-3B8D59D85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9" y="1791331"/>
            <a:ext cx="5197408" cy="4331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5F8152-4CF2-2D6E-97CD-71EF5CAA3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22" y="1791331"/>
            <a:ext cx="5197409" cy="43311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2C8AC8-1353-36FF-B2A3-148D340D0E5E}"/>
              </a:ext>
            </a:extLst>
          </p:cNvPr>
          <p:cNvSpPr txBox="1"/>
          <p:nvPr/>
        </p:nvSpPr>
        <p:spPr>
          <a:xfrm>
            <a:off x="3443312" y="1591276"/>
            <a:ext cx="48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dirty="0"/>
              <a:t>ZF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13A0D-C2AE-0100-72F6-97232318D877}"/>
              </a:ext>
            </a:extLst>
          </p:cNvPr>
          <p:cNvSpPr txBox="1"/>
          <p:nvPr/>
        </p:nvSpPr>
        <p:spPr>
          <a:xfrm>
            <a:off x="8640720" y="1591276"/>
            <a:ext cx="921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dirty="0"/>
              <a:t>WMMSE</a:t>
            </a:r>
          </a:p>
        </p:txBody>
      </p:sp>
    </p:spTree>
    <p:extLst>
      <p:ext uri="{BB962C8B-B14F-4D97-AF65-F5344CB8AC3E}">
        <p14:creationId xmlns:p14="http://schemas.microsoft.com/office/powerpoint/2010/main" val="3913403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C74E-2FD9-1B96-B66B-A7AF5D8D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AA0518A-1486-D35D-57F8-782F30BD59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5815C-9805-8388-8F4F-073FFF9CB8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BE" dirty="0"/>
              <a:t>Performance with</a:t>
            </a:r>
          </a:p>
          <a:p>
            <a:r>
              <a:rPr lang="en-BE" dirty="0"/>
              <a:t>Outdated CSI &amp; Channel Prediction</a:t>
            </a:r>
          </a:p>
        </p:txBody>
      </p:sp>
    </p:spTree>
    <p:extLst>
      <p:ext uri="{BB962C8B-B14F-4D97-AF65-F5344CB8AC3E}">
        <p14:creationId xmlns:p14="http://schemas.microsoft.com/office/powerpoint/2010/main" val="4188894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C771B9-3906-76DB-6D14-A5DA9F50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Impact of Outdated CSI &amp; Channel Prediction (ZF)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53CE7F-8909-82A2-7D26-EBD4EABBB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9" y="1755648"/>
            <a:ext cx="5157215" cy="4297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F56D40-73FC-19A2-D1AE-608F1B3E6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8" y="1755648"/>
            <a:ext cx="5157215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3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E653-B66C-C639-5119-588BBF51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D9B8F8-AFBB-3B38-7EC6-39750AB1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Impact of Outdated CSI &amp; Channel Prediction (WMMSE)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93B73-77AE-B987-9B45-F17786F2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96" y="1699908"/>
            <a:ext cx="5404104" cy="4503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4F471D-0493-E8A6-A813-9D1439EAF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31328"/>
            <a:ext cx="54864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4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515AFE-C3E0-8E57-183B-7199592C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65105C45-2E51-0500-8EBD-8D87345778A8}"/>
              </a:ext>
            </a:extLst>
          </p:cNvPr>
          <p:cNvSpPr txBox="1"/>
          <p:nvPr/>
        </p:nvSpPr>
        <p:spPr>
          <a:xfrm>
            <a:off x="192024" y="5742432"/>
            <a:ext cx="996696" cy="8645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935BC0-6FCF-BE2D-239A-C044774A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Impact of Outdated CSI &amp; Channel Prediction (ZF)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1D4140-47A1-D36E-DD17-A807F03E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62" y="1541587"/>
            <a:ext cx="2951684" cy="24597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3FC5E6-9CAC-9127-980A-61230916C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085" y="4398263"/>
            <a:ext cx="2951684" cy="24597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D705B4-A403-6B3D-8E60-3CC96E472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478" y="4398263"/>
            <a:ext cx="2951684" cy="2459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EEEFDE-CF4F-6AEA-12EA-A261D500B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62" y="4398263"/>
            <a:ext cx="2951684" cy="24597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334791-893B-2DEF-95BD-920C2A062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085" y="1541587"/>
            <a:ext cx="2951684" cy="2459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4D618B-6B57-C899-30B3-BBD8A6BD1C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3478" y="1541588"/>
            <a:ext cx="2951684" cy="2459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DB4CB2-C66B-6A4A-84D8-67D6498E2CC5}"/>
                  </a:ext>
                </a:extLst>
              </p:cNvPr>
              <p:cNvSpPr txBox="1"/>
              <p:nvPr/>
            </p:nvSpPr>
            <p:spPr>
              <a:xfrm>
                <a:off x="1605673" y="1337099"/>
                <a:ext cx="8310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DB4CB2-C66B-6A4A-84D8-67D6498E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673" y="1337099"/>
                <a:ext cx="831060" cy="246221"/>
              </a:xfrm>
              <a:prstGeom prst="rect">
                <a:avLst/>
              </a:prstGeom>
              <a:blipFill>
                <a:blip r:embed="rId9"/>
                <a:stretch>
                  <a:fillRect l="-6061" r="-6061" b="-1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3A68F4-92EC-7E5F-53D4-D4FD6C8504EA}"/>
                  </a:ext>
                </a:extLst>
              </p:cNvPr>
              <p:cNvSpPr txBox="1"/>
              <p:nvPr/>
            </p:nvSpPr>
            <p:spPr>
              <a:xfrm>
                <a:off x="9111348" y="4144056"/>
                <a:ext cx="1035155" cy="292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3A68F4-92EC-7E5F-53D4-D4FD6C850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348" y="4144056"/>
                <a:ext cx="1035155" cy="292516"/>
              </a:xfrm>
              <a:prstGeom prst="rect">
                <a:avLst/>
              </a:prstGeom>
              <a:blipFill>
                <a:blip r:embed="rId10"/>
                <a:stretch>
                  <a:fillRect l="-4878" r="-1220" b="-2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7AF6AD-9B57-6F54-281E-32EC1DB82DA5}"/>
                  </a:ext>
                </a:extLst>
              </p:cNvPr>
              <p:cNvSpPr txBox="1"/>
              <p:nvPr/>
            </p:nvSpPr>
            <p:spPr>
              <a:xfrm>
                <a:off x="5471742" y="4144056"/>
                <a:ext cx="1035155" cy="287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7AF6AD-9B57-6F54-281E-32EC1DB82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742" y="4144056"/>
                <a:ext cx="1035155" cy="287964"/>
              </a:xfrm>
              <a:prstGeom prst="rect">
                <a:avLst/>
              </a:prstGeom>
              <a:blipFill>
                <a:blip r:embed="rId11"/>
                <a:stretch>
                  <a:fillRect l="-4878" t="-4348" r="-1220" b="-2608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1BD6E-561E-13E9-BD37-46D5345FE2A6}"/>
                  </a:ext>
                </a:extLst>
              </p:cNvPr>
              <p:cNvSpPr txBox="1"/>
              <p:nvPr/>
            </p:nvSpPr>
            <p:spPr>
              <a:xfrm>
                <a:off x="1401579" y="4143030"/>
                <a:ext cx="1035155" cy="288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1BD6E-561E-13E9-BD37-46D5345FE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579" y="4143030"/>
                <a:ext cx="1035155" cy="288990"/>
              </a:xfrm>
              <a:prstGeom prst="rect">
                <a:avLst/>
              </a:prstGeom>
              <a:blipFill>
                <a:blip r:embed="rId12"/>
                <a:stretch>
                  <a:fillRect l="-4878" t="-4348" r="-1220" b="-3043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95C74-731C-C9BE-D5E0-3E2139120122}"/>
                  </a:ext>
                </a:extLst>
              </p:cNvPr>
              <p:cNvSpPr txBox="1"/>
              <p:nvPr/>
            </p:nvSpPr>
            <p:spPr>
              <a:xfrm>
                <a:off x="9111348" y="1286357"/>
                <a:ext cx="1035155" cy="288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E95C74-731C-C9BE-D5E0-3E2139120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348" y="1286357"/>
                <a:ext cx="1035155" cy="288990"/>
              </a:xfrm>
              <a:prstGeom prst="rect">
                <a:avLst/>
              </a:prstGeom>
              <a:blipFill>
                <a:blip r:embed="rId13"/>
                <a:stretch>
                  <a:fillRect l="-4878" r="-1220" b="-3043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DD5BC0-BB47-E71A-6F21-18F44DDAB3D3}"/>
                  </a:ext>
                </a:extLst>
              </p:cNvPr>
              <p:cNvSpPr txBox="1"/>
              <p:nvPr/>
            </p:nvSpPr>
            <p:spPr>
              <a:xfrm>
                <a:off x="5502455" y="1286870"/>
                <a:ext cx="1035155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DD5BC0-BB47-E71A-6F21-18F44DDAB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455" y="1286870"/>
                <a:ext cx="1035155" cy="288477"/>
              </a:xfrm>
              <a:prstGeom prst="rect">
                <a:avLst/>
              </a:prstGeom>
              <a:blipFill>
                <a:blip r:embed="rId14"/>
                <a:stretch>
                  <a:fillRect l="-4878" r="-1220" b="-3043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541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DF00D-B20E-D040-C6AE-2ED0377D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F93519F-6AF4-369B-AEB7-2FE534386AEF}"/>
              </a:ext>
            </a:extLst>
          </p:cNvPr>
          <p:cNvSpPr txBox="1"/>
          <p:nvPr/>
        </p:nvSpPr>
        <p:spPr>
          <a:xfrm>
            <a:off x="192024" y="5742432"/>
            <a:ext cx="996696" cy="8645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64BC69-28CC-9473-D683-60F7FEE4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Impact of Outdated CSI &amp; Channel Prediction (WMMSE)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8325B-DD4B-0155-77E1-8C1F8FA3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114" y="4432020"/>
            <a:ext cx="2911176" cy="242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F5D494-419C-002B-295F-0C559280F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654" y="4432020"/>
            <a:ext cx="2911176" cy="2425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1938BA-B6B4-E795-28B3-40054A418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15" y="4432020"/>
            <a:ext cx="2911176" cy="2425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707464-2983-80D7-9519-6C06E8FBF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114" y="1615612"/>
            <a:ext cx="2911176" cy="24259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207434-F143-A53B-B702-C68EA825E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5654" y="1615612"/>
            <a:ext cx="2911176" cy="24259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6575C5-B0D8-4B3D-16B1-426E8D983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615" y="1615612"/>
            <a:ext cx="2911176" cy="24259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DA9EB5-52ED-DD78-18E6-4F5DD70EFF59}"/>
                  </a:ext>
                </a:extLst>
              </p:cNvPr>
              <p:cNvSpPr txBox="1"/>
              <p:nvPr/>
            </p:nvSpPr>
            <p:spPr>
              <a:xfrm>
                <a:off x="1697113" y="1401107"/>
                <a:ext cx="8310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DA9EB5-52ED-DD78-18E6-4F5DD70EF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113" y="1401107"/>
                <a:ext cx="831060" cy="246221"/>
              </a:xfrm>
              <a:prstGeom prst="rect">
                <a:avLst/>
              </a:prstGeom>
              <a:blipFill>
                <a:blip r:embed="rId9"/>
                <a:stretch>
                  <a:fillRect l="-5970" r="-5970" b="-1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C8A5A2-60F2-F363-B8CE-0D18474605A3}"/>
                  </a:ext>
                </a:extLst>
              </p:cNvPr>
              <p:cNvSpPr txBox="1"/>
              <p:nvPr/>
            </p:nvSpPr>
            <p:spPr>
              <a:xfrm>
                <a:off x="9367379" y="4189837"/>
                <a:ext cx="1035155" cy="292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C8A5A2-60F2-F363-B8CE-0D1847460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379" y="4189837"/>
                <a:ext cx="1035155" cy="292516"/>
              </a:xfrm>
              <a:prstGeom prst="rect">
                <a:avLst/>
              </a:prstGeom>
              <a:blipFill>
                <a:blip r:embed="rId10"/>
                <a:stretch>
                  <a:fillRect l="-4878" r="-1220" b="-2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42C7A-0E30-2307-12C0-EE0E247C08B1}"/>
                  </a:ext>
                </a:extLst>
              </p:cNvPr>
              <p:cNvSpPr txBox="1"/>
              <p:nvPr/>
            </p:nvSpPr>
            <p:spPr>
              <a:xfrm>
                <a:off x="5593894" y="4192626"/>
                <a:ext cx="1035155" cy="287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42C7A-0E30-2307-12C0-EE0E247C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94" y="4192626"/>
                <a:ext cx="1035155" cy="287964"/>
              </a:xfrm>
              <a:prstGeom prst="rect">
                <a:avLst/>
              </a:prstGeom>
              <a:blipFill>
                <a:blip r:embed="rId11"/>
                <a:stretch>
                  <a:fillRect l="-4878" t="-4348" r="-1220" b="-2608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F9C90E-BC64-2C4A-D22E-57259FE513F1}"/>
                  </a:ext>
                </a:extLst>
              </p:cNvPr>
              <p:cNvSpPr txBox="1"/>
              <p:nvPr/>
            </p:nvSpPr>
            <p:spPr>
              <a:xfrm>
                <a:off x="1595065" y="4191600"/>
                <a:ext cx="1035155" cy="288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F9C90E-BC64-2C4A-D22E-57259FE51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065" y="4191600"/>
                <a:ext cx="1035155" cy="288990"/>
              </a:xfrm>
              <a:prstGeom prst="rect">
                <a:avLst/>
              </a:prstGeom>
              <a:blipFill>
                <a:blip r:embed="rId12"/>
                <a:stretch>
                  <a:fillRect l="-4878" t="-4348" r="-1220" b="-3043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02A4CF-02C3-D647-02E8-E8F7902A8ED8}"/>
                  </a:ext>
                </a:extLst>
              </p:cNvPr>
              <p:cNvSpPr txBox="1"/>
              <p:nvPr/>
            </p:nvSpPr>
            <p:spPr>
              <a:xfrm>
                <a:off x="9367380" y="1350365"/>
                <a:ext cx="1035155" cy="288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02A4CF-02C3-D647-02E8-E8F7902A8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380" y="1350365"/>
                <a:ext cx="1035155" cy="288990"/>
              </a:xfrm>
              <a:prstGeom prst="rect">
                <a:avLst/>
              </a:prstGeom>
              <a:blipFill>
                <a:blip r:embed="rId13"/>
                <a:stretch>
                  <a:fillRect l="-4878" r="-1220" b="-2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2E5A1A-E09E-6292-4A0E-DA8E1CFF0F66}"/>
                  </a:ext>
                </a:extLst>
              </p:cNvPr>
              <p:cNvSpPr txBox="1"/>
              <p:nvPr/>
            </p:nvSpPr>
            <p:spPr>
              <a:xfrm>
                <a:off x="5593895" y="1350878"/>
                <a:ext cx="1035155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RTT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box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2E5A1A-E09E-6292-4A0E-DA8E1CFF0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95" y="1350878"/>
                <a:ext cx="1035155" cy="288477"/>
              </a:xfrm>
              <a:prstGeom prst="rect">
                <a:avLst/>
              </a:prstGeom>
              <a:blipFill>
                <a:blip r:embed="rId14"/>
                <a:stretch>
                  <a:fillRect l="-4878" r="-1220" b="-25000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57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AFB090-EE48-C52D-A9B3-CA15628B3C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BE" dirty="0"/>
              <a:t>Wannes Baes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BF859C-EF25-E859-0840-BF74EA43BE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9305" y="1656598"/>
            <a:ext cx="5800725" cy="368467"/>
          </a:xfrm>
        </p:spPr>
        <p:txBody>
          <a:bodyPr/>
          <a:lstStyle/>
          <a:p>
            <a:r>
              <a:rPr lang="en-BE" dirty="0"/>
              <a:t>Supervisors: Prof. Dr. Ir. Nele Noels, Dr. Ir. Rodrigo Moreas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D2CFEB-677A-B83F-CFDB-9011850651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BD67EFC-A88F-9E12-B872-30801B2931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84DF40-A8E4-A4C0-41A6-1A74F29D77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089646-7A82-08E2-1DD1-E731C701F4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BE" dirty="0"/>
              <a:t>annes.baes@ugent.be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DE9F60-5335-8234-C2B9-04577C026E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Universiteit Gent</a:t>
            </a:r>
          </a:p>
        </p:txBody>
      </p:sp>
      <p:pic>
        <p:nvPicPr>
          <p:cNvPr id="26" name="Picture Placeholder 25">
            <a:hlinkClick r:id="rId2"/>
            <a:extLst>
              <a:ext uri="{FF2B5EF4-FFF2-40B4-BE49-F238E27FC236}">
                <a16:creationId xmlns:a16="http://schemas.microsoft.com/office/drawing/2014/main" id="{9FB3CC2D-5390-0564-222E-B6D410FE8E9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94981" y="2572339"/>
            <a:ext cx="368467" cy="368467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A51C031-1C30-2E75-2A1D-8E6C4E6B22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BE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@ugent</a:t>
            </a:r>
          </a:p>
        </p:txBody>
      </p:sp>
      <p:pic>
        <p:nvPicPr>
          <p:cNvPr id="28" name="Picture Placeholder 27">
            <a:hlinkClick r:id="rId4"/>
            <a:extLst>
              <a:ext uri="{FF2B5EF4-FFF2-40B4-BE49-F238E27FC236}">
                <a16:creationId xmlns:a16="http://schemas.microsoft.com/office/drawing/2014/main" id="{F13E02E3-9776-71EE-3CD3-32BF2BC344F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6740C27-80C4-02E0-7320-A7188529E9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BE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@ugent</a:t>
            </a:r>
          </a:p>
        </p:txBody>
      </p:sp>
      <p:pic>
        <p:nvPicPr>
          <p:cNvPr id="30" name="Picture Placeholder 29">
            <a:hlinkClick r:id="rId6"/>
            <a:extLst>
              <a:ext uri="{FF2B5EF4-FFF2-40B4-BE49-F238E27FC236}">
                <a16:creationId xmlns:a16="http://schemas.microsoft.com/office/drawing/2014/main" id="{DCB2E44B-9803-9221-55A5-7FB71673D7C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1BF99A9-B150-15CF-D33F-A6B680D26C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BE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Ghent University</a:t>
            </a:r>
          </a:p>
        </p:txBody>
      </p:sp>
      <p:pic>
        <p:nvPicPr>
          <p:cNvPr id="32" name="Picture Placeholder 31">
            <a:hlinkClick r:id="rId8"/>
            <a:extLst>
              <a:ext uri="{FF2B5EF4-FFF2-40B4-BE49-F238E27FC236}">
                <a16:creationId xmlns:a16="http://schemas.microsoft.com/office/drawing/2014/main" id="{BD12A29D-A1BF-F2EF-147B-299658A590D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192002C-8789-CB1D-F78C-332D8BAB32B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</a:t>
            </a:r>
            <a:r>
              <a:rPr lang="en-BE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outube.com/ugent</a:t>
            </a:r>
          </a:p>
        </p:txBody>
      </p:sp>
      <p:pic>
        <p:nvPicPr>
          <p:cNvPr id="34" name="Picture Placeholder 33">
            <a:hlinkClick r:id="rId10"/>
            <a:extLst>
              <a:ext uri="{FF2B5EF4-FFF2-40B4-BE49-F238E27FC236}">
                <a16:creationId xmlns:a16="http://schemas.microsoft.com/office/drawing/2014/main" id="{DD1E2D79-EBEB-979E-7D1E-782F984DFE26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0" b="220"/>
          <a:stretch>
            <a:fillRect/>
          </a:stretch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9492567-30DB-0137-66D2-DE1B68BD4C1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BE"/>
              <a:t>www.ugent.be</a:t>
            </a:r>
          </a:p>
        </p:txBody>
      </p:sp>
      <p:sp>
        <p:nvSpPr>
          <p:cNvPr id="3" name="Rectangle 2">
            <a:hlinkClick r:id="rId12"/>
            <a:extLst>
              <a:ext uri="{FF2B5EF4-FFF2-40B4-BE49-F238E27FC236}">
                <a16:creationId xmlns:a16="http://schemas.microsoft.com/office/drawing/2014/main" id="{55F21908-4484-A8B3-AC27-DAC9BB754A79}"/>
              </a:ext>
            </a:extLst>
          </p:cNvPr>
          <p:cNvSpPr/>
          <p:nvPr/>
        </p:nvSpPr>
        <p:spPr>
          <a:xfrm>
            <a:off x="8739398" y="4971369"/>
            <a:ext cx="1869260" cy="466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2604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svg"/></Relationships>
</file>

<file path=ppt/theme/theme1.xml><?xml version="1.0" encoding="utf-8"?>
<a:theme xmlns:a="http://schemas.openxmlformats.org/drawingml/2006/main" name="Kantoorthema">
  <a:themeElements>
    <a:clrScheme name="UGent FAC">
      <a:dk1>
        <a:srgbClr val="000000"/>
      </a:dk1>
      <a:lt1>
        <a:srgbClr val="FFFFFF"/>
      </a:lt1>
      <a:dk2>
        <a:srgbClr val="1E64C8"/>
      </a:dk2>
      <a:lt2>
        <a:srgbClr val="FFFFFF"/>
      </a:lt2>
      <a:accent1>
        <a:srgbClr val="F1A32B"/>
      </a:accent1>
      <a:accent2>
        <a:srgbClr val="DC4E31"/>
      </a:accent2>
      <a:accent3>
        <a:srgbClr val="2C8CA5"/>
      </a:accent3>
      <a:accent4>
        <a:srgbClr val="E85E71"/>
      </a:accent4>
      <a:accent5>
        <a:srgbClr val="8BBED5"/>
      </a:accent5>
      <a:accent6>
        <a:srgbClr val="AEB047"/>
      </a:accent6>
      <a:hlink>
        <a:srgbClr val="1E64C8"/>
      </a:hlink>
      <a:folHlink>
        <a:srgbClr val="1E64C8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a:spPr>
      <a:bodyPr/>
      <a:lstStyle>
        <a:defPPr algn="l">
          <a:defRPr/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hemeClr val="dk2">
            <a:tint val="4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e1" id="{CADDFB91-C688-4600-9637-E64F35C1E4BE}" vid="{E1B6215B-46C5-4A02-9A90-726F133FF5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22166</TotalTime>
  <Words>912</Words>
  <Application>Microsoft Macintosh PowerPoint</Application>
  <PresentationFormat>Widescreen</PresentationFormat>
  <Paragraphs>85</Paragraphs>
  <Slides>23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UGent Panno Text</vt:lpstr>
      <vt:lpstr>UGent Panno Text Medium</vt:lpstr>
      <vt:lpstr>UGent Panno Text SemiLight</vt:lpstr>
      <vt:lpstr>Kantoorthema</vt:lpstr>
      <vt:lpstr>PowerPoint Presentation</vt:lpstr>
      <vt:lpstr>Introduction</vt:lpstr>
      <vt:lpstr>System Model</vt:lpstr>
      <vt:lpstr>System Model</vt:lpstr>
      <vt:lpstr>PowerPoint Presentation</vt:lpstr>
      <vt:lpstr>Satellite Channel Model</vt:lpstr>
      <vt:lpstr>Satellite Channel Model</vt:lpstr>
      <vt:lpstr>Satellite Channel Model</vt:lpstr>
      <vt:lpstr>Satellite Channel Model</vt:lpstr>
      <vt:lpstr>Satellite Channel Model</vt:lpstr>
      <vt:lpstr>Satellite Channel Model</vt:lpstr>
      <vt:lpstr>Satellite Channel Model</vt:lpstr>
      <vt:lpstr>Satellite Channel Model</vt:lpstr>
      <vt:lpstr>PowerPoint Presentation</vt:lpstr>
      <vt:lpstr>Performance</vt:lpstr>
      <vt:lpstr>PowerPoint Presentation</vt:lpstr>
      <vt:lpstr>Impact of Outdated CSI</vt:lpstr>
      <vt:lpstr>PowerPoint Presentation</vt:lpstr>
      <vt:lpstr>Impact of Outdated CSI &amp; Channel Prediction (ZF)</vt:lpstr>
      <vt:lpstr>Impact of Outdated CSI &amp; Channel Prediction (WMMSE)</vt:lpstr>
      <vt:lpstr>Impact of Outdated CSI &amp; Channel Prediction (ZF)</vt:lpstr>
      <vt:lpstr>Impact of Outdated CSI &amp; Channel Prediction (WMMSE)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Wannes Baes</dc:creator>
  <cp:lastModifiedBy>Wannes Baes</cp:lastModifiedBy>
  <cp:revision>77</cp:revision>
  <dcterms:created xsi:type="dcterms:W3CDTF">2025-11-25T17:27:12Z</dcterms:created>
  <dcterms:modified xsi:type="dcterms:W3CDTF">2026-05-03T13:17:51Z</dcterms:modified>
</cp:coreProperties>
</file>