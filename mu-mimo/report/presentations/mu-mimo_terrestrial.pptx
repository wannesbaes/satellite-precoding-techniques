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301" r:id="rId2"/>
    <p:sldId id="312" r:id="rId3"/>
    <p:sldId id="317" r:id="rId4"/>
    <p:sldId id="313" r:id="rId5"/>
    <p:sldId id="320" r:id="rId6"/>
    <p:sldId id="324" r:id="rId7"/>
    <p:sldId id="328" r:id="rId8"/>
    <p:sldId id="318" r:id="rId9"/>
    <p:sldId id="389" r:id="rId10"/>
    <p:sldId id="390" r:id="rId11"/>
    <p:sldId id="392" r:id="rId12"/>
    <p:sldId id="391" r:id="rId13"/>
    <p:sldId id="360" r:id="rId14"/>
    <p:sldId id="364" r:id="rId15"/>
    <p:sldId id="366" r:id="rId16"/>
    <p:sldId id="365" r:id="rId17"/>
    <p:sldId id="340" r:id="rId18"/>
    <p:sldId id="336" r:id="rId19"/>
    <p:sldId id="367" r:id="rId20"/>
    <p:sldId id="368" r:id="rId21"/>
    <p:sldId id="369" r:id="rId22"/>
    <p:sldId id="370" r:id="rId23"/>
    <p:sldId id="322" r:id="rId24"/>
    <p:sldId id="371" r:id="rId25"/>
    <p:sldId id="372" r:id="rId26"/>
    <p:sldId id="373" r:id="rId27"/>
    <p:sldId id="374" r:id="rId28"/>
    <p:sldId id="323" r:id="rId29"/>
    <p:sldId id="380" r:id="rId30"/>
    <p:sldId id="381" r:id="rId31"/>
    <p:sldId id="382" r:id="rId32"/>
    <p:sldId id="383" r:id="rId33"/>
    <p:sldId id="337" r:id="rId34"/>
    <p:sldId id="344" r:id="rId35"/>
    <p:sldId id="359" r:id="rId36"/>
    <p:sldId id="357" r:id="rId37"/>
    <p:sldId id="384" r:id="rId38"/>
    <p:sldId id="385" r:id="rId39"/>
    <p:sldId id="386" r:id="rId40"/>
    <p:sldId id="343" r:id="rId41"/>
    <p:sldId id="345" r:id="rId42"/>
    <p:sldId id="358" r:id="rId43"/>
    <p:sldId id="375" r:id="rId44"/>
    <p:sldId id="355" r:id="rId45"/>
    <p:sldId id="356" r:id="rId46"/>
    <p:sldId id="266" r:id="rId47"/>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2169BB3-EFC2-7940-8398-154E1E0B2510}">
          <p14:sldIdLst>
            <p14:sldId id="301"/>
            <p14:sldId id="312"/>
          </p14:sldIdLst>
        </p14:section>
        <p14:section name="SYSTEM MODEL" id="{3634A92E-ADB6-CE42-BE50-EECB3D07BDC5}">
          <p14:sldIdLst>
            <p14:sldId id="317"/>
            <p14:sldId id="313"/>
          </p14:sldIdLst>
        </p14:section>
        <p14:section name="SIMULATION MODEL" id="{5728D6E3-7D06-EA46-956D-E474EEAC1882}">
          <p14:sldIdLst>
            <p14:sldId id="320"/>
            <p14:sldId id="324"/>
          </p14:sldIdLst>
        </p14:section>
        <p14:section name="PRECODING TECHNIQUES" id="{BAE91DAA-566B-5D42-99AA-267D21BCF572}">
          <p14:sldIdLst>
            <p14:sldId id="328"/>
          </p14:sldIdLst>
        </p14:section>
        <p14:section name="Precoding Techniques - ZF" id="{E155E754-761F-CC4C-8FF5-D98BEF083053}">
          <p14:sldIdLst>
            <p14:sldId id="318"/>
            <p14:sldId id="389"/>
            <p14:sldId id="390"/>
            <p14:sldId id="392"/>
            <p14:sldId id="391"/>
            <p14:sldId id="360"/>
            <p14:sldId id="364"/>
            <p14:sldId id="366"/>
            <p14:sldId id="365"/>
            <p14:sldId id="340"/>
          </p14:sldIdLst>
        </p14:section>
        <p14:section name="Precoding Techniques - ZF + LSV" id="{7237CB0F-D2C8-994A-941F-2115E13AB864}">
          <p14:sldIdLst>
            <p14:sldId id="336"/>
            <p14:sldId id="367"/>
            <p14:sldId id="368"/>
            <p14:sldId id="369"/>
            <p14:sldId id="370"/>
          </p14:sldIdLst>
        </p14:section>
        <p14:section name="Precoding Techniques - BD" id="{B57CFC84-6C88-EE4A-AE4C-B93932787E0D}">
          <p14:sldIdLst>
            <p14:sldId id="322"/>
            <p14:sldId id="371"/>
            <p14:sldId id="372"/>
            <p14:sldId id="373"/>
            <p14:sldId id="374"/>
          </p14:sldIdLst>
        </p14:section>
        <p14:section name="Precoding Techniques - WMMSE" id="{CE35255F-7054-684B-9C6B-E21B65B69D99}">
          <p14:sldIdLst>
            <p14:sldId id="323"/>
            <p14:sldId id="380"/>
            <p14:sldId id="381"/>
            <p14:sldId id="382"/>
            <p14:sldId id="383"/>
          </p14:sldIdLst>
        </p14:section>
        <p14:section name="Precoding Techniques - Comparison" id="{B67E92CE-B49E-9D4D-827F-29C3CE73AEF4}">
          <p14:sldIdLst>
            <p14:sldId id="337"/>
            <p14:sldId id="344"/>
            <p14:sldId id="359"/>
            <p14:sldId id="357"/>
            <p14:sldId id="384"/>
            <p14:sldId id="385"/>
            <p14:sldId id="386"/>
            <p14:sldId id="343"/>
            <p14:sldId id="345"/>
            <p14:sldId id="358"/>
            <p14:sldId id="375"/>
            <p14:sldId id="355"/>
            <p14:sldId id="356"/>
          </p14:sldIdLst>
        </p14:section>
        <p14:section name="OUTRO" id="{BFBD6C70-805E-5A4F-B1A9-E2507E720D2F}">
          <p14:sldIdLst>
            <p14:sldId id="266"/>
          </p14:sldIdLst>
        </p14:section>
      </p14:sectionLst>
    </p:ext>
    <p:ext uri="{EFAFB233-063F-42B5-8137-9DF3F51BA10A}">
      <p15:sldGuideLst xmlns:p15="http://schemas.microsoft.com/office/powerpoint/2012/main">
        <p15:guide id="3" orient="horz" pos="3543" userDrawn="1">
          <p15:clr>
            <a:srgbClr val="A4A3A4"/>
          </p15:clr>
        </p15:guide>
        <p15:guide id="4" pos="211" userDrawn="1">
          <p15:clr>
            <a:srgbClr val="A4A3A4"/>
          </p15:clr>
        </p15:guide>
        <p15:guide id="5" orient="horz" pos="4133" userDrawn="1">
          <p15:clr>
            <a:srgbClr val="A4A3A4"/>
          </p15:clr>
        </p15:guide>
        <p15:guide id="9" orient="horz" pos="1480" userDrawn="1">
          <p15:clr>
            <a:srgbClr val="A4A3A4"/>
          </p15:clr>
        </p15:guide>
        <p15:guide id="10" orient="horz" pos="2251" userDrawn="1">
          <p15:clr>
            <a:srgbClr val="A4A3A4"/>
          </p15:clr>
        </p15:guide>
        <p15:guide id="12" pos="7446" userDrawn="1">
          <p15:clr>
            <a:srgbClr val="A4A3A4"/>
          </p15:clr>
        </p15:guide>
        <p15:guide id="13" pos="359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6602"/>
    <a:srgbClr val="1E64C8"/>
    <a:srgbClr val="1E840F"/>
    <a:srgbClr val="8BBEE8"/>
    <a:srgbClr val="C8D8F0"/>
    <a:srgbClr val="E9F0FA"/>
    <a:srgbClr val="AEB050"/>
    <a:srgbClr val="FFD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786" autoAdjust="0"/>
    <p:restoredTop sz="84543"/>
  </p:normalViewPr>
  <p:slideViewPr>
    <p:cSldViewPr snapToGrid="0" showGuides="1">
      <p:cViewPr varScale="1">
        <p:scale>
          <a:sx n="134" d="100"/>
          <a:sy n="134" d="100"/>
        </p:scale>
        <p:origin x="1480" y="192"/>
      </p:cViewPr>
      <p:guideLst>
        <p:guide orient="horz" pos="3543"/>
        <p:guide pos="211"/>
        <p:guide orient="horz" pos="4133"/>
        <p:guide orient="horz" pos="1480"/>
        <p:guide orient="horz" pos="2251"/>
        <p:guide pos="7446"/>
        <p:guide pos="3591"/>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59" d="100"/>
          <a:sy n="159" d="100"/>
        </p:scale>
        <p:origin x="53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C0EFEC-C3FA-3C4A-B7F4-DA1C3F57E471}" type="datetimeFigureOut">
              <a:t>01/05/2026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22D08-1F01-BB49-AF51-EBB99F15D995}" type="slidenum">
              <a:t>‹#›</a:t>
            </a:fld>
            <a:endParaRPr lang="en-BE"/>
          </a:p>
        </p:txBody>
      </p:sp>
    </p:spTree>
    <p:extLst>
      <p:ext uri="{BB962C8B-B14F-4D97-AF65-F5344CB8AC3E}">
        <p14:creationId xmlns:p14="http://schemas.microsoft.com/office/powerpoint/2010/main" val="3090487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kern="1200" dirty="0">
                <a:solidFill>
                  <a:schemeClr val="tx1"/>
                </a:solidFill>
                <a:effectLst/>
                <a:latin typeface="+mn-lt"/>
                <a:ea typeface="+mn-ea"/>
                <a:cs typeface="+mn-cs"/>
              </a:rPr>
              <a:t>Because there is only one UT in the system, there is no interference to cancel. The precoder matrix can be chosen freely in the 2D transmit signal space, as long as it is not perpendicular to the channel vector. </a:t>
            </a:r>
          </a:p>
          <a:p>
            <a:pPr marL="171450" indent="-171450">
              <a:buFont typeface="Arial" panose="020B0604020202020204" pitchFamily="34" charset="0"/>
              <a:buChar char="•"/>
            </a:pPr>
            <a:r>
              <a:rPr lang="en-GB" sz="1200" b="0" kern="1200" dirty="0">
                <a:solidFill>
                  <a:schemeClr val="tx1"/>
                </a:solidFill>
                <a:effectLst/>
                <a:latin typeface="+mn-lt"/>
                <a:ea typeface="+mn-ea"/>
                <a:cs typeface="+mn-cs"/>
              </a:rPr>
              <a:t>Choosing the precoder direction to be parallel to the channel direction results in the highest possible signal-to-noise ratio (SNR) at the UT, and thus the best performance. This is the same precoder direction as the maximum ratio transmission (MRT) precoder.</a:t>
            </a:r>
          </a:p>
          <a:p>
            <a:endParaRPr lang="en-BE" dirty="0"/>
          </a:p>
        </p:txBody>
      </p:sp>
      <p:sp>
        <p:nvSpPr>
          <p:cNvPr id="4" name="Slide Number Placeholder 3"/>
          <p:cNvSpPr>
            <a:spLocks noGrp="1"/>
          </p:cNvSpPr>
          <p:nvPr>
            <p:ph type="sldNum" sz="quarter" idx="5"/>
          </p:nvPr>
        </p:nvSpPr>
        <p:spPr/>
        <p:txBody>
          <a:bodyPr/>
          <a:lstStyle/>
          <a:p>
            <a:fld id="{1E522D08-1F01-BB49-AF51-EBB99F15D995}" type="slidenum">
              <a:rPr lang="en-BE" smtClean="0"/>
              <a:t>9</a:t>
            </a:fld>
            <a:endParaRPr lang="en-BE"/>
          </a:p>
        </p:txBody>
      </p:sp>
    </p:spTree>
    <p:extLst>
      <p:ext uri="{BB962C8B-B14F-4D97-AF65-F5344CB8AC3E}">
        <p14:creationId xmlns:p14="http://schemas.microsoft.com/office/powerpoint/2010/main" val="138898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D</a:t>
            </a:r>
            <a:r>
              <a:rPr lang="en-BE" dirty="0"/>
              <a:t>istribution of the rx antennas across the U</a:t>
            </a:r>
            <a:r>
              <a:rPr lang="en-GB" dirty="0"/>
              <a:t>T</a:t>
            </a:r>
            <a:r>
              <a:rPr lang="en-BE" dirty="0"/>
              <a:t>s DOES NOT impact the system-wide performance, only the total number of receive antennas K*Nr !</a:t>
            </a:r>
          </a:p>
          <a:p>
            <a:pPr marL="171450" indent="-171450">
              <a:buFont typeface="Arial" panose="020B0604020202020204" pitchFamily="34" charset="0"/>
              <a:buChar char="•"/>
            </a:pPr>
            <a:r>
              <a:rPr lang="en-BE" dirty="0"/>
              <a:t>Achievable rate increases faster in function of the SNR with more receive antennas in the system.</a:t>
            </a:r>
          </a:p>
          <a:p>
            <a:pPr marL="171450" indent="-171450">
              <a:buFont typeface="Arial" panose="020B0604020202020204" pitchFamily="34" charset="0"/>
              <a:buChar char="•"/>
            </a:pPr>
            <a:r>
              <a:rPr lang="en-BE" dirty="0"/>
              <a:t>BER decreases faster in function of the SNR when difference between total number of receive antennas (K*Nr) and total number of transmit antannes (Nt) grows.</a:t>
            </a:r>
          </a:p>
          <a:p>
            <a:pPr marL="171450" indent="-171450">
              <a:buFont typeface="Arial" panose="020B0604020202020204" pitchFamily="34" charset="0"/>
              <a:buChar char="•"/>
            </a:pPr>
            <a:endParaRPr lang="en-BE" dirty="0"/>
          </a:p>
          <a:p>
            <a:pPr marL="0" indent="0">
              <a:buFont typeface="Arial" panose="020B0604020202020204" pitchFamily="34" charset="0"/>
              <a:buNone/>
            </a:pPr>
            <a:r>
              <a:rPr lang="en-BE" dirty="0"/>
              <a:t>Conclusion: The “denser” the system, the higher the achievable rate but the lower the BER at each SNR value.</a:t>
            </a:r>
          </a:p>
          <a:p>
            <a:endParaRPr lang="en-BE" dirty="0"/>
          </a:p>
        </p:txBody>
      </p:sp>
      <p:sp>
        <p:nvSpPr>
          <p:cNvPr id="4" name="Slide Number Placeholder 3"/>
          <p:cNvSpPr>
            <a:spLocks noGrp="1"/>
          </p:cNvSpPr>
          <p:nvPr>
            <p:ph type="sldNum" sz="quarter" idx="5"/>
          </p:nvPr>
        </p:nvSpPr>
        <p:spPr/>
        <p:txBody>
          <a:bodyPr/>
          <a:lstStyle/>
          <a:p>
            <a:fld id="{1E522D08-1F01-BB49-AF51-EBB99F15D995}" type="slidenum">
              <a:rPr lang="en-BE" smtClean="0"/>
              <a:t>13</a:t>
            </a:fld>
            <a:endParaRPr lang="en-BE"/>
          </a:p>
        </p:txBody>
      </p:sp>
    </p:spTree>
    <p:extLst>
      <p:ext uri="{BB962C8B-B14F-4D97-AF65-F5344CB8AC3E}">
        <p14:creationId xmlns:p14="http://schemas.microsoft.com/office/powerpoint/2010/main" val="2596929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BE" dirty="0"/>
              <a:t>The achievable rate stays the same. This makes sense: the achievable rate is independent of the bit loader!</a:t>
            </a:r>
          </a:p>
          <a:p>
            <a:pPr marL="171450" indent="-171450">
              <a:buFont typeface="Arial" panose="020B0604020202020204" pitchFamily="34" charset="0"/>
              <a:buChar char="•"/>
            </a:pPr>
            <a:r>
              <a:rPr lang="en-BE" dirty="0"/>
              <a:t>The IBR follows the achievable rate in discrete steps. This makes sense: the constellation size (in bits) has to be an (even) integer!</a:t>
            </a:r>
          </a:p>
          <a:p>
            <a:pPr marL="171450" indent="-171450">
              <a:buFont typeface="Arial" panose="020B0604020202020204" pitchFamily="34" charset="0"/>
              <a:buChar char="•"/>
            </a:pPr>
            <a:r>
              <a:rPr lang="en-BE" dirty="0"/>
              <a:t>The higher the SNR, the more data we transmit. The BER stays approximately constant!</a:t>
            </a:r>
          </a:p>
        </p:txBody>
      </p:sp>
      <p:sp>
        <p:nvSpPr>
          <p:cNvPr id="4" name="Slide Number Placeholder 3"/>
          <p:cNvSpPr>
            <a:spLocks noGrp="1"/>
          </p:cNvSpPr>
          <p:nvPr>
            <p:ph type="sldNum" sz="quarter" idx="5"/>
          </p:nvPr>
        </p:nvSpPr>
        <p:spPr/>
        <p:txBody>
          <a:bodyPr/>
          <a:lstStyle/>
          <a:p>
            <a:fld id="{1E522D08-1F01-BB49-AF51-EBB99F15D995}" type="slidenum">
              <a:rPr lang="en-BE" smtClean="0"/>
              <a:t>14</a:t>
            </a:fld>
            <a:endParaRPr lang="en-BE"/>
          </a:p>
        </p:txBody>
      </p:sp>
    </p:spTree>
    <p:extLst>
      <p:ext uri="{BB962C8B-B14F-4D97-AF65-F5344CB8AC3E}">
        <p14:creationId xmlns:p14="http://schemas.microsoft.com/office/powerpoint/2010/main" val="1264405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C427-F0C5-77D8-FDA8-5AA12C6C5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A4CC4-6B71-560F-6252-54E615914B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06A35-0D75-78C1-C55C-091F52F32DF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t>The achievable rate stays the same. This makes sense: the achievable rate is independent of the bit loader!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t>Using a smaller constellation size corresponds to a SNR gain (here approx 12.5 dB). It does not influence to slope of the curve.</a:t>
            </a:r>
          </a:p>
          <a:p>
            <a:pPr marL="171450" indent="-171450">
              <a:buFont typeface="Arial" panose="020B0604020202020204" pitchFamily="34" charset="0"/>
              <a:buChar char="•"/>
            </a:pPr>
            <a:endParaRPr lang="en-BE" dirty="0"/>
          </a:p>
        </p:txBody>
      </p:sp>
      <p:sp>
        <p:nvSpPr>
          <p:cNvPr id="4" name="Slide Number Placeholder 3">
            <a:extLst>
              <a:ext uri="{FF2B5EF4-FFF2-40B4-BE49-F238E27FC236}">
                <a16:creationId xmlns:a16="http://schemas.microsoft.com/office/drawing/2014/main" id="{796F2F90-BE34-096F-4BE5-439AA971F986}"/>
              </a:ext>
            </a:extLst>
          </p:cNvPr>
          <p:cNvSpPr>
            <a:spLocks noGrp="1"/>
          </p:cNvSpPr>
          <p:nvPr>
            <p:ph type="sldNum" sz="quarter" idx="5"/>
          </p:nvPr>
        </p:nvSpPr>
        <p:spPr/>
        <p:txBody>
          <a:bodyPr/>
          <a:lstStyle/>
          <a:p>
            <a:fld id="{1E522D08-1F01-BB49-AF51-EBB99F15D995}" type="slidenum">
              <a:rPr lang="en-BE" smtClean="0"/>
              <a:t>15</a:t>
            </a:fld>
            <a:endParaRPr lang="en-BE"/>
          </a:p>
        </p:txBody>
      </p:sp>
    </p:spTree>
    <p:extLst>
      <p:ext uri="{BB962C8B-B14F-4D97-AF65-F5344CB8AC3E}">
        <p14:creationId xmlns:p14="http://schemas.microsoft.com/office/powerpoint/2010/main" val="329751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t>The achievable rate stays the same. This makes sense: the achievable rate is independent of the bit loader!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t>The IBR follows the achievable rate in discrete steps. This makes sense: the constellation size (in bits) has to be an (even) integer!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BE" dirty="0"/>
              <a:t>The smaller the fraction of the achievable rate at which you send data, the lower the BER.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BE" dirty="0"/>
          </a:p>
          <a:p>
            <a:endParaRPr lang="en-BE" dirty="0"/>
          </a:p>
        </p:txBody>
      </p:sp>
      <p:sp>
        <p:nvSpPr>
          <p:cNvPr id="4" name="Slide Number Placeholder 3"/>
          <p:cNvSpPr>
            <a:spLocks noGrp="1"/>
          </p:cNvSpPr>
          <p:nvPr>
            <p:ph type="sldNum" sz="quarter" idx="5"/>
          </p:nvPr>
        </p:nvSpPr>
        <p:spPr/>
        <p:txBody>
          <a:bodyPr/>
          <a:lstStyle/>
          <a:p>
            <a:fld id="{1E522D08-1F01-BB49-AF51-EBB99F15D995}" type="slidenum">
              <a:rPr lang="en-BE" smtClean="0"/>
              <a:t>16</a:t>
            </a:fld>
            <a:endParaRPr lang="en-BE"/>
          </a:p>
        </p:txBody>
      </p:sp>
    </p:spTree>
    <p:extLst>
      <p:ext uri="{BB962C8B-B14F-4D97-AF65-F5344CB8AC3E}">
        <p14:creationId xmlns:p14="http://schemas.microsoft.com/office/powerpoint/2010/main" val="137361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6C874-E8C1-3B52-B4DE-F1C161E7A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5D9BF-F208-4B13-57C1-F2AB51FBD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12299-38AB-A6CF-7F80-9DC89E9CA384}"/>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8E91A092-8F38-E7DD-0721-28BB036F9C86}"/>
              </a:ext>
            </a:extLst>
          </p:cNvPr>
          <p:cNvSpPr>
            <a:spLocks noGrp="1"/>
          </p:cNvSpPr>
          <p:nvPr>
            <p:ph type="sldNum" sz="quarter" idx="5"/>
          </p:nvPr>
        </p:nvSpPr>
        <p:spPr/>
        <p:txBody>
          <a:bodyPr/>
          <a:lstStyle/>
          <a:p>
            <a:fld id="{1E522D08-1F01-BB49-AF51-EBB99F15D995}" type="slidenum">
              <a:rPr lang="en-BE" smtClean="0"/>
              <a:t>19</a:t>
            </a:fld>
            <a:endParaRPr lang="en-BE"/>
          </a:p>
        </p:txBody>
      </p:sp>
    </p:spTree>
    <p:extLst>
      <p:ext uri="{BB962C8B-B14F-4D97-AF65-F5344CB8AC3E}">
        <p14:creationId xmlns:p14="http://schemas.microsoft.com/office/powerpoint/2010/main" val="2218031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DE08A-78B5-D4E5-8E88-CE04C760B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8EA78-08A3-D2A2-EECE-95ABDADAC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62740-53A5-61D8-EF49-BE779288B243}"/>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D35827A6-2D6B-BB2A-BE15-9A23B0AF69C1}"/>
              </a:ext>
            </a:extLst>
          </p:cNvPr>
          <p:cNvSpPr>
            <a:spLocks noGrp="1"/>
          </p:cNvSpPr>
          <p:nvPr>
            <p:ph type="sldNum" sz="quarter" idx="5"/>
          </p:nvPr>
        </p:nvSpPr>
        <p:spPr/>
        <p:txBody>
          <a:bodyPr/>
          <a:lstStyle/>
          <a:p>
            <a:fld id="{1E522D08-1F01-BB49-AF51-EBB99F15D995}" type="slidenum">
              <a:rPr lang="en-BE" smtClean="0"/>
              <a:t>21</a:t>
            </a:fld>
            <a:endParaRPr lang="en-BE"/>
          </a:p>
        </p:txBody>
      </p:sp>
    </p:spTree>
    <p:extLst>
      <p:ext uri="{BB962C8B-B14F-4D97-AF65-F5344CB8AC3E}">
        <p14:creationId xmlns:p14="http://schemas.microsoft.com/office/powerpoint/2010/main" val="2102113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E20E-1C10-C9C3-95F4-345D37256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F0F4F-7A01-74FA-F147-1CD2AE488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44777-CBC5-9F73-92DF-4E15BB9F75AB}"/>
              </a:ext>
            </a:extLst>
          </p:cNvPr>
          <p:cNvSpPr>
            <a:spLocks noGrp="1"/>
          </p:cNvSpPr>
          <p:nvPr>
            <p:ph type="body" idx="1"/>
          </p:nvPr>
        </p:nvSpPr>
        <p:spPr/>
        <p:txBody>
          <a:bodyPr/>
          <a:lstStyle/>
          <a:p>
            <a:pPr marL="171450" indent="-171450">
              <a:buFont typeface="Arial" panose="020B0604020202020204" pitchFamily="34" charset="0"/>
              <a:buChar char="•"/>
            </a:pPr>
            <a:r>
              <a:rPr lang="en-BE" dirty="0"/>
              <a:t>Important: The achievable rate DOES depend on how the rx antennas are distributed across the U</a:t>
            </a:r>
            <a:r>
              <a:rPr lang="en-GB" dirty="0"/>
              <a:t>t</a:t>
            </a:r>
            <a:r>
              <a:rPr lang="en-BE" dirty="0"/>
              <a:t>s. This makes sense: the more the antennas are concentrated on fewer U</a:t>
            </a:r>
            <a:r>
              <a:rPr lang="en-GB" dirty="0"/>
              <a:t>t</a:t>
            </a:r>
            <a:r>
              <a:rPr lang="en-BE" dirty="0"/>
              <a:t>s, the better we con exploit the combining process.</a:t>
            </a:r>
          </a:p>
          <a:p>
            <a:pPr marL="171450" indent="-171450">
              <a:buFont typeface="Arial" panose="020B0604020202020204" pitchFamily="34" charset="0"/>
              <a:buChar char="•"/>
            </a:pPr>
            <a:r>
              <a:rPr lang="en-BE" dirty="0"/>
              <a:t>The slope of the achievable rate depends on the total number of receive antennas, only! There is an SNR gain when the receive antennas are concentrated on fewer U</a:t>
            </a:r>
            <a:r>
              <a:rPr lang="en-GB" dirty="0"/>
              <a:t>t</a:t>
            </a:r>
            <a:r>
              <a:rPr lang="en-BE" dirty="0"/>
              <a:t>s.</a:t>
            </a:r>
          </a:p>
          <a:p>
            <a:pPr marL="171450" indent="-171450">
              <a:buFont typeface="Arial" panose="020B0604020202020204" pitchFamily="34" charset="0"/>
              <a:buChar char="•"/>
            </a:pPr>
            <a:endParaRPr lang="en-BE" dirty="0"/>
          </a:p>
        </p:txBody>
      </p:sp>
      <p:sp>
        <p:nvSpPr>
          <p:cNvPr id="4" name="Slide Number Placeholder 3">
            <a:extLst>
              <a:ext uri="{FF2B5EF4-FFF2-40B4-BE49-F238E27FC236}">
                <a16:creationId xmlns:a16="http://schemas.microsoft.com/office/drawing/2014/main" id="{919A1A76-1BC9-5729-87BA-F05FBE8D4DEB}"/>
              </a:ext>
            </a:extLst>
          </p:cNvPr>
          <p:cNvSpPr>
            <a:spLocks noGrp="1"/>
          </p:cNvSpPr>
          <p:nvPr>
            <p:ph type="sldNum" sz="quarter" idx="5"/>
          </p:nvPr>
        </p:nvSpPr>
        <p:spPr/>
        <p:txBody>
          <a:bodyPr/>
          <a:lstStyle/>
          <a:p>
            <a:fld id="{1E522D08-1F01-BB49-AF51-EBB99F15D995}" type="slidenum">
              <a:rPr lang="en-BE" smtClean="0"/>
              <a:t>24</a:t>
            </a:fld>
            <a:endParaRPr lang="en-BE"/>
          </a:p>
        </p:txBody>
      </p:sp>
    </p:spTree>
    <p:extLst>
      <p:ext uri="{BB962C8B-B14F-4D97-AF65-F5344CB8AC3E}">
        <p14:creationId xmlns:p14="http://schemas.microsoft.com/office/powerpoint/2010/main" val="524407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1E522D08-1F01-BB49-AF51-EBB99F15D995}" type="slidenum">
              <a:rPr lang="en-BE" smtClean="0"/>
              <a:t>25</a:t>
            </a:fld>
            <a:endParaRPr lang="en-BE"/>
          </a:p>
        </p:txBody>
      </p:sp>
    </p:spTree>
    <p:extLst>
      <p:ext uri="{BB962C8B-B14F-4D97-AF65-F5344CB8AC3E}">
        <p14:creationId xmlns:p14="http://schemas.microsoft.com/office/powerpoint/2010/main" val="3771202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43AB-6748-A86F-FCA3-292802A1D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7059B-2FC9-6CCB-3E5F-45DDA011C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2F005-A147-FFA2-5F91-3CD254F44401}"/>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636344CA-92FE-ADFC-65BD-77AC517031E0}"/>
              </a:ext>
            </a:extLst>
          </p:cNvPr>
          <p:cNvSpPr>
            <a:spLocks noGrp="1"/>
          </p:cNvSpPr>
          <p:nvPr>
            <p:ph type="sldNum" sz="quarter" idx="5"/>
          </p:nvPr>
        </p:nvSpPr>
        <p:spPr/>
        <p:txBody>
          <a:bodyPr/>
          <a:lstStyle/>
          <a:p>
            <a:fld id="{1E522D08-1F01-BB49-AF51-EBB99F15D995}" type="slidenum">
              <a:rPr lang="en-BE" smtClean="0"/>
              <a:t>26</a:t>
            </a:fld>
            <a:endParaRPr lang="en-BE"/>
          </a:p>
        </p:txBody>
      </p:sp>
    </p:spTree>
    <p:extLst>
      <p:ext uri="{BB962C8B-B14F-4D97-AF65-F5344CB8AC3E}">
        <p14:creationId xmlns:p14="http://schemas.microsoft.com/office/powerpoint/2010/main" val="2883494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B6E1C-B2C0-3F33-F9C3-13FFBABC2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1634A-F3C9-58CC-E177-B7D6CA2EA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88AAD-811A-A920-3C9D-B2E121E10624}"/>
              </a:ext>
            </a:extLst>
          </p:cNvPr>
          <p:cNvSpPr>
            <a:spLocks noGrp="1"/>
          </p:cNvSpPr>
          <p:nvPr>
            <p:ph type="body" idx="1"/>
          </p:nvPr>
        </p:nvSpPr>
        <p:spPr/>
        <p:txBody>
          <a:bodyPr/>
          <a:lstStyle/>
          <a:p>
            <a:pPr marL="171450" indent="-171450">
              <a:buFont typeface="Arial" panose="020B0604020202020204" pitchFamily="34" charset="0"/>
              <a:buChar char="•"/>
            </a:pPr>
            <a:endParaRPr lang="en-BE" dirty="0"/>
          </a:p>
        </p:txBody>
      </p:sp>
      <p:sp>
        <p:nvSpPr>
          <p:cNvPr id="4" name="Slide Number Placeholder 3">
            <a:extLst>
              <a:ext uri="{FF2B5EF4-FFF2-40B4-BE49-F238E27FC236}">
                <a16:creationId xmlns:a16="http://schemas.microsoft.com/office/drawing/2014/main" id="{BAD2F375-8090-4E7B-0C18-234339B20347}"/>
              </a:ext>
            </a:extLst>
          </p:cNvPr>
          <p:cNvSpPr>
            <a:spLocks noGrp="1"/>
          </p:cNvSpPr>
          <p:nvPr>
            <p:ph type="sldNum" sz="quarter" idx="5"/>
          </p:nvPr>
        </p:nvSpPr>
        <p:spPr/>
        <p:txBody>
          <a:bodyPr/>
          <a:lstStyle/>
          <a:p>
            <a:fld id="{1E522D08-1F01-BB49-AF51-EBB99F15D995}" type="slidenum">
              <a:rPr lang="en-BE" smtClean="0"/>
              <a:t>29</a:t>
            </a:fld>
            <a:endParaRPr lang="en-BE"/>
          </a:p>
        </p:txBody>
      </p:sp>
    </p:spTree>
    <p:extLst>
      <p:ext uri="{BB962C8B-B14F-4D97-AF65-F5344CB8AC3E}">
        <p14:creationId xmlns:p14="http://schemas.microsoft.com/office/powerpoint/2010/main" val="1925691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E786-C217-E665-D613-A3E245C43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74847-046B-027D-BF66-A6A8E7CE3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7ABE7-A83C-66B3-0BA8-7B344D5677C2}"/>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5253197C-24C8-B54F-B991-80DBD257EC42}"/>
              </a:ext>
            </a:extLst>
          </p:cNvPr>
          <p:cNvSpPr>
            <a:spLocks noGrp="1"/>
          </p:cNvSpPr>
          <p:nvPr>
            <p:ph type="sldNum" sz="quarter" idx="5"/>
          </p:nvPr>
        </p:nvSpPr>
        <p:spPr/>
        <p:txBody>
          <a:bodyPr/>
          <a:lstStyle/>
          <a:p>
            <a:fld id="{1E522D08-1F01-BB49-AF51-EBB99F15D995}" type="slidenum">
              <a:rPr lang="en-BE" smtClean="0"/>
              <a:t>30</a:t>
            </a:fld>
            <a:endParaRPr lang="en-BE"/>
          </a:p>
        </p:txBody>
      </p:sp>
    </p:spTree>
    <p:extLst>
      <p:ext uri="{BB962C8B-B14F-4D97-AF65-F5344CB8AC3E}">
        <p14:creationId xmlns:p14="http://schemas.microsoft.com/office/powerpoint/2010/main" val="793840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74CE6-BBA3-3EA2-D0D4-C45E2CD95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1D4CE-E068-32D0-5F67-BC85F542A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9DFD6-6C2F-024F-3E23-5AC39FBF2547}"/>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7752A290-0ED9-CF0F-1929-07F105BF1CB8}"/>
              </a:ext>
            </a:extLst>
          </p:cNvPr>
          <p:cNvSpPr>
            <a:spLocks noGrp="1"/>
          </p:cNvSpPr>
          <p:nvPr>
            <p:ph type="sldNum" sz="quarter" idx="5"/>
          </p:nvPr>
        </p:nvSpPr>
        <p:spPr/>
        <p:txBody>
          <a:bodyPr/>
          <a:lstStyle/>
          <a:p>
            <a:fld id="{1E522D08-1F01-BB49-AF51-EBB99F15D995}" type="slidenum">
              <a:rPr lang="en-BE" smtClean="0"/>
              <a:t>31</a:t>
            </a:fld>
            <a:endParaRPr lang="en-BE"/>
          </a:p>
        </p:txBody>
      </p:sp>
    </p:spTree>
    <p:extLst>
      <p:ext uri="{BB962C8B-B14F-4D97-AF65-F5344CB8AC3E}">
        <p14:creationId xmlns:p14="http://schemas.microsoft.com/office/powerpoint/2010/main" val="433845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1E522D08-1F01-BB49-AF51-EBB99F15D995}" type="slidenum">
              <a:rPr lang="en-BE" smtClean="0"/>
              <a:t>40</a:t>
            </a:fld>
            <a:endParaRPr lang="en-BE"/>
          </a:p>
        </p:txBody>
      </p:sp>
    </p:spTree>
    <p:extLst>
      <p:ext uri="{BB962C8B-B14F-4D97-AF65-F5344CB8AC3E}">
        <p14:creationId xmlns:p14="http://schemas.microsoft.com/office/powerpoint/2010/main" val="3331481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9BE30-416D-FF6E-FFB5-FEE634762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B6C72-DE35-48D8-9DB5-7952E6CBB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2D3749-6471-DFCB-3A38-B63995835CD1}"/>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4BC8C8D-09DC-1F64-187D-D44AB0F08A4B}"/>
              </a:ext>
            </a:extLst>
          </p:cNvPr>
          <p:cNvSpPr>
            <a:spLocks noGrp="1"/>
          </p:cNvSpPr>
          <p:nvPr>
            <p:ph type="sldNum" sz="quarter" idx="5"/>
          </p:nvPr>
        </p:nvSpPr>
        <p:spPr/>
        <p:txBody>
          <a:bodyPr/>
          <a:lstStyle/>
          <a:p>
            <a:fld id="{1E522D08-1F01-BB49-AF51-EBB99F15D995}" type="slidenum">
              <a:rPr lang="en-BE" smtClean="0"/>
              <a:t>43</a:t>
            </a:fld>
            <a:endParaRPr lang="en-BE"/>
          </a:p>
        </p:txBody>
      </p:sp>
    </p:spTree>
    <p:extLst>
      <p:ext uri="{BB962C8B-B14F-4D97-AF65-F5344CB8AC3E}">
        <p14:creationId xmlns:p14="http://schemas.microsoft.com/office/powerpoint/2010/main" val="4026665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8477-94DD-910C-4BE5-FB24F1D2F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888BF-0012-1EF3-2F68-A7020D690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588E3-9066-9759-6799-A4907899BF58}"/>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F4B1ED52-B567-7BEF-751F-5C78D56110B5}"/>
              </a:ext>
            </a:extLst>
          </p:cNvPr>
          <p:cNvSpPr>
            <a:spLocks noGrp="1"/>
          </p:cNvSpPr>
          <p:nvPr>
            <p:ph type="sldNum" sz="quarter" idx="5"/>
          </p:nvPr>
        </p:nvSpPr>
        <p:spPr/>
        <p:txBody>
          <a:bodyPr/>
          <a:lstStyle/>
          <a:p>
            <a:fld id="{1E522D08-1F01-BB49-AF51-EBB99F15D995}" type="slidenum">
              <a:rPr lang="en-BE" smtClean="0"/>
              <a:t>44</a:t>
            </a:fld>
            <a:endParaRPr lang="en-BE"/>
          </a:p>
        </p:txBody>
      </p:sp>
    </p:spTree>
    <p:extLst>
      <p:ext uri="{BB962C8B-B14F-4D97-AF65-F5344CB8AC3E}">
        <p14:creationId xmlns:p14="http://schemas.microsoft.com/office/powerpoint/2010/main" val="2658717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86B75-DB6B-0E5C-9A48-C0CC794A0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7E719-057B-C532-E0EE-B5A606CB8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E7571-53F2-1C22-8291-9485B33CE762}"/>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34DB3BEF-4558-EC6A-801C-C06B6E1209CF}"/>
              </a:ext>
            </a:extLst>
          </p:cNvPr>
          <p:cNvSpPr>
            <a:spLocks noGrp="1"/>
          </p:cNvSpPr>
          <p:nvPr>
            <p:ph type="sldNum" sz="quarter" idx="5"/>
          </p:nvPr>
        </p:nvSpPr>
        <p:spPr/>
        <p:txBody>
          <a:bodyPr/>
          <a:lstStyle/>
          <a:p>
            <a:fld id="{1E522D08-1F01-BB49-AF51-EBB99F15D995}" type="slidenum">
              <a:rPr lang="en-BE" smtClean="0"/>
              <a:t>45</a:t>
            </a:fld>
            <a:endParaRPr lang="en-BE"/>
          </a:p>
        </p:txBody>
      </p:sp>
    </p:spTree>
    <p:extLst>
      <p:ext uri="{BB962C8B-B14F-4D97-AF65-F5344CB8AC3E}">
        <p14:creationId xmlns:p14="http://schemas.microsoft.com/office/powerpoint/2010/main" val="1526933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ugent.be/"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E7AAA61-02E7-BAC9-EA05-6C3E6931C9AE}"/>
              </a:ext>
            </a:extLst>
          </p:cNvPr>
          <p:cNvSpPr/>
          <p:nvPr userDrawn="1"/>
        </p:nvSpPr>
        <p:spPr>
          <a:xfrm>
            <a:off x="334962" y="904834"/>
            <a:ext cx="11857038" cy="4727381"/>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Picture Placeholder 12">
            <a:extLst>
              <a:ext uri="{FF2B5EF4-FFF2-40B4-BE49-F238E27FC236}">
                <a16:creationId xmlns:a16="http://schemas.microsoft.com/office/drawing/2014/main" id="{F6D2043D-6EB9-0864-5E05-87A3F67AF25E}"/>
              </a:ext>
            </a:extLst>
          </p:cNvPr>
          <p:cNvSpPr>
            <a:spLocks noGrp="1"/>
          </p:cNvSpPr>
          <p:nvPr>
            <p:ph type="pic" sz="quarter" idx="10" hasCustomPrompt="1"/>
          </p:nvPr>
        </p:nvSpPr>
        <p:spPr>
          <a:xfrm>
            <a:off x="6708775" y="904834"/>
            <a:ext cx="5483225" cy="4727616"/>
          </a:xfrm>
          <a:prstGeom prst="rect">
            <a:avLst/>
          </a:prstGeom>
          <a:noFill/>
        </p:spPr>
        <p:txBody>
          <a:bodyPr/>
          <a:lstStyle>
            <a:lvl1pPr marL="0" indent="0">
              <a:buFontTx/>
              <a:buNone/>
              <a:defRPr b="0" i="1" baseline="0">
                <a:solidFill>
                  <a:schemeClr val="bg1"/>
                </a:solidFill>
              </a:defRPr>
            </a:lvl1pPr>
          </a:lstStyle>
          <a:p>
            <a:r>
              <a:rPr lang="nl-BE" dirty="0"/>
              <a:t>Click </a:t>
            </a:r>
            <a:r>
              <a:rPr lang="nl-BE" dirty="0" err="1"/>
              <a:t>to</a:t>
            </a:r>
            <a:r>
              <a:rPr lang="nl-BE" dirty="0"/>
              <a:t> </a:t>
            </a:r>
            <a:r>
              <a:rPr lang="nl-BE" dirty="0" err="1"/>
              <a:t>add</a:t>
            </a:r>
            <a:r>
              <a:rPr lang="nl-BE" dirty="0"/>
              <a:t> picture</a:t>
            </a:r>
            <a:endParaRPr lang="en-BE" dirty="0"/>
          </a:p>
        </p:txBody>
      </p:sp>
      <p:sp>
        <p:nvSpPr>
          <p:cNvPr id="20" name="Text Placeholder 15">
            <a:extLst>
              <a:ext uri="{FF2B5EF4-FFF2-40B4-BE49-F238E27FC236}">
                <a16:creationId xmlns:a16="http://schemas.microsoft.com/office/drawing/2014/main" id="{3BA10A23-5DA3-9A1E-8E84-29F7F107D9CA}"/>
              </a:ext>
            </a:extLst>
          </p:cNvPr>
          <p:cNvSpPr>
            <a:spLocks noGrp="1"/>
          </p:cNvSpPr>
          <p:nvPr>
            <p:ph type="body" sz="quarter" idx="12" hasCustomPrompt="1"/>
          </p:nvPr>
        </p:nvSpPr>
        <p:spPr>
          <a:xfrm>
            <a:off x="588206" y="1076122"/>
            <a:ext cx="5800725" cy="253317"/>
          </a:xfrm>
          <a:prstGeom prst="rect">
            <a:avLst/>
          </a:prstGeom>
        </p:spPr>
        <p:txBody>
          <a:bodyPr/>
          <a:lstStyle>
            <a:lvl1pPr marL="0" indent="0">
              <a:lnSpc>
                <a:spcPct val="100000"/>
              </a:lnSpc>
              <a:spcBef>
                <a:spcPts val="0"/>
              </a:spcBef>
              <a:buNone/>
              <a:defRPr sz="1400" b="1" i="0" cap="all"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a:t>
            </a:r>
            <a:r>
              <a:rPr lang="nl-BE" dirty="0" err="1"/>
              <a:t>department</a:t>
            </a:r>
            <a:endParaRPr lang="en-GB" dirty="0"/>
          </a:p>
        </p:txBody>
      </p:sp>
      <p:sp>
        <p:nvSpPr>
          <p:cNvPr id="21" name="Text Placeholder 15">
            <a:extLst>
              <a:ext uri="{FF2B5EF4-FFF2-40B4-BE49-F238E27FC236}">
                <a16:creationId xmlns:a16="http://schemas.microsoft.com/office/drawing/2014/main" id="{62DBA8D7-7A6E-681C-61D6-629E37255DC9}"/>
              </a:ext>
            </a:extLst>
          </p:cNvPr>
          <p:cNvSpPr>
            <a:spLocks noGrp="1"/>
          </p:cNvSpPr>
          <p:nvPr>
            <p:ph type="body" sz="quarter" idx="13" hasCustomPrompt="1"/>
          </p:nvPr>
        </p:nvSpPr>
        <p:spPr>
          <a:xfrm>
            <a:off x="588206" y="1336460"/>
            <a:ext cx="5800725" cy="253317"/>
          </a:xfrm>
          <a:prstGeom prst="rect">
            <a:avLst/>
          </a:prstGeom>
        </p:spPr>
        <p:txBody>
          <a:bodyPr/>
          <a:lstStyle>
            <a:lvl1pPr marL="0" indent="0">
              <a:lnSpc>
                <a:spcPct val="100000"/>
              </a:lnSpc>
              <a:spcBef>
                <a:spcPts val="0"/>
              </a:spcBef>
              <a:buNone/>
              <a:defRPr sz="1400" b="0" i="0" cap="all"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research </a:t>
            </a:r>
            <a:r>
              <a:rPr lang="nl-BE" dirty="0" err="1"/>
              <a:t>group</a:t>
            </a:r>
            <a:endParaRPr lang="en-GB" dirty="0"/>
          </a:p>
        </p:txBody>
      </p:sp>
      <p:sp>
        <p:nvSpPr>
          <p:cNvPr id="24" name="Text Placeholder 22">
            <a:extLst>
              <a:ext uri="{FF2B5EF4-FFF2-40B4-BE49-F238E27FC236}">
                <a16:creationId xmlns:a16="http://schemas.microsoft.com/office/drawing/2014/main" id="{999674CE-CC5A-6E5E-B20B-6D1ECE875889}"/>
              </a:ext>
            </a:extLst>
          </p:cNvPr>
          <p:cNvSpPr>
            <a:spLocks noGrp="1"/>
          </p:cNvSpPr>
          <p:nvPr>
            <p:ph type="body" sz="quarter" idx="14" hasCustomPrompt="1"/>
          </p:nvPr>
        </p:nvSpPr>
        <p:spPr>
          <a:xfrm>
            <a:off x="545820" y="4947903"/>
            <a:ext cx="5868987" cy="338554"/>
          </a:xfrm>
          <a:prstGeom prst="rect">
            <a:avLst/>
          </a:prstGeom>
        </p:spPr>
        <p:txBody>
          <a:bodyPr/>
          <a:lstStyle>
            <a:lvl1pPr marL="0" indent="0">
              <a:buNone/>
              <a:defRPr sz="1600" cap="none" baseline="0">
                <a:solidFill>
                  <a:schemeClr val="bg1"/>
                </a:solidFill>
                <a:latin typeface="UGent Panno Text" panose="02000506040000040003" pitchFamily="2" charset="0"/>
              </a:defRPr>
            </a:lvl1pPr>
          </a:lstStyle>
          <a:p>
            <a:r>
              <a:rPr lang="en-GB" noProof="0" dirty="0"/>
              <a:t>Click to add subtitle / presenter / date [dd-mm-</a:t>
            </a:r>
            <a:r>
              <a:rPr lang="en-GB" noProof="0" dirty="0" err="1"/>
              <a:t>yyyy</a:t>
            </a:r>
            <a:r>
              <a:rPr lang="en-GB" noProof="0" dirty="0"/>
              <a:t>]</a:t>
            </a:r>
          </a:p>
        </p:txBody>
      </p:sp>
      <p:sp>
        <p:nvSpPr>
          <p:cNvPr id="5" name="Picture Placeholder 3">
            <a:extLst>
              <a:ext uri="{FF2B5EF4-FFF2-40B4-BE49-F238E27FC236}">
                <a16:creationId xmlns:a16="http://schemas.microsoft.com/office/drawing/2014/main" id="{3C3B384C-5F63-0027-60E1-3323498634AF}"/>
              </a:ext>
            </a:extLst>
          </p:cNvPr>
          <p:cNvSpPr>
            <a:spLocks noGrp="1"/>
          </p:cNvSpPr>
          <p:nvPr>
            <p:ph type="pic" sz="quarter" idx="16" hasCustomPrompt="1"/>
          </p:nvPr>
        </p:nvSpPr>
        <p:spPr>
          <a:xfrm>
            <a:off x="3993515" y="5845558"/>
            <a:ext cx="1929765" cy="698896"/>
          </a:xfrm>
          <a:prstGeom prst="rect">
            <a:avLst/>
          </a:prstGeom>
        </p:spPr>
        <p:txBody>
          <a:bodyPr/>
          <a:lstStyle>
            <a:lvl1pPr marL="0" indent="0">
              <a:buNone/>
              <a:defRPr sz="1400" baseline="0"/>
            </a:lvl1pPr>
          </a:lstStyle>
          <a:p>
            <a:r>
              <a:rPr lang="en-BE"/>
              <a:t>Partner Logo 2</a:t>
            </a:r>
          </a:p>
        </p:txBody>
      </p:sp>
      <p:sp>
        <p:nvSpPr>
          <p:cNvPr id="6" name="Picture Placeholder 3">
            <a:extLst>
              <a:ext uri="{FF2B5EF4-FFF2-40B4-BE49-F238E27FC236}">
                <a16:creationId xmlns:a16="http://schemas.microsoft.com/office/drawing/2014/main" id="{47C46CF3-3266-0AE4-E490-2AB34D0D8D7C}"/>
              </a:ext>
            </a:extLst>
          </p:cNvPr>
          <p:cNvSpPr>
            <a:spLocks noGrp="1"/>
          </p:cNvSpPr>
          <p:nvPr>
            <p:ph type="pic" sz="quarter" idx="17" hasCustomPrompt="1"/>
          </p:nvPr>
        </p:nvSpPr>
        <p:spPr>
          <a:xfrm>
            <a:off x="6086475" y="5845558"/>
            <a:ext cx="1929765" cy="698896"/>
          </a:xfrm>
          <a:prstGeom prst="rect">
            <a:avLst/>
          </a:prstGeom>
        </p:spPr>
        <p:txBody>
          <a:bodyPr/>
          <a:lstStyle>
            <a:lvl1pPr marL="0" indent="0">
              <a:buNone/>
              <a:defRPr sz="1400" baseline="0"/>
            </a:lvl1pPr>
          </a:lstStyle>
          <a:p>
            <a:r>
              <a:rPr lang="en-BE"/>
              <a:t>Partner Logo 3</a:t>
            </a:r>
          </a:p>
        </p:txBody>
      </p:sp>
      <p:sp>
        <p:nvSpPr>
          <p:cNvPr id="7" name="Picture Placeholder 3">
            <a:extLst>
              <a:ext uri="{FF2B5EF4-FFF2-40B4-BE49-F238E27FC236}">
                <a16:creationId xmlns:a16="http://schemas.microsoft.com/office/drawing/2014/main" id="{3B1542A1-6AC8-E18C-CF5F-D1E4308D374A}"/>
              </a:ext>
            </a:extLst>
          </p:cNvPr>
          <p:cNvSpPr>
            <a:spLocks noGrp="1"/>
          </p:cNvSpPr>
          <p:nvPr>
            <p:ph type="pic" sz="quarter" idx="18" hasCustomPrompt="1"/>
          </p:nvPr>
        </p:nvSpPr>
        <p:spPr>
          <a:xfrm>
            <a:off x="8179435" y="5845558"/>
            <a:ext cx="1929765" cy="698896"/>
          </a:xfrm>
          <a:prstGeom prst="rect">
            <a:avLst/>
          </a:prstGeom>
        </p:spPr>
        <p:txBody>
          <a:bodyPr/>
          <a:lstStyle>
            <a:lvl1pPr marL="0" indent="0">
              <a:buNone/>
              <a:defRPr sz="1400" baseline="0"/>
            </a:lvl1pPr>
          </a:lstStyle>
          <a:p>
            <a:r>
              <a:rPr lang="en-BE"/>
              <a:t>Partner Logo 4</a:t>
            </a:r>
          </a:p>
        </p:txBody>
      </p:sp>
      <p:sp>
        <p:nvSpPr>
          <p:cNvPr id="3" name="Text Placeholder 15">
            <a:extLst>
              <a:ext uri="{FF2B5EF4-FFF2-40B4-BE49-F238E27FC236}">
                <a16:creationId xmlns:a16="http://schemas.microsoft.com/office/drawing/2014/main" id="{5CD99CC8-1C66-FA5B-C68B-CA8D27A118FD}"/>
              </a:ext>
            </a:extLst>
          </p:cNvPr>
          <p:cNvSpPr>
            <a:spLocks noGrp="1"/>
          </p:cNvSpPr>
          <p:nvPr>
            <p:ph type="body" sz="quarter" idx="11" hasCustomPrompt="1"/>
          </p:nvPr>
        </p:nvSpPr>
        <p:spPr>
          <a:xfrm>
            <a:off x="554196" y="2126254"/>
            <a:ext cx="5632959" cy="2601271"/>
          </a:xfrm>
          <a:prstGeom prst="rect">
            <a:avLst/>
          </a:prstGeom>
        </p:spPr>
        <p:txBody>
          <a:bodyPr anchor="b" anchorCtr="0"/>
          <a:lstStyle>
            <a:lvl1pPr marL="0" indent="0">
              <a:lnSpc>
                <a:spcPts val="6800"/>
              </a:lnSpc>
              <a:spcBef>
                <a:spcPts val="0"/>
              </a:spcBef>
              <a:buNone/>
              <a:defRPr sz="6500" b="1" i="0" cap="none" baseline="0">
                <a:solidFill>
                  <a:schemeClr val="bg1"/>
                </a:solidFill>
                <a:latin typeface="UGent Panno Text" panose="02000506040000040003" pitchFamily="2" charset="0"/>
              </a:defRPr>
            </a:lvl1pPr>
          </a:lstStyle>
          <a:p>
            <a:pPr lvl="0"/>
            <a:r>
              <a:rPr lang="en-GB" dirty="0"/>
              <a:t>Click to add title</a:t>
            </a:r>
          </a:p>
        </p:txBody>
      </p:sp>
      <p:pic>
        <p:nvPicPr>
          <p:cNvPr id="8" name="Afbeelding 17">
            <a:extLst>
              <a:ext uri="{FF2B5EF4-FFF2-40B4-BE49-F238E27FC236}">
                <a16:creationId xmlns:a16="http://schemas.microsoft.com/office/drawing/2014/main" id="{377D64E3-D8A5-11E3-0E0C-76355B8A07AA}"/>
              </a:ext>
            </a:extLst>
          </p:cNvPr>
          <p:cNvPicPr>
            <a:picLocks noChangeAspect="1"/>
          </p:cNvPicPr>
          <p:nvPr userDrawn="1"/>
        </p:nvPicPr>
        <p:blipFill>
          <a:blip r:embed="rId2"/>
          <a:srcRect/>
          <a:stretch/>
        </p:blipFill>
        <p:spPr>
          <a:xfrm>
            <a:off x="-3506" y="-39239"/>
            <a:ext cx="3126706" cy="1042236"/>
          </a:xfrm>
          <a:prstGeom prst="rect">
            <a:avLst/>
          </a:prstGeom>
        </p:spPr>
      </p:pic>
      <p:sp>
        <p:nvSpPr>
          <p:cNvPr id="2" name="Picture Placeholder 3">
            <a:extLst>
              <a:ext uri="{FF2B5EF4-FFF2-40B4-BE49-F238E27FC236}">
                <a16:creationId xmlns:a16="http://schemas.microsoft.com/office/drawing/2014/main" id="{0581EEBD-3A2E-3F65-A7CB-B3DD05283A4C}"/>
              </a:ext>
            </a:extLst>
          </p:cNvPr>
          <p:cNvSpPr>
            <a:spLocks noGrp="1"/>
          </p:cNvSpPr>
          <p:nvPr>
            <p:ph type="pic" sz="quarter" idx="15" hasCustomPrompt="1"/>
          </p:nvPr>
        </p:nvSpPr>
        <p:spPr>
          <a:xfrm>
            <a:off x="1900555" y="5852592"/>
            <a:ext cx="1929765" cy="698896"/>
          </a:xfrm>
          <a:prstGeom prst="rect">
            <a:avLst/>
          </a:prstGeom>
        </p:spPr>
        <p:txBody>
          <a:bodyPr/>
          <a:lstStyle>
            <a:lvl1pPr marL="0" indent="0">
              <a:buNone/>
              <a:defRPr sz="1400" baseline="0"/>
            </a:lvl1pPr>
          </a:lstStyle>
          <a:p>
            <a:r>
              <a:rPr lang="en-BE"/>
              <a:t>Partner Logo 1</a:t>
            </a:r>
          </a:p>
        </p:txBody>
      </p:sp>
    </p:spTree>
    <p:extLst>
      <p:ext uri="{BB962C8B-B14F-4D97-AF65-F5344CB8AC3E}">
        <p14:creationId xmlns:p14="http://schemas.microsoft.com/office/powerpoint/2010/main" val="38882136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226" userDrawn="1">
          <p15:clr>
            <a:srgbClr val="FBAE40"/>
          </p15:clr>
        </p15:guide>
        <p15:guide id="4" pos="415" userDrawn="1">
          <p15:clr>
            <a:srgbClr val="FBAE40"/>
          </p15:clr>
        </p15:guide>
        <p15:guide id="5" orient="horz" pos="25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E7AAA61-02E7-BAC9-EA05-6C3E6931C9AE}"/>
              </a:ext>
            </a:extLst>
          </p:cNvPr>
          <p:cNvSpPr/>
          <p:nvPr userDrawn="1"/>
        </p:nvSpPr>
        <p:spPr>
          <a:xfrm>
            <a:off x="334962" y="-7643"/>
            <a:ext cx="11857038" cy="5632215"/>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Picture Placeholder 12">
            <a:extLst>
              <a:ext uri="{FF2B5EF4-FFF2-40B4-BE49-F238E27FC236}">
                <a16:creationId xmlns:a16="http://schemas.microsoft.com/office/drawing/2014/main" id="{F6D2043D-6EB9-0864-5E05-87A3F67AF25E}"/>
              </a:ext>
            </a:extLst>
          </p:cNvPr>
          <p:cNvSpPr>
            <a:spLocks noGrp="1"/>
          </p:cNvSpPr>
          <p:nvPr>
            <p:ph type="pic" sz="quarter" idx="10" hasCustomPrompt="1"/>
          </p:nvPr>
        </p:nvSpPr>
        <p:spPr>
          <a:xfrm>
            <a:off x="6708775" y="0"/>
            <a:ext cx="5483225" cy="5632450"/>
          </a:xfrm>
          <a:prstGeom prst="rect">
            <a:avLst/>
          </a:prstGeom>
          <a:noFill/>
        </p:spPr>
        <p:txBody>
          <a:bodyPr/>
          <a:lstStyle>
            <a:lvl1pPr marL="0" indent="0">
              <a:buFontTx/>
              <a:buNone/>
              <a:defRPr b="0" i="1" baseline="0">
                <a:solidFill>
                  <a:schemeClr val="bg1"/>
                </a:solidFill>
              </a:defRPr>
            </a:lvl1pPr>
          </a:lstStyle>
          <a:p>
            <a:r>
              <a:rPr lang="nl-BE" dirty="0"/>
              <a:t>Click </a:t>
            </a:r>
            <a:r>
              <a:rPr lang="nl-BE" dirty="0" err="1"/>
              <a:t>to</a:t>
            </a:r>
            <a:r>
              <a:rPr lang="nl-BE" dirty="0"/>
              <a:t> </a:t>
            </a:r>
            <a:r>
              <a:rPr lang="nl-BE" dirty="0" err="1"/>
              <a:t>add</a:t>
            </a:r>
            <a:r>
              <a:rPr lang="nl-BE" dirty="0"/>
              <a:t> picture</a:t>
            </a:r>
            <a:endParaRPr lang="en-BE" dirty="0"/>
          </a:p>
        </p:txBody>
      </p:sp>
      <p:sp>
        <p:nvSpPr>
          <p:cNvPr id="17" name="Text Placeholder 15">
            <a:extLst>
              <a:ext uri="{FF2B5EF4-FFF2-40B4-BE49-F238E27FC236}">
                <a16:creationId xmlns:a16="http://schemas.microsoft.com/office/drawing/2014/main" id="{8696E979-5DD6-A9D0-6C24-A5369197D4E6}"/>
              </a:ext>
            </a:extLst>
          </p:cNvPr>
          <p:cNvSpPr>
            <a:spLocks noGrp="1"/>
          </p:cNvSpPr>
          <p:nvPr>
            <p:ph type="body" sz="quarter" idx="11" hasCustomPrompt="1"/>
          </p:nvPr>
        </p:nvSpPr>
        <p:spPr>
          <a:xfrm>
            <a:off x="554196" y="1904921"/>
            <a:ext cx="5632959" cy="3597780"/>
          </a:xfrm>
          <a:prstGeom prst="rect">
            <a:avLst/>
          </a:prstGeom>
        </p:spPr>
        <p:txBody>
          <a:bodyPr anchor="b" anchorCtr="0"/>
          <a:lstStyle>
            <a:lvl1pPr marL="0" indent="0">
              <a:lnSpc>
                <a:spcPts val="6800"/>
              </a:lnSpc>
              <a:spcBef>
                <a:spcPts val="0"/>
              </a:spcBef>
              <a:buNone/>
              <a:defRPr sz="6500" b="1" i="0" cap="none" baseline="0">
                <a:solidFill>
                  <a:schemeClr val="bg1"/>
                </a:solidFill>
                <a:latin typeface="UGent Panno Text" panose="02000506040000040003" pitchFamily="2" charset="0"/>
              </a:defRPr>
            </a:lvl1pPr>
          </a:lstStyle>
          <a:p>
            <a:pPr lvl="0"/>
            <a:r>
              <a:rPr lang="en-GB" dirty="0"/>
              <a:t>Click to add chapter title</a:t>
            </a:r>
          </a:p>
        </p:txBody>
      </p:sp>
    </p:spTree>
    <p:extLst>
      <p:ext uri="{BB962C8B-B14F-4D97-AF65-F5344CB8AC3E}">
        <p14:creationId xmlns:p14="http://schemas.microsoft.com/office/powerpoint/2010/main" val="17695497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226">
          <p15:clr>
            <a:srgbClr val="FBAE40"/>
          </p15:clr>
        </p15:guide>
        <p15:guide id="4" pos="211" userDrawn="1">
          <p15:clr>
            <a:srgbClr val="FBAE40"/>
          </p15:clr>
        </p15:guide>
        <p15:guide id="5" orient="horz" pos="354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B9B38-4062-3544-B884-9B34D23BDCA4}"/>
              </a:ext>
            </a:extLst>
          </p:cNvPr>
          <p:cNvSpPr>
            <a:spLocks noGrp="1"/>
          </p:cNvSpPr>
          <p:nvPr>
            <p:ph idx="1" hasCustomPrompt="1"/>
          </p:nvPr>
        </p:nvSpPr>
        <p:spPr>
          <a:xfrm>
            <a:off x="542609" y="1889759"/>
            <a:ext cx="10893106" cy="3789681"/>
          </a:xfrm>
          <a:prstGeom prst="rect">
            <a:avLst/>
          </a:prstGeom>
        </p:spPr>
        <p:txBody>
          <a:bodyPr/>
          <a:lstStyle>
            <a:lvl1pPr marL="0" indent="0">
              <a:buNone/>
              <a:defRPr baseline="0">
                <a:latin typeface="UGent Panno Text" panose="02000506040000040003" pitchFamily="2" charset="0"/>
              </a:defRPr>
            </a:lvl1pPr>
            <a:lvl2pPr marL="9525" indent="263525">
              <a:buClr>
                <a:srgbClr val="1E64C8"/>
              </a:buClr>
              <a:tabLst/>
              <a:defRPr baseline="0">
                <a:latin typeface="UGent Panno Text" panose="02000506040000040003" pitchFamily="2" charset="0"/>
              </a:defRPr>
            </a:lvl2pPr>
            <a:lvl3pPr marL="801688" indent="-263525">
              <a:buClr>
                <a:srgbClr val="1E64C8"/>
              </a:buClr>
              <a:tabLst/>
              <a:defRPr baseline="0">
                <a:latin typeface="UGent Panno Text" panose="02000506040000040003" pitchFamily="2" charset="0"/>
              </a:defRPr>
            </a:lvl3pPr>
            <a:lvl4pPr>
              <a:defRPr baseline="0">
                <a:latin typeface="UGent Panno Text" panose="02000506040000040003" pitchFamily="2" charset="0"/>
              </a:defRPr>
            </a:lvl4pPr>
            <a:lvl5pPr>
              <a:defRPr baseline="0">
                <a:latin typeface="UGent Panno Text" panose="02000506040000040003" pitchFamily="2" charset="0"/>
              </a:defRPr>
            </a:lvl5pPr>
          </a:lstStyle>
          <a:p>
            <a:pPr lvl="0"/>
            <a:r>
              <a:rPr lang="en-GB" dirty="0"/>
              <a:t>Click to add text</a:t>
            </a:r>
          </a:p>
          <a:p>
            <a:pPr lvl="1"/>
            <a:r>
              <a:rPr lang="en-GB" dirty="0"/>
              <a:t>Level 1</a:t>
            </a:r>
          </a:p>
          <a:p>
            <a:pPr lvl="2"/>
            <a:r>
              <a:rPr lang="en-GB" dirty="0"/>
              <a:t>Level 2</a:t>
            </a:r>
          </a:p>
        </p:txBody>
      </p:sp>
      <p:sp>
        <p:nvSpPr>
          <p:cNvPr id="18" name="Text Placeholder 17">
            <a:extLst>
              <a:ext uri="{FF2B5EF4-FFF2-40B4-BE49-F238E27FC236}">
                <a16:creationId xmlns:a16="http://schemas.microsoft.com/office/drawing/2014/main" id="{8674F96B-ACC8-7B86-3350-B2CBDF35102E}"/>
              </a:ext>
            </a:extLst>
          </p:cNvPr>
          <p:cNvSpPr>
            <a:spLocks noGrp="1"/>
          </p:cNvSpPr>
          <p:nvPr>
            <p:ph type="body" sz="quarter" idx="10" hasCustomPrompt="1"/>
          </p:nvPr>
        </p:nvSpPr>
        <p:spPr>
          <a:xfrm>
            <a:off x="542925" y="1150143"/>
            <a:ext cx="10893106" cy="549275"/>
          </a:xfrm>
          <a:prstGeom prst="rect">
            <a:avLst/>
          </a:prstGeom>
        </p:spPr>
        <p:txBody>
          <a:bodyPr/>
          <a:lstStyle>
            <a:lvl1pPr marL="0" indent="0">
              <a:buNone/>
              <a:defRPr baseline="0">
                <a:solidFill>
                  <a:srgbClr val="8BBEE8"/>
                </a:solidFill>
                <a:latin typeface="UGent Panno Text" panose="02000506040000040003" pitchFamily="2" charset="0"/>
              </a:defRPr>
            </a:lvl1pPr>
          </a:lstStyle>
          <a:p>
            <a:r>
              <a:rPr lang="en-GB" sz="2800" b="0" i="0" baseline="0" dirty="0">
                <a:latin typeface="UGent Panno Text SemiLight" panose="02000406040000040003" pitchFamily="2" charset="0"/>
              </a:rPr>
              <a:t>Click to add subtitle</a:t>
            </a:r>
            <a:endParaRPr lang="en-BE" sz="2800" b="0" i="0" baseline="0" dirty="0">
              <a:latin typeface="UGent Panno Text SemiLight" panose="02000406040000040003" pitchFamily="2" charset="0"/>
            </a:endParaRPr>
          </a:p>
        </p:txBody>
      </p:sp>
      <p:sp>
        <p:nvSpPr>
          <p:cNvPr id="8" name="Title 1">
            <a:extLst>
              <a:ext uri="{FF2B5EF4-FFF2-40B4-BE49-F238E27FC236}">
                <a16:creationId xmlns:a16="http://schemas.microsoft.com/office/drawing/2014/main" id="{B6986D91-BB3B-0E85-A2F8-E3C6F52F54E5}"/>
              </a:ext>
            </a:extLst>
          </p:cNvPr>
          <p:cNvSpPr>
            <a:spLocks noGrp="1"/>
          </p:cNvSpPr>
          <p:nvPr>
            <p:ph type="title" hasCustomPrompt="1"/>
          </p:nvPr>
        </p:nvSpPr>
        <p:spPr>
          <a:xfrm>
            <a:off x="542609" y="250995"/>
            <a:ext cx="10893422" cy="893656"/>
          </a:xfrm>
          <a:prstGeom prst="rect">
            <a:avLst/>
          </a:prstGeom>
        </p:spPr>
        <p:txBody>
          <a:bodyPr tIns="0" bIns="0"/>
          <a:lstStyle>
            <a:lvl1pPr>
              <a:defRPr sz="4400" b="1" i="0" cap="none" baseline="0">
                <a:solidFill>
                  <a:srgbClr val="1E64C8"/>
                </a:solidFill>
                <a:latin typeface="UGent Panno Text" panose="02000506040000040003" pitchFamily="2" charset="0"/>
              </a:defRPr>
            </a:lvl1pPr>
          </a:lstStyle>
          <a:p>
            <a:r>
              <a:rPr lang="en-GB" dirty="0"/>
              <a:t>Click to add title</a:t>
            </a:r>
            <a:endParaRPr lang="en-BE" dirty="0"/>
          </a:p>
        </p:txBody>
      </p:sp>
    </p:spTree>
    <p:extLst>
      <p:ext uri="{BB962C8B-B14F-4D97-AF65-F5344CB8AC3E}">
        <p14:creationId xmlns:p14="http://schemas.microsoft.com/office/powerpoint/2010/main" val="37115649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2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B9B38-4062-3544-B884-9B34D23BDCA4}"/>
              </a:ext>
            </a:extLst>
          </p:cNvPr>
          <p:cNvSpPr>
            <a:spLocks noGrp="1"/>
          </p:cNvSpPr>
          <p:nvPr>
            <p:ph idx="1" hasCustomPrompt="1"/>
          </p:nvPr>
        </p:nvSpPr>
        <p:spPr>
          <a:xfrm>
            <a:off x="542609" y="1889759"/>
            <a:ext cx="5340031" cy="3789681"/>
          </a:xfrm>
          <a:prstGeom prst="rect">
            <a:avLst/>
          </a:prstGeom>
        </p:spPr>
        <p:txBody>
          <a:bodyPr/>
          <a:lstStyle>
            <a:lvl1pPr marL="0" indent="0">
              <a:buNone/>
              <a:defRPr baseline="0">
                <a:latin typeface="UGent Panno Text" panose="02000506040000040003" pitchFamily="2" charset="0"/>
              </a:defRPr>
            </a:lvl1pPr>
            <a:lvl2pPr marL="9525" indent="263525">
              <a:buClr>
                <a:srgbClr val="1E64C8"/>
              </a:buClr>
              <a:tabLst/>
              <a:defRPr baseline="0">
                <a:latin typeface="UGent Panno Text" panose="02000506040000040003" pitchFamily="2" charset="0"/>
              </a:defRPr>
            </a:lvl2pPr>
            <a:lvl3pPr marL="801688" indent="-263525">
              <a:buClr>
                <a:srgbClr val="1E64C8"/>
              </a:buClr>
              <a:tabLst/>
              <a:defRPr baseline="0">
                <a:latin typeface="UGent Panno Text" panose="02000506040000040003" pitchFamily="2" charset="0"/>
              </a:defRPr>
            </a:lvl3pPr>
            <a:lvl4pPr>
              <a:defRPr baseline="0">
                <a:latin typeface="UGent Panno Text" panose="02000506040000040003" pitchFamily="2" charset="0"/>
              </a:defRPr>
            </a:lvl4pPr>
            <a:lvl5pPr>
              <a:defRPr baseline="0">
                <a:latin typeface="UGent Panno Text" panose="02000506040000040003" pitchFamily="2" charset="0"/>
              </a:defRPr>
            </a:lvl5pPr>
          </a:lstStyle>
          <a:p>
            <a:pPr lvl="0"/>
            <a:r>
              <a:rPr lang="en-GB" dirty="0"/>
              <a:t>Click to add text</a:t>
            </a:r>
          </a:p>
          <a:p>
            <a:pPr lvl="1"/>
            <a:r>
              <a:rPr lang="en-GB" dirty="0"/>
              <a:t>Level 1</a:t>
            </a:r>
          </a:p>
          <a:p>
            <a:pPr lvl="2"/>
            <a:r>
              <a:rPr lang="en-GB" dirty="0"/>
              <a:t>Level 2</a:t>
            </a:r>
          </a:p>
        </p:txBody>
      </p:sp>
      <p:sp>
        <p:nvSpPr>
          <p:cNvPr id="4" name="Content Placeholder 2">
            <a:extLst>
              <a:ext uri="{FF2B5EF4-FFF2-40B4-BE49-F238E27FC236}">
                <a16:creationId xmlns:a16="http://schemas.microsoft.com/office/drawing/2014/main" id="{C5D27489-CE6E-43ED-8317-F7C9B416AAF4}"/>
              </a:ext>
            </a:extLst>
          </p:cNvPr>
          <p:cNvSpPr>
            <a:spLocks noGrp="1"/>
          </p:cNvSpPr>
          <p:nvPr>
            <p:ph idx="11" hasCustomPrompt="1"/>
          </p:nvPr>
        </p:nvSpPr>
        <p:spPr>
          <a:xfrm>
            <a:off x="6107575" y="1889759"/>
            <a:ext cx="5340031" cy="3789681"/>
          </a:xfrm>
          <a:prstGeom prst="rect">
            <a:avLst/>
          </a:prstGeom>
        </p:spPr>
        <p:txBody>
          <a:bodyPr/>
          <a:lstStyle>
            <a:lvl1pPr marL="0" indent="0">
              <a:buNone/>
              <a:defRPr baseline="0">
                <a:latin typeface="UGent Panno Text" panose="02000506040000040003" pitchFamily="2" charset="0"/>
              </a:defRPr>
            </a:lvl1pPr>
            <a:lvl2pPr marL="9525" indent="263525">
              <a:buClr>
                <a:srgbClr val="1E64C8"/>
              </a:buClr>
              <a:tabLst/>
              <a:defRPr baseline="0">
                <a:latin typeface="UGent Panno Text" panose="02000506040000040003" pitchFamily="2" charset="0"/>
              </a:defRPr>
            </a:lvl2pPr>
            <a:lvl3pPr marL="801688" indent="-263525">
              <a:buClr>
                <a:srgbClr val="1E64C8"/>
              </a:buClr>
              <a:tabLst/>
              <a:defRPr baseline="0">
                <a:latin typeface="UGent Panno Text" panose="02000506040000040003" pitchFamily="2" charset="0"/>
              </a:defRPr>
            </a:lvl3pPr>
            <a:lvl4pPr>
              <a:defRPr baseline="0">
                <a:latin typeface="UGent Panno Text" panose="02000506040000040003" pitchFamily="2" charset="0"/>
              </a:defRPr>
            </a:lvl4pPr>
            <a:lvl5pPr>
              <a:defRPr baseline="0">
                <a:latin typeface="UGent Panno Text" panose="02000506040000040003" pitchFamily="2" charset="0"/>
              </a:defRPr>
            </a:lvl5pPr>
          </a:lstStyle>
          <a:p>
            <a:pPr lvl="0"/>
            <a:r>
              <a:rPr lang="en-GB" dirty="0"/>
              <a:t>Click to add text</a:t>
            </a:r>
          </a:p>
          <a:p>
            <a:pPr lvl="1"/>
            <a:r>
              <a:rPr lang="en-GB" dirty="0"/>
              <a:t>Level 1</a:t>
            </a:r>
          </a:p>
          <a:p>
            <a:pPr lvl="2"/>
            <a:r>
              <a:rPr lang="en-GB" dirty="0"/>
              <a:t>Level 2</a:t>
            </a:r>
          </a:p>
        </p:txBody>
      </p:sp>
      <p:sp>
        <p:nvSpPr>
          <p:cNvPr id="7" name="Text Placeholder 17">
            <a:extLst>
              <a:ext uri="{FF2B5EF4-FFF2-40B4-BE49-F238E27FC236}">
                <a16:creationId xmlns:a16="http://schemas.microsoft.com/office/drawing/2014/main" id="{9CA775B9-7A5D-D3BA-EB26-3B1C77C0C302}"/>
              </a:ext>
            </a:extLst>
          </p:cNvPr>
          <p:cNvSpPr>
            <a:spLocks noGrp="1"/>
          </p:cNvSpPr>
          <p:nvPr>
            <p:ph type="body" sz="quarter" idx="10" hasCustomPrompt="1"/>
          </p:nvPr>
        </p:nvSpPr>
        <p:spPr>
          <a:xfrm>
            <a:off x="542925" y="1150143"/>
            <a:ext cx="10893106" cy="549275"/>
          </a:xfrm>
          <a:prstGeom prst="rect">
            <a:avLst/>
          </a:prstGeom>
        </p:spPr>
        <p:txBody>
          <a:bodyPr/>
          <a:lstStyle>
            <a:lvl1pPr marL="0" indent="0">
              <a:buNone/>
              <a:defRPr baseline="0">
                <a:solidFill>
                  <a:srgbClr val="8BBEE8"/>
                </a:solidFill>
                <a:latin typeface="UGent Panno Text" panose="02000506040000040003" pitchFamily="2" charset="0"/>
              </a:defRPr>
            </a:lvl1pPr>
          </a:lstStyle>
          <a:p>
            <a:r>
              <a:rPr lang="en-GB" sz="2800" b="0" i="0" baseline="0" dirty="0">
                <a:latin typeface="UGent Panno Text SemiLight" panose="02000406040000040003" pitchFamily="2" charset="0"/>
              </a:rPr>
              <a:t>Click to add subtitle</a:t>
            </a:r>
            <a:endParaRPr lang="en-BE" sz="2800" b="0" i="0" baseline="0" dirty="0">
              <a:latin typeface="UGent Panno Text SemiLight" panose="02000406040000040003" pitchFamily="2" charset="0"/>
            </a:endParaRPr>
          </a:p>
        </p:txBody>
      </p:sp>
      <p:sp>
        <p:nvSpPr>
          <p:cNvPr id="8" name="Title 1">
            <a:extLst>
              <a:ext uri="{FF2B5EF4-FFF2-40B4-BE49-F238E27FC236}">
                <a16:creationId xmlns:a16="http://schemas.microsoft.com/office/drawing/2014/main" id="{E3C2FBC6-E436-D1CA-B831-5045F9D57811}"/>
              </a:ext>
            </a:extLst>
          </p:cNvPr>
          <p:cNvSpPr>
            <a:spLocks noGrp="1"/>
          </p:cNvSpPr>
          <p:nvPr>
            <p:ph type="title" hasCustomPrompt="1"/>
          </p:nvPr>
        </p:nvSpPr>
        <p:spPr>
          <a:xfrm>
            <a:off x="542609" y="250995"/>
            <a:ext cx="10893422" cy="893656"/>
          </a:xfrm>
          <a:prstGeom prst="rect">
            <a:avLst/>
          </a:prstGeom>
        </p:spPr>
        <p:txBody>
          <a:bodyPr tIns="0" bIns="0"/>
          <a:lstStyle>
            <a:lvl1pPr>
              <a:defRPr sz="4400" b="1" i="0" cap="none" baseline="0">
                <a:solidFill>
                  <a:srgbClr val="1E64C8"/>
                </a:solidFill>
                <a:latin typeface="UGent Panno Text" panose="02000506040000040003" pitchFamily="2" charset="0"/>
              </a:defRPr>
            </a:lvl1pPr>
          </a:lstStyle>
          <a:p>
            <a:r>
              <a:rPr lang="en-GB" dirty="0"/>
              <a:t>Click to add title</a:t>
            </a:r>
            <a:endParaRPr lang="en-BE" dirty="0"/>
          </a:p>
        </p:txBody>
      </p:sp>
    </p:spTree>
    <p:extLst>
      <p:ext uri="{BB962C8B-B14F-4D97-AF65-F5344CB8AC3E}">
        <p14:creationId xmlns:p14="http://schemas.microsoft.com/office/powerpoint/2010/main" val="601129721"/>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guide id="3" pos="719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B9B38-4062-3544-B884-9B34D23BDCA4}"/>
              </a:ext>
            </a:extLst>
          </p:cNvPr>
          <p:cNvSpPr>
            <a:spLocks noGrp="1"/>
          </p:cNvSpPr>
          <p:nvPr>
            <p:ph idx="1" hasCustomPrompt="1"/>
          </p:nvPr>
        </p:nvSpPr>
        <p:spPr>
          <a:xfrm>
            <a:off x="542609" y="1889759"/>
            <a:ext cx="5340031" cy="3789681"/>
          </a:xfrm>
          <a:prstGeom prst="rect">
            <a:avLst/>
          </a:prstGeom>
        </p:spPr>
        <p:txBody>
          <a:bodyPr/>
          <a:lstStyle>
            <a:lvl1pPr marL="0" indent="0">
              <a:buNone/>
              <a:defRPr baseline="0">
                <a:latin typeface="UGent Panno Text" panose="02000506040000040003" pitchFamily="2" charset="0"/>
              </a:defRPr>
            </a:lvl1pPr>
            <a:lvl2pPr marL="9525" indent="263525">
              <a:buClr>
                <a:srgbClr val="1E64C8"/>
              </a:buClr>
              <a:tabLst/>
              <a:defRPr baseline="0">
                <a:latin typeface="UGent Panno Text" panose="02000506040000040003" pitchFamily="2" charset="0"/>
              </a:defRPr>
            </a:lvl2pPr>
            <a:lvl3pPr marL="801688" indent="-263525">
              <a:buClr>
                <a:srgbClr val="1E64C8"/>
              </a:buClr>
              <a:tabLst/>
              <a:defRPr baseline="0">
                <a:latin typeface="UGent Panno Text" panose="02000506040000040003" pitchFamily="2" charset="0"/>
              </a:defRPr>
            </a:lvl3pPr>
            <a:lvl4pPr>
              <a:defRPr baseline="0">
                <a:latin typeface="UGent Panno Text" panose="02000506040000040003" pitchFamily="2" charset="0"/>
              </a:defRPr>
            </a:lvl4pPr>
            <a:lvl5pPr>
              <a:defRPr baseline="0">
                <a:latin typeface="UGent Panno Text" panose="02000506040000040003" pitchFamily="2" charset="0"/>
              </a:defRPr>
            </a:lvl5pPr>
          </a:lstStyle>
          <a:p>
            <a:pPr lvl="0"/>
            <a:r>
              <a:rPr lang="en-GB" dirty="0"/>
              <a:t>Click to add text</a:t>
            </a:r>
          </a:p>
          <a:p>
            <a:pPr lvl="1"/>
            <a:r>
              <a:rPr lang="en-GB" dirty="0"/>
              <a:t>Level 1</a:t>
            </a:r>
          </a:p>
          <a:p>
            <a:pPr lvl="2"/>
            <a:r>
              <a:rPr lang="en-GB" dirty="0"/>
              <a:t>Level 2</a:t>
            </a:r>
          </a:p>
        </p:txBody>
      </p:sp>
      <p:sp>
        <p:nvSpPr>
          <p:cNvPr id="6" name="Text Placeholder 5">
            <a:extLst>
              <a:ext uri="{FF2B5EF4-FFF2-40B4-BE49-F238E27FC236}">
                <a16:creationId xmlns:a16="http://schemas.microsoft.com/office/drawing/2014/main" id="{1CB15F7A-2857-1665-65A2-912D2635A333}"/>
              </a:ext>
            </a:extLst>
          </p:cNvPr>
          <p:cNvSpPr>
            <a:spLocks noGrp="1"/>
          </p:cNvSpPr>
          <p:nvPr>
            <p:ph type="body" sz="quarter" idx="11" hasCustomPrompt="1"/>
          </p:nvPr>
        </p:nvSpPr>
        <p:spPr>
          <a:xfrm>
            <a:off x="6096000" y="3429000"/>
            <a:ext cx="5761038" cy="3132137"/>
          </a:xfrm>
          <a:prstGeom prst="rect">
            <a:avLst/>
          </a:prstGeom>
          <a:solidFill>
            <a:srgbClr val="8BBEE8"/>
          </a:solidFill>
        </p:spPr>
        <p:txBody>
          <a:bodyPr lIns="216000" tIns="216000"/>
          <a:lstStyle>
            <a:lvl1pPr marL="0" indent="0">
              <a:buNone/>
              <a:defRPr sz="2000" baseline="0">
                <a:solidFill>
                  <a:schemeClr val="bg1"/>
                </a:solidFill>
                <a:latin typeface="UGent Panno Text" panose="02000506040000040003" pitchFamily="2" charset="0"/>
              </a:defRPr>
            </a:lvl1pPr>
          </a:lstStyle>
          <a:p>
            <a:pPr lvl="0"/>
            <a:r>
              <a:rPr lang="en-GB" dirty="0"/>
              <a:t>Click to add text</a:t>
            </a:r>
          </a:p>
        </p:txBody>
      </p:sp>
      <p:sp>
        <p:nvSpPr>
          <p:cNvPr id="7" name="Text Placeholder 17">
            <a:extLst>
              <a:ext uri="{FF2B5EF4-FFF2-40B4-BE49-F238E27FC236}">
                <a16:creationId xmlns:a16="http://schemas.microsoft.com/office/drawing/2014/main" id="{0FE049FB-53CE-0D06-5EAF-F7D996BBD1A1}"/>
              </a:ext>
            </a:extLst>
          </p:cNvPr>
          <p:cNvSpPr>
            <a:spLocks noGrp="1"/>
          </p:cNvSpPr>
          <p:nvPr>
            <p:ph type="body" sz="quarter" idx="10" hasCustomPrompt="1"/>
          </p:nvPr>
        </p:nvSpPr>
        <p:spPr>
          <a:xfrm>
            <a:off x="542925" y="1150143"/>
            <a:ext cx="10893106" cy="549275"/>
          </a:xfrm>
          <a:prstGeom prst="rect">
            <a:avLst/>
          </a:prstGeom>
        </p:spPr>
        <p:txBody>
          <a:bodyPr/>
          <a:lstStyle>
            <a:lvl1pPr marL="0" indent="0">
              <a:buNone/>
              <a:defRPr baseline="0">
                <a:solidFill>
                  <a:srgbClr val="8BBEE8"/>
                </a:solidFill>
                <a:latin typeface="UGent Panno Text" panose="02000506040000040003" pitchFamily="2" charset="0"/>
              </a:defRPr>
            </a:lvl1pPr>
          </a:lstStyle>
          <a:p>
            <a:r>
              <a:rPr lang="en-GB" sz="2800" b="0" i="0" baseline="0" dirty="0">
                <a:latin typeface="UGent Panno Text SemiLight" panose="02000406040000040003" pitchFamily="2" charset="0"/>
              </a:rPr>
              <a:t>Click to add subtitle</a:t>
            </a:r>
            <a:endParaRPr lang="en-BE" sz="2800" b="0" i="0" baseline="0" dirty="0">
              <a:latin typeface="UGent Panno Text SemiLight" panose="02000406040000040003" pitchFamily="2" charset="0"/>
            </a:endParaRPr>
          </a:p>
        </p:txBody>
      </p:sp>
      <p:sp>
        <p:nvSpPr>
          <p:cNvPr id="8" name="Title 1">
            <a:extLst>
              <a:ext uri="{FF2B5EF4-FFF2-40B4-BE49-F238E27FC236}">
                <a16:creationId xmlns:a16="http://schemas.microsoft.com/office/drawing/2014/main" id="{BB3EDE80-0BDF-4564-E27A-18B047ECA9A9}"/>
              </a:ext>
            </a:extLst>
          </p:cNvPr>
          <p:cNvSpPr>
            <a:spLocks noGrp="1"/>
          </p:cNvSpPr>
          <p:nvPr>
            <p:ph type="title" hasCustomPrompt="1"/>
          </p:nvPr>
        </p:nvSpPr>
        <p:spPr>
          <a:xfrm>
            <a:off x="542609" y="250995"/>
            <a:ext cx="10893422" cy="893656"/>
          </a:xfrm>
          <a:prstGeom prst="rect">
            <a:avLst/>
          </a:prstGeom>
        </p:spPr>
        <p:txBody>
          <a:bodyPr tIns="0" bIns="0"/>
          <a:lstStyle>
            <a:lvl1pPr>
              <a:defRPr sz="4400" b="1" i="0" cap="none" baseline="0">
                <a:solidFill>
                  <a:srgbClr val="1E64C8"/>
                </a:solidFill>
                <a:latin typeface="UGent Panno Text" panose="02000506040000040003" pitchFamily="2" charset="0"/>
              </a:defRPr>
            </a:lvl1pPr>
          </a:lstStyle>
          <a:p>
            <a:r>
              <a:rPr lang="en-GB" dirty="0"/>
              <a:t>Click to add title</a:t>
            </a:r>
            <a:endParaRPr lang="en-BE" dirty="0"/>
          </a:p>
        </p:txBody>
      </p:sp>
    </p:spTree>
    <p:extLst>
      <p:ext uri="{BB962C8B-B14F-4D97-AF65-F5344CB8AC3E}">
        <p14:creationId xmlns:p14="http://schemas.microsoft.com/office/powerpoint/2010/main" val="27420363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userDrawn="1">
          <p15:clr>
            <a:srgbClr val="FBAE40"/>
          </p15:clr>
        </p15:guide>
        <p15:guide id="4" orient="horz" pos="413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B9B38-4062-3544-B884-9B34D23BDCA4}"/>
              </a:ext>
            </a:extLst>
          </p:cNvPr>
          <p:cNvSpPr>
            <a:spLocks noGrp="1"/>
          </p:cNvSpPr>
          <p:nvPr>
            <p:ph idx="1" hasCustomPrompt="1"/>
          </p:nvPr>
        </p:nvSpPr>
        <p:spPr>
          <a:xfrm>
            <a:off x="542609" y="1889759"/>
            <a:ext cx="5340031" cy="3789681"/>
          </a:xfrm>
          <a:prstGeom prst="rect">
            <a:avLst/>
          </a:prstGeom>
        </p:spPr>
        <p:txBody>
          <a:bodyPr/>
          <a:lstStyle>
            <a:lvl1pPr marL="0" indent="0">
              <a:buNone/>
              <a:defRPr baseline="0">
                <a:latin typeface="UGent Panno Text" panose="02000506040000040003" pitchFamily="2" charset="0"/>
              </a:defRPr>
            </a:lvl1pPr>
            <a:lvl2pPr marL="9525" indent="263525">
              <a:buClr>
                <a:srgbClr val="1E64C8"/>
              </a:buClr>
              <a:tabLst/>
              <a:defRPr baseline="0">
                <a:latin typeface="UGent Panno Text" panose="02000506040000040003" pitchFamily="2" charset="0"/>
              </a:defRPr>
            </a:lvl2pPr>
            <a:lvl3pPr marL="801688" indent="-263525">
              <a:buClr>
                <a:srgbClr val="1E64C8"/>
              </a:buClr>
              <a:tabLst/>
              <a:defRPr baseline="0">
                <a:latin typeface="UGent Panno Text" panose="02000506040000040003" pitchFamily="2" charset="0"/>
              </a:defRPr>
            </a:lvl3pPr>
            <a:lvl4pPr>
              <a:defRPr baseline="0">
                <a:latin typeface="UGent Panno Text" panose="02000506040000040003" pitchFamily="2" charset="0"/>
              </a:defRPr>
            </a:lvl4pPr>
            <a:lvl5pPr>
              <a:defRPr baseline="0">
                <a:latin typeface="UGent Panno Text" panose="02000506040000040003" pitchFamily="2" charset="0"/>
              </a:defRPr>
            </a:lvl5pPr>
          </a:lstStyle>
          <a:p>
            <a:pPr lvl="0"/>
            <a:r>
              <a:rPr lang="en-GB" dirty="0"/>
              <a:t>Click to add text</a:t>
            </a:r>
          </a:p>
          <a:p>
            <a:pPr lvl="1"/>
            <a:r>
              <a:rPr lang="en-GB" dirty="0"/>
              <a:t>Level 1</a:t>
            </a:r>
          </a:p>
          <a:p>
            <a:pPr lvl="2"/>
            <a:r>
              <a:rPr lang="en-GB" dirty="0"/>
              <a:t>Level 2</a:t>
            </a:r>
          </a:p>
        </p:txBody>
      </p:sp>
      <p:sp>
        <p:nvSpPr>
          <p:cNvPr id="7" name="Picture Placeholder 6">
            <a:extLst>
              <a:ext uri="{FF2B5EF4-FFF2-40B4-BE49-F238E27FC236}">
                <a16:creationId xmlns:a16="http://schemas.microsoft.com/office/drawing/2014/main" id="{2A61780A-83DC-D87E-7E9D-4AAE6AB2CEE8}"/>
              </a:ext>
            </a:extLst>
          </p:cNvPr>
          <p:cNvSpPr>
            <a:spLocks noGrp="1"/>
          </p:cNvSpPr>
          <p:nvPr>
            <p:ph type="pic" sz="quarter" idx="10" hasCustomPrompt="1"/>
          </p:nvPr>
        </p:nvSpPr>
        <p:spPr>
          <a:xfrm>
            <a:off x="6096000" y="0"/>
            <a:ext cx="5761038" cy="6561138"/>
          </a:xfrm>
          <a:prstGeom prst="rect">
            <a:avLst/>
          </a:prstGeom>
          <a:solidFill>
            <a:schemeClr val="bg1">
              <a:alpha val="10106"/>
            </a:schemeClr>
          </a:solidFill>
        </p:spPr>
        <p:txBody>
          <a:bodyPr/>
          <a:lstStyle>
            <a:lvl1pPr marL="0" indent="0">
              <a:buNone/>
              <a:defRPr b="0" i="1" baseline="0"/>
            </a:lvl1pPr>
          </a:lstStyle>
          <a:p>
            <a:r>
              <a:rPr lang="nl-BE" dirty="0"/>
              <a:t>Click </a:t>
            </a:r>
            <a:r>
              <a:rPr lang="nl-BE" dirty="0" err="1"/>
              <a:t>to</a:t>
            </a:r>
            <a:r>
              <a:rPr lang="nl-BE" dirty="0"/>
              <a:t> </a:t>
            </a:r>
            <a:r>
              <a:rPr lang="nl-BE" dirty="0" err="1"/>
              <a:t>add</a:t>
            </a:r>
            <a:r>
              <a:rPr lang="nl-BE" dirty="0"/>
              <a:t> picture</a:t>
            </a:r>
            <a:endParaRPr lang="en-BE" dirty="0"/>
          </a:p>
        </p:txBody>
      </p:sp>
      <p:sp>
        <p:nvSpPr>
          <p:cNvPr id="5" name="Title 1">
            <a:extLst>
              <a:ext uri="{FF2B5EF4-FFF2-40B4-BE49-F238E27FC236}">
                <a16:creationId xmlns:a16="http://schemas.microsoft.com/office/drawing/2014/main" id="{638AEE2A-8AAD-71AA-7952-D0105F9D9D3C}"/>
              </a:ext>
            </a:extLst>
          </p:cNvPr>
          <p:cNvSpPr>
            <a:spLocks noGrp="1"/>
          </p:cNvSpPr>
          <p:nvPr>
            <p:ph type="title" hasCustomPrompt="1"/>
          </p:nvPr>
        </p:nvSpPr>
        <p:spPr>
          <a:xfrm>
            <a:off x="542609" y="357529"/>
            <a:ext cx="5340031" cy="1532230"/>
          </a:xfrm>
          <a:prstGeom prst="rect">
            <a:avLst/>
          </a:prstGeom>
        </p:spPr>
        <p:txBody>
          <a:bodyPr anchor="t" anchorCtr="0"/>
          <a:lstStyle>
            <a:lvl1pPr>
              <a:lnSpc>
                <a:spcPts val="4880"/>
              </a:lnSpc>
              <a:defRPr sz="4400" b="1" i="0" cap="none" baseline="0">
                <a:solidFill>
                  <a:srgbClr val="1E64C8"/>
                </a:solidFill>
                <a:latin typeface="UGent Panno Text" panose="02000506040000040003" pitchFamily="2" charset="0"/>
              </a:defRPr>
            </a:lvl1pPr>
          </a:lstStyle>
          <a:p>
            <a:r>
              <a:rPr lang="en-GB" dirty="0"/>
              <a:t>Click to add title</a:t>
            </a:r>
            <a:endParaRPr lang="en-BE" dirty="0"/>
          </a:p>
        </p:txBody>
      </p:sp>
    </p:spTree>
    <p:extLst>
      <p:ext uri="{BB962C8B-B14F-4D97-AF65-F5344CB8AC3E}">
        <p14:creationId xmlns:p14="http://schemas.microsoft.com/office/powerpoint/2010/main" val="2659440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userDrawn="1">
          <p15:clr>
            <a:srgbClr val="FBAE40"/>
          </p15:clr>
        </p15:guide>
        <p15:guide id="4" orient="horz" pos="4133" userDrawn="1">
          <p15:clr>
            <a:srgbClr val="FBAE40"/>
          </p15:clr>
        </p15:guide>
        <p15:guide id="5" orient="horz" pos="52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60491DC-DD02-8C0D-3C43-4759716D260A}"/>
              </a:ext>
            </a:extLst>
          </p:cNvPr>
          <p:cNvSpPr>
            <a:spLocks noGrp="1"/>
          </p:cNvSpPr>
          <p:nvPr>
            <p:ph type="pic" sz="quarter" idx="12" hasCustomPrompt="1"/>
          </p:nvPr>
        </p:nvSpPr>
        <p:spPr>
          <a:xfrm>
            <a:off x="334963" y="0"/>
            <a:ext cx="11857037" cy="5624513"/>
          </a:xfrm>
          <a:prstGeom prst="rect">
            <a:avLst/>
          </a:prstGeom>
          <a:noFill/>
        </p:spPr>
        <p:txBody>
          <a:bodyPr/>
          <a:lstStyle>
            <a:lvl1pPr marL="0" indent="0">
              <a:buNone/>
              <a:defRPr b="0" i="1" baseline="0"/>
            </a:lvl1pPr>
          </a:lstStyle>
          <a:p>
            <a:r>
              <a:rPr lang="nl-BE" dirty="0"/>
              <a:t>Click </a:t>
            </a:r>
            <a:r>
              <a:rPr lang="nl-BE" dirty="0" err="1"/>
              <a:t>to</a:t>
            </a:r>
            <a:r>
              <a:rPr lang="nl-BE" dirty="0"/>
              <a:t> </a:t>
            </a:r>
            <a:r>
              <a:rPr lang="nl-BE" dirty="0" err="1"/>
              <a:t>add</a:t>
            </a:r>
            <a:r>
              <a:rPr lang="nl-BE" dirty="0"/>
              <a:t> picture</a:t>
            </a:r>
            <a:endParaRPr lang="en-BE" dirty="0"/>
          </a:p>
        </p:txBody>
      </p:sp>
      <p:sp>
        <p:nvSpPr>
          <p:cNvPr id="16" name="Text Placeholder 14">
            <a:extLst>
              <a:ext uri="{FF2B5EF4-FFF2-40B4-BE49-F238E27FC236}">
                <a16:creationId xmlns:a16="http://schemas.microsoft.com/office/drawing/2014/main" id="{79928919-EA26-6E09-2403-4922D79229C1}"/>
              </a:ext>
            </a:extLst>
          </p:cNvPr>
          <p:cNvSpPr>
            <a:spLocks noGrp="1"/>
          </p:cNvSpPr>
          <p:nvPr>
            <p:ph type="body" sz="quarter" idx="14" hasCustomPrompt="1"/>
          </p:nvPr>
        </p:nvSpPr>
        <p:spPr>
          <a:xfrm>
            <a:off x="6096000" y="2960688"/>
            <a:ext cx="5761038" cy="3600450"/>
          </a:xfrm>
          <a:prstGeom prst="rect">
            <a:avLst/>
          </a:prstGeom>
          <a:solidFill>
            <a:srgbClr val="8BBEE8"/>
          </a:solidFill>
        </p:spPr>
        <p:txBody>
          <a:bodyPr lIns="288000" tIns="144000"/>
          <a:lstStyle>
            <a:lvl1pPr marL="0" indent="0">
              <a:lnSpc>
                <a:spcPct val="100000"/>
              </a:lnSpc>
              <a:buNone/>
              <a:defRPr sz="2000" b="0" i="0" baseline="0">
                <a:solidFill>
                  <a:schemeClr val="bg1"/>
                </a:solidFill>
                <a:latin typeface="UGent Panno Text" panose="02000506040000040003" pitchFamily="2" charset="0"/>
              </a:defRPr>
            </a:lvl1pPr>
          </a:lstStyle>
          <a:p>
            <a:pPr lvl="0"/>
            <a:r>
              <a:rPr lang="en-GB" dirty="0"/>
              <a:t>Click to add text</a:t>
            </a:r>
            <a:endParaRPr lang="en-BE" dirty="0"/>
          </a:p>
        </p:txBody>
      </p:sp>
    </p:spTree>
    <p:extLst>
      <p:ext uri="{BB962C8B-B14F-4D97-AF65-F5344CB8AC3E}">
        <p14:creationId xmlns:p14="http://schemas.microsoft.com/office/powerpoint/2010/main" val="22626908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orient="horz" pos="4133">
          <p15:clr>
            <a:srgbClr val="FBAE40"/>
          </p15:clr>
        </p15:guide>
        <p15:guide id="5" orient="horz" pos="3543">
          <p15:clr>
            <a:srgbClr val="FBAE40"/>
          </p15:clr>
        </p15:guide>
        <p15:guide id="6" pos="211">
          <p15:clr>
            <a:srgbClr val="FBAE40"/>
          </p15:clr>
        </p15:guide>
        <p15:guide id="7" orient="horz" pos="1865" userDrawn="1">
          <p15:clr>
            <a:srgbClr val="FBAE40"/>
          </p15:clr>
        </p15:guide>
        <p15:guide id="8" pos="402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D8A7D59B-53F4-BEBC-DECB-70532BA2E89C}"/>
              </a:ext>
            </a:extLst>
          </p:cNvPr>
          <p:cNvSpPr>
            <a:spLocks noGrp="1"/>
          </p:cNvSpPr>
          <p:nvPr>
            <p:ph type="pic" sz="quarter" idx="12" hasCustomPrompt="1"/>
          </p:nvPr>
        </p:nvSpPr>
        <p:spPr>
          <a:xfrm>
            <a:off x="334964" y="0"/>
            <a:ext cx="8426236" cy="5624513"/>
          </a:xfrm>
          <a:prstGeom prst="rect">
            <a:avLst/>
          </a:prstGeom>
          <a:noFill/>
        </p:spPr>
        <p:txBody>
          <a:bodyPr/>
          <a:lstStyle>
            <a:lvl1pPr marL="0" indent="0">
              <a:buNone/>
              <a:defRPr b="0" i="1" baseline="0"/>
            </a:lvl1pPr>
          </a:lstStyle>
          <a:p>
            <a:r>
              <a:rPr lang="nl-BE" dirty="0"/>
              <a:t>Click </a:t>
            </a:r>
            <a:r>
              <a:rPr lang="nl-BE" dirty="0" err="1"/>
              <a:t>to</a:t>
            </a:r>
            <a:r>
              <a:rPr lang="nl-BE" dirty="0"/>
              <a:t> </a:t>
            </a:r>
            <a:r>
              <a:rPr lang="nl-BE" dirty="0" err="1"/>
              <a:t>add</a:t>
            </a:r>
            <a:r>
              <a:rPr lang="nl-BE" dirty="0"/>
              <a:t> picture</a:t>
            </a:r>
            <a:endParaRPr lang="en-BE" dirty="0"/>
          </a:p>
        </p:txBody>
      </p:sp>
      <p:sp>
        <p:nvSpPr>
          <p:cNvPr id="10" name="Text Placeholder 5">
            <a:extLst>
              <a:ext uri="{FF2B5EF4-FFF2-40B4-BE49-F238E27FC236}">
                <a16:creationId xmlns:a16="http://schemas.microsoft.com/office/drawing/2014/main" id="{CFE686B0-9020-8A92-0329-A8A99BFE9AAF}"/>
              </a:ext>
            </a:extLst>
          </p:cNvPr>
          <p:cNvSpPr>
            <a:spLocks noGrp="1"/>
          </p:cNvSpPr>
          <p:nvPr>
            <p:ph type="body" sz="quarter" idx="11" hasCustomPrompt="1"/>
          </p:nvPr>
        </p:nvSpPr>
        <p:spPr>
          <a:xfrm>
            <a:off x="6096000" y="3429000"/>
            <a:ext cx="5761038" cy="3132137"/>
          </a:xfrm>
          <a:prstGeom prst="rect">
            <a:avLst/>
          </a:prstGeom>
          <a:solidFill>
            <a:schemeClr val="bg1"/>
          </a:solidFill>
        </p:spPr>
        <p:txBody>
          <a:bodyPr lIns="216000" tIns="216000"/>
          <a:lstStyle>
            <a:lvl1pPr marL="0" indent="0">
              <a:buNone/>
              <a:defRPr sz="2400" b="1" i="0" baseline="0">
                <a:solidFill>
                  <a:srgbClr val="1E64C8"/>
                </a:solidFill>
                <a:latin typeface="UGent Panno Text" panose="02000506040000040003" pitchFamily="2" charset="0"/>
              </a:defRPr>
            </a:lvl1pPr>
          </a:lstStyle>
          <a:p>
            <a:pPr lvl="0"/>
            <a:r>
              <a:rPr lang="en-GB" dirty="0"/>
              <a:t>Click to add quote</a:t>
            </a:r>
          </a:p>
        </p:txBody>
      </p:sp>
    </p:spTree>
    <p:extLst>
      <p:ext uri="{BB962C8B-B14F-4D97-AF65-F5344CB8AC3E}">
        <p14:creationId xmlns:p14="http://schemas.microsoft.com/office/powerpoint/2010/main" val="1031973475"/>
      </p:ext>
    </p:extLst>
  </p:cSld>
  <p:clrMapOvr>
    <a:masterClrMapping/>
  </p:clrMapOvr>
  <p:extLst>
    <p:ext uri="{DCECCB84-F9BA-43D5-87BE-67443E8EF086}">
      <p15:sldGuideLst xmlns:p15="http://schemas.microsoft.com/office/powerpoint/2012/main">
        <p15:guide id="1" orient="horz" pos="3543" userDrawn="1">
          <p15:clr>
            <a:srgbClr val="FBAE40"/>
          </p15:clr>
        </p15:guide>
        <p15:guide id="2" pos="3840" userDrawn="1">
          <p15:clr>
            <a:srgbClr val="FBAE40"/>
          </p15:clr>
        </p15:guide>
        <p15:guide id="3" pos="211" userDrawn="1">
          <p15:clr>
            <a:srgbClr val="FBAE40"/>
          </p15:clr>
        </p15:guide>
        <p15:guide id="4" pos="551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24342D-546E-7B37-2676-BAAD35536F28}"/>
              </a:ext>
            </a:extLst>
          </p:cNvPr>
          <p:cNvSpPr/>
          <p:nvPr userDrawn="1"/>
        </p:nvSpPr>
        <p:spPr>
          <a:xfrm>
            <a:off x="0" y="0"/>
            <a:ext cx="12192000" cy="6858000"/>
          </a:xfrm>
          <a:prstGeom prst="rect">
            <a:avLst/>
          </a:prstGeom>
          <a:solidFill>
            <a:srgbClr val="E9F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 name="Picture 2">
            <a:extLst>
              <a:ext uri="{FF2B5EF4-FFF2-40B4-BE49-F238E27FC236}">
                <a16:creationId xmlns:a16="http://schemas.microsoft.com/office/drawing/2014/main" id="{97CB6634-3E7A-5251-E883-2E5086975CE7}"/>
              </a:ext>
            </a:extLst>
          </p:cNvPr>
          <p:cNvPicPr>
            <a:picLocks noChangeAspect="1"/>
          </p:cNvPicPr>
          <p:nvPr userDrawn="1"/>
        </p:nvPicPr>
        <p:blipFill>
          <a:blip r:embed="rId2"/>
          <a:srcRect/>
          <a:stretch/>
        </p:blipFill>
        <p:spPr>
          <a:xfrm>
            <a:off x="43815" y="5632331"/>
            <a:ext cx="1531620" cy="1225554"/>
          </a:xfrm>
          <a:prstGeom prst="rect">
            <a:avLst/>
          </a:prstGeom>
        </p:spPr>
      </p:pic>
      <p:sp>
        <p:nvSpPr>
          <p:cNvPr id="7" name="Media Placeholder 6">
            <a:extLst>
              <a:ext uri="{FF2B5EF4-FFF2-40B4-BE49-F238E27FC236}">
                <a16:creationId xmlns:a16="http://schemas.microsoft.com/office/drawing/2014/main" id="{FC62665B-E898-7EE2-2118-04E6DA6F3F16}"/>
              </a:ext>
            </a:extLst>
          </p:cNvPr>
          <p:cNvSpPr>
            <a:spLocks noGrp="1"/>
          </p:cNvSpPr>
          <p:nvPr>
            <p:ph type="media" sz="quarter" idx="10" hasCustomPrompt="1"/>
          </p:nvPr>
        </p:nvSpPr>
        <p:spPr>
          <a:xfrm>
            <a:off x="1803400" y="647012"/>
            <a:ext cx="8582025" cy="48228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0" i="1" baseline="0"/>
            </a:lvl1pPr>
          </a:lstStyle>
          <a:p>
            <a:r>
              <a:rPr lang="en-GB" dirty="0"/>
              <a:t>Click to add video</a:t>
            </a:r>
          </a:p>
        </p:txBody>
      </p:sp>
      <p:pic>
        <p:nvPicPr>
          <p:cNvPr id="8" name="Graphic 7">
            <a:extLst>
              <a:ext uri="{FF2B5EF4-FFF2-40B4-BE49-F238E27FC236}">
                <a16:creationId xmlns:a16="http://schemas.microsoft.com/office/drawing/2014/main" id="{4951F26E-CB45-E98F-4538-724A7F98AE2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35503" y="2526636"/>
            <a:ext cx="1520993" cy="1135012"/>
          </a:xfrm>
          <a:prstGeom prst="rect">
            <a:avLst/>
          </a:prstGeom>
          <a:effectLst>
            <a:outerShdw blurRad="50800" dist="79774" dir="2700000" sx="95000" sy="95000" algn="tl" rotWithShape="0">
              <a:prstClr val="black">
                <a:alpha val="42000"/>
              </a:prstClr>
            </a:outerShdw>
          </a:effectLst>
        </p:spPr>
      </p:pic>
    </p:spTree>
    <p:extLst>
      <p:ext uri="{BB962C8B-B14F-4D97-AF65-F5344CB8AC3E}">
        <p14:creationId xmlns:p14="http://schemas.microsoft.com/office/powerpoint/2010/main" val="26603235"/>
      </p:ext>
    </p:extLst>
  </p:cSld>
  <p:clrMapOvr>
    <a:masterClrMapping/>
  </p:clrMapOvr>
  <p:extLst>
    <p:ext uri="{DCECCB84-F9BA-43D5-87BE-67443E8EF086}">
      <p15:sldGuideLst xmlns:p15="http://schemas.microsoft.com/office/powerpoint/2012/main">
        <p15:guide id="1" orient="horz" pos="3543">
          <p15:clr>
            <a:srgbClr val="FBAE40"/>
          </p15:clr>
        </p15:guide>
        <p15:guide id="2" pos="3840">
          <p15:clr>
            <a:srgbClr val="FBAE40"/>
          </p15:clr>
        </p15:guide>
        <p15:guide id="3" pos="211">
          <p15:clr>
            <a:srgbClr val="FBAE40"/>
          </p15:clr>
        </p15:guide>
        <p15:guide id="4" pos="551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0" name="Rectangle 9">
            <a:hlinkClick r:id="rId2"/>
            <a:extLst>
              <a:ext uri="{FF2B5EF4-FFF2-40B4-BE49-F238E27FC236}">
                <a16:creationId xmlns:a16="http://schemas.microsoft.com/office/drawing/2014/main" id="{362F20F1-ED28-85C0-71DB-505E68838417}"/>
              </a:ext>
            </a:extLst>
          </p:cNvPr>
          <p:cNvSpPr/>
          <p:nvPr userDrawn="1"/>
        </p:nvSpPr>
        <p:spPr>
          <a:xfrm>
            <a:off x="334962" y="904834"/>
            <a:ext cx="11857038" cy="4727381"/>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Text Placeholder 15">
            <a:extLst>
              <a:ext uri="{FF2B5EF4-FFF2-40B4-BE49-F238E27FC236}">
                <a16:creationId xmlns:a16="http://schemas.microsoft.com/office/drawing/2014/main" id="{5E68D4D5-0FA9-E53F-F53B-B98FE92BBC76}"/>
              </a:ext>
            </a:extLst>
          </p:cNvPr>
          <p:cNvSpPr>
            <a:spLocks noGrp="1"/>
          </p:cNvSpPr>
          <p:nvPr>
            <p:ph type="body" sz="quarter" idx="12" hasCustomPrompt="1"/>
          </p:nvPr>
        </p:nvSpPr>
        <p:spPr>
          <a:xfrm>
            <a:off x="1209307" y="1288131"/>
            <a:ext cx="5800725" cy="368467"/>
          </a:xfrm>
          <a:prstGeom prst="rect">
            <a:avLst/>
          </a:prstGeom>
        </p:spPr>
        <p:txBody>
          <a:bodyPr/>
          <a:lstStyle>
            <a:lvl1pPr marL="0" indent="0">
              <a:lnSpc>
                <a:spcPct val="100000"/>
              </a:lnSpc>
              <a:spcBef>
                <a:spcPts val="0"/>
              </a:spcBef>
              <a:buNone/>
              <a:defRPr sz="2400" b="1" i="0"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name presenter</a:t>
            </a:r>
            <a:endParaRPr lang="en-GB" dirty="0"/>
          </a:p>
        </p:txBody>
      </p:sp>
      <p:sp>
        <p:nvSpPr>
          <p:cNvPr id="17" name="Text Placeholder 15">
            <a:extLst>
              <a:ext uri="{FF2B5EF4-FFF2-40B4-BE49-F238E27FC236}">
                <a16:creationId xmlns:a16="http://schemas.microsoft.com/office/drawing/2014/main" id="{DC9F327B-FF93-9563-C292-045730830AD4}"/>
              </a:ext>
            </a:extLst>
          </p:cNvPr>
          <p:cNvSpPr>
            <a:spLocks noGrp="1"/>
          </p:cNvSpPr>
          <p:nvPr>
            <p:ph type="body" sz="quarter" idx="13" hasCustomPrompt="1"/>
          </p:nvPr>
        </p:nvSpPr>
        <p:spPr>
          <a:xfrm>
            <a:off x="1209306" y="1744365"/>
            <a:ext cx="5800725" cy="368467"/>
          </a:xfrm>
          <a:prstGeom prst="rect">
            <a:avLst/>
          </a:prstGeom>
        </p:spPr>
        <p:txBody>
          <a:bodyPr/>
          <a:lstStyle>
            <a:lvl1pPr marL="0" indent="0">
              <a:lnSpc>
                <a:spcPct val="100000"/>
              </a:lnSpc>
              <a:spcBef>
                <a:spcPts val="0"/>
              </a:spcBef>
              <a:buNone/>
              <a:defRPr sz="1800" b="0" i="0"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a:t>
            </a:r>
            <a:r>
              <a:rPr lang="nl-BE" dirty="0" err="1"/>
              <a:t>function</a:t>
            </a:r>
            <a:r>
              <a:rPr lang="nl-BE" dirty="0"/>
              <a:t> presenter</a:t>
            </a:r>
            <a:endParaRPr lang="en-GB" dirty="0"/>
          </a:p>
        </p:txBody>
      </p:sp>
      <p:sp>
        <p:nvSpPr>
          <p:cNvPr id="19" name="Text Placeholder 15">
            <a:extLst>
              <a:ext uri="{FF2B5EF4-FFF2-40B4-BE49-F238E27FC236}">
                <a16:creationId xmlns:a16="http://schemas.microsoft.com/office/drawing/2014/main" id="{2B695713-4E1B-201D-D5EB-461CBF7EBA51}"/>
              </a:ext>
            </a:extLst>
          </p:cNvPr>
          <p:cNvSpPr>
            <a:spLocks noGrp="1"/>
          </p:cNvSpPr>
          <p:nvPr>
            <p:ph type="body" sz="quarter" idx="14" hasCustomPrompt="1"/>
          </p:nvPr>
        </p:nvSpPr>
        <p:spPr>
          <a:xfrm>
            <a:off x="1209306" y="2514594"/>
            <a:ext cx="5800725" cy="368467"/>
          </a:xfrm>
          <a:prstGeom prst="rect">
            <a:avLst/>
          </a:prstGeom>
        </p:spPr>
        <p:txBody>
          <a:bodyPr/>
          <a:lstStyle>
            <a:lvl1pPr marL="0" indent="0">
              <a:lnSpc>
                <a:spcPct val="100000"/>
              </a:lnSpc>
              <a:spcBef>
                <a:spcPts val="0"/>
              </a:spcBef>
              <a:buNone/>
              <a:defRPr sz="1800" b="0" i="0" cap="all"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a:t>
            </a:r>
            <a:r>
              <a:rPr lang="nl-BE" dirty="0" err="1"/>
              <a:t>department</a:t>
            </a:r>
            <a:r>
              <a:rPr lang="nl-BE" dirty="0"/>
              <a:t> or research </a:t>
            </a:r>
            <a:r>
              <a:rPr lang="nl-BE" dirty="0" err="1"/>
              <a:t>group</a:t>
            </a:r>
            <a:endParaRPr lang="en-GB" dirty="0"/>
          </a:p>
        </p:txBody>
      </p:sp>
      <p:sp>
        <p:nvSpPr>
          <p:cNvPr id="20" name="Text Placeholder 15">
            <a:extLst>
              <a:ext uri="{FF2B5EF4-FFF2-40B4-BE49-F238E27FC236}">
                <a16:creationId xmlns:a16="http://schemas.microsoft.com/office/drawing/2014/main" id="{FE657102-1BE8-0D9D-E03D-6B6E915D876B}"/>
              </a:ext>
            </a:extLst>
          </p:cNvPr>
          <p:cNvSpPr>
            <a:spLocks noGrp="1"/>
          </p:cNvSpPr>
          <p:nvPr>
            <p:ph type="body" sz="quarter" idx="15" hasCustomPrompt="1"/>
          </p:nvPr>
        </p:nvSpPr>
        <p:spPr>
          <a:xfrm>
            <a:off x="1209306" y="3448928"/>
            <a:ext cx="5800725" cy="368467"/>
          </a:xfrm>
          <a:prstGeom prst="rect">
            <a:avLst/>
          </a:prstGeom>
        </p:spPr>
        <p:txBody>
          <a:bodyPr/>
          <a:lstStyle>
            <a:lvl1pPr marL="0" indent="0">
              <a:lnSpc>
                <a:spcPct val="100000"/>
              </a:lnSpc>
              <a:spcBef>
                <a:spcPts val="0"/>
              </a:spcBef>
              <a:buNone/>
              <a:defRPr sz="1800" b="0" i="0"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email </a:t>
            </a:r>
            <a:r>
              <a:rPr lang="nl-BE" dirty="0" err="1"/>
              <a:t>address</a:t>
            </a:r>
            <a:endParaRPr lang="en-GB" dirty="0"/>
          </a:p>
        </p:txBody>
      </p:sp>
      <p:sp>
        <p:nvSpPr>
          <p:cNvPr id="21" name="Text Placeholder 15">
            <a:extLst>
              <a:ext uri="{FF2B5EF4-FFF2-40B4-BE49-F238E27FC236}">
                <a16:creationId xmlns:a16="http://schemas.microsoft.com/office/drawing/2014/main" id="{86142B73-FD37-BBD7-B358-4DD6E2FC11F9}"/>
              </a:ext>
            </a:extLst>
          </p:cNvPr>
          <p:cNvSpPr>
            <a:spLocks noGrp="1"/>
          </p:cNvSpPr>
          <p:nvPr>
            <p:ph type="body" sz="quarter" idx="16" hasCustomPrompt="1"/>
          </p:nvPr>
        </p:nvSpPr>
        <p:spPr>
          <a:xfrm>
            <a:off x="1209305" y="3906540"/>
            <a:ext cx="5800725" cy="368467"/>
          </a:xfrm>
          <a:prstGeom prst="rect">
            <a:avLst/>
          </a:prstGeom>
        </p:spPr>
        <p:txBody>
          <a:bodyPr/>
          <a:lstStyle>
            <a:lvl1pPr marL="0" indent="0">
              <a:lnSpc>
                <a:spcPct val="100000"/>
              </a:lnSpc>
              <a:spcBef>
                <a:spcPts val="0"/>
              </a:spcBef>
              <a:buNone/>
              <a:defRPr sz="1800" b="0" i="0"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a:t>
            </a:r>
            <a:r>
              <a:rPr lang="nl-BE" dirty="0" err="1"/>
              <a:t>phone</a:t>
            </a:r>
            <a:r>
              <a:rPr lang="nl-BE" dirty="0"/>
              <a:t> </a:t>
            </a:r>
            <a:r>
              <a:rPr lang="nl-BE" dirty="0" err="1"/>
              <a:t>number</a:t>
            </a:r>
            <a:endParaRPr lang="en-GB" dirty="0"/>
          </a:p>
        </p:txBody>
      </p:sp>
      <p:sp>
        <p:nvSpPr>
          <p:cNvPr id="24" name="Text Placeholder 15">
            <a:extLst>
              <a:ext uri="{FF2B5EF4-FFF2-40B4-BE49-F238E27FC236}">
                <a16:creationId xmlns:a16="http://schemas.microsoft.com/office/drawing/2014/main" id="{341BF6EC-7ACA-8D9F-5C30-803E5DD79E44}"/>
              </a:ext>
            </a:extLst>
          </p:cNvPr>
          <p:cNvSpPr>
            <a:spLocks noGrp="1"/>
          </p:cNvSpPr>
          <p:nvPr>
            <p:ph type="body" sz="quarter" idx="17" hasCustomPrompt="1"/>
          </p:nvPr>
        </p:nvSpPr>
        <p:spPr>
          <a:xfrm>
            <a:off x="1209305" y="4379321"/>
            <a:ext cx="5800725" cy="368467"/>
          </a:xfrm>
          <a:prstGeom prst="rect">
            <a:avLst/>
          </a:prstGeom>
        </p:spPr>
        <p:txBody>
          <a:bodyPr/>
          <a:lstStyle>
            <a:lvl1pPr marL="0" indent="0">
              <a:lnSpc>
                <a:spcPct val="100000"/>
              </a:lnSpc>
              <a:spcBef>
                <a:spcPts val="0"/>
              </a:spcBef>
              <a:buNone/>
              <a:defRPr sz="1800" b="0" i="0" baseline="0">
                <a:solidFill>
                  <a:schemeClr val="bg1"/>
                </a:solidFill>
                <a:latin typeface="UGent Panno Text" panose="02000506040000040003" pitchFamily="2" charset="0"/>
              </a:defRPr>
            </a:lvl1pPr>
          </a:lstStyle>
          <a:p>
            <a:pPr lvl="0"/>
            <a:r>
              <a:rPr lang="nl-BE" dirty="0"/>
              <a:t>Click </a:t>
            </a:r>
            <a:r>
              <a:rPr lang="nl-BE" dirty="0" err="1"/>
              <a:t>to</a:t>
            </a:r>
            <a:r>
              <a:rPr lang="nl-BE" dirty="0"/>
              <a:t> </a:t>
            </a:r>
            <a:r>
              <a:rPr lang="nl-BE" dirty="0" err="1"/>
              <a:t>add</a:t>
            </a:r>
            <a:r>
              <a:rPr lang="nl-BE" dirty="0"/>
              <a:t> </a:t>
            </a:r>
            <a:r>
              <a:rPr lang="nl-BE" dirty="0" err="1"/>
              <a:t>cell</a:t>
            </a:r>
            <a:r>
              <a:rPr lang="nl-BE" dirty="0"/>
              <a:t> </a:t>
            </a:r>
            <a:r>
              <a:rPr lang="nl-BE" dirty="0" err="1"/>
              <a:t>phone</a:t>
            </a:r>
            <a:r>
              <a:rPr lang="nl-BE" dirty="0"/>
              <a:t> </a:t>
            </a:r>
            <a:r>
              <a:rPr lang="nl-BE" dirty="0" err="1"/>
              <a:t>number</a:t>
            </a:r>
            <a:endParaRPr lang="en-GB" dirty="0"/>
          </a:p>
        </p:txBody>
      </p:sp>
      <p:sp>
        <p:nvSpPr>
          <p:cNvPr id="2" name="Text Placeholder 15">
            <a:extLst>
              <a:ext uri="{FF2B5EF4-FFF2-40B4-BE49-F238E27FC236}">
                <a16:creationId xmlns:a16="http://schemas.microsoft.com/office/drawing/2014/main" id="{FF87902B-45B8-AF60-EDBD-FCD5EFD06143}"/>
              </a:ext>
            </a:extLst>
          </p:cNvPr>
          <p:cNvSpPr>
            <a:spLocks noGrp="1"/>
          </p:cNvSpPr>
          <p:nvPr>
            <p:ph type="body" sz="quarter" idx="18"/>
          </p:nvPr>
        </p:nvSpPr>
        <p:spPr>
          <a:xfrm>
            <a:off x="9341671" y="2572340"/>
            <a:ext cx="2652130" cy="360000"/>
          </a:xfrm>
          <a:prstGeom prst="rect">
            <a:avLst/>
          </a:prstGeom>
        </p:spPr>
        <p:txBody>
          <a:bodyPr>
            <a:normAutofit/>
          </a:bodyPr>
          <a:lstStyle>
            <a:lvl1pPr marL="0" indent="0">
              <a:lnSpc>
                <a:spcPct val="100000"/>
              </a:lnSpc>
              <a:spcBef>
                <a:spcPts val="0"/>
              </a:spcBef>
              <a:buNone/>
              <a:defRPr sz="1700" b="0" i="0" baseline="0">
                <a:solidFill>
                  <a:schemeClr val="bg1"/>
                </a:solidFill>
                <a:latin typeface="UGent Panno Text" panose="02000506040000040003" pitchFamily="2" charset="0"/>
              </a:defRPr>
            </a:lvl1pPr>
          </a:lstStyle>
          <a:p>
            <a:pPr lvl="0"/>
            <a:r>
              <a:rPr lang="en-GB"/>
              <a:t>Click to edit Master text styles</a:t>
            </a:r>
          </a:p>
        </p:txBody>
      </p:sp>
      <p:sp>
        <p:nvSpPr>
          <p:cNvPr id="3" name="Picture Placeholder 14">
            <a:extLst>
              <a:ext uri="{FF2B5EF4-FFF2-40B4-BE49-F238E27FC236}">
                <a16:creationId xmlns:a16="http://schemas.microsoft.com/office/drawing/2014/main" id="{88FF502E-8D06-7F3E-2B5A-7C3BB3F17DCE}"/>
              </a:ext>
            </a:extLst>
          </p:cNvPr>
          <p:cNvSpPr>
            <a:spLocks noGrp="1"/>
          </p:cNvSpPr>
          <p:nvPr>
            <p:ph type="pic" sz="quarter" idx="23"/>
          </p:nvPr>
        </p:nvSpPr>
        <p:spPr>
          <a:xfrm>
            <a:off x="8903448" y="2572340"/>
            <a:ext cx="360000" cy="360000"/>
          </a:xfrm>
        </p:spPr>
        <p:txBody>
          <a:bodyPr>
            <a:normAutofit/>
          </a:bodyPr>
          <a:lstStyle>
            <a:lvl1pPr>
              <a:defRPr sz="600" baseline="0"/>
            </a:lvl1pPr>
          </a:lstStyle>
          <a:p>
            <a:r>
              <a:rPr lang="en-GB"/>
              <a:t>Click icon to add picture</a:t>
            </a:r>
            <a:endParaRPr lang="en-BE" dirty="0"/>
          </a:p>
        </p:txBody>
      </p:sp>
      <p:sp>
        <p:nvSpPr>
          <p:cNvPr id="22" name="Text Placeholder 15">
            <a:extLst>
              <a:ext uri="{FF2B5EF4-FFF2-40B4-BE49-F238E27FC236}">
                <a16:creationId xmlns:a16="http://schemas.microsoft.com/office/drawing/2014/main" id="{EE6C3D79-39D2-1CC1-710A-71F437647342}"/>
              </a:ext>
            </a:extLst>
          </p:cNvPr>
          <p:cNvSpPr>
            <a:spLocks noGrp="1"/>
          </p:cNvSpPr>
          <p:nvPr>
            <p:ph type="body" sz="quarter" idx="24"/>
          </p:nvPr>
        </p:nvSpPr>
        <p:spPr>
          <a:xfrm>
            <a:off x="9341671" y="3006178"/>
            <a:ext cx="2652130" cy="360000"/>
          </a:xfrm>
          <a:prstGeom prst="rect">
            <a:avLst/>
          </a:prstGeom>
        </p:spPr>
        <p:txBody>
          <a:bodyPr>
            <a:normAutofit/>
          </a:bodyPr>
          <a:lstStyle>
            <a:lvl1pPr marL="0" indent="0">
              <a:lnSpc>
                <a:spcPct val="100000"/>
              </a:lnSpc>
              <a:spcBef>
                <a:spcPts val="0"/>
              </a:spcBef>
              <a:buNone/>
              <a:defRPr sz="1700" b="0" i="0" baseline="0">
                <a:solidFill>
                  <a:schemeClr val="bg1"/>
                </a:solidFill>
                <a:latin typeface="UGent Panno Text" panose="02000506040000040003" pitchFamily="2" charset="0"/>
              </a:defRPr>
            </a:lvl1pPr>
          </a:lstStyle>
          <a:p>
            <a:pPr lvl="0"/>
            <a:r>
              <a:rPr lang="en-GB"/>
              <a:t>Click to edit Master text styles</a:t>
            </a:r>
          </a:p>
        </p:txBody>
      </p:sp>
      <p:sp>
        <p:nvSpPr>
          <p:cNvPr id="23" name="Picture Placeholder 14">
            <a:extLst>
              <a:ext uri="{FF2B5EF4-FFF2-40B4-BE49-F238E27FC236}">
                <a16:creationId xmlns:a16="http://schemas.microsoft.com/office/drawing/2014/main" id="{35C7FD63-C24F-9766-4D38-14E96DC1DEDF}"/>
              </a:ext>
            </a:extLst>
          </p:cNvPr>
          <p:cNvSpPr>
            <a:spLocks noGrp="1"/>
          </p:cNvSpPr>
          <p:nvPr>
            <p:ph type="pic" sz="quarter" idx="25"/>
          </p:nvPr>
        </p:nvSpPr>
        <p:spPr>
          <a:xfrm>
            <a:off x="8903448" y="3006178"/>
            <a:ext cx="360000" cy="360000"/>
          </a:xfrm>
        </p:spPr>
        <p:txBody>
          <a:bodyPr>
            <a:normAutofit/>
          </a:bodyPr>
          <a:lstStyle>
            <a:lvl1pPr>
              <a:defRPr sz="600" baseline="0"/>
            </a:lvl1pPr>
          </a:lstStyle>
          <a:p>
            <a:r>
              <a:rPr lang="en-GB"/>
              <a:t>Click icon to add picture</a:t>
            </a:r>
            <a:endParaRPr lang="en-BE"/>
          </a:p>
        </p:txBody>
      </p:sp>
      <p:sp>
        <p:nvSpPr>
          <p:cNvPr id="25" name="Text Placeholder 15">
            <a:extLst>
              <a:ext uri="{FF2B5EF4-FFF2-40B4-BE49-F238E27FC236}">
                <a16:creationId xmlns:a16="http://schemas.microsoft.com/office/drawing/2014/main" id="{07A2FB37-D7D0-D120-A655-7C75B68BBD64}"/>
              </a:ext>
            </a:extLst>
          </p:cNvPr>
          <p:cNvSpPr>
            <a:spLocks noGrp="1"/>
          </p:cNvSpPr>
          <p:nvPr>
            <p:ph type="body" sz="quarter" idx="26"/>
          </p:nvPr>
        </p:nvSpPr>
        <p:spPr>
          <a:xfrm>
            <a:off x="9341671" y="3440016"/>
            <a:ext cx="2652130" cy="360000"/>
          </a:xfrm>
          <a:prstGeom prst="rect">
            <a:avLst/>
          </a:prstGeom>
        </p:spPr>
        <p:txBody>
          <a:bodyPr>
            <a:normAutofit/>
          </a:bodyPr>
          <a:lstStyle>
            <a:lvl1pPr marL="0" indent="0">
              <a:lnSpc>
                <a:spcPct val="100000"/>
              </a:lnSpc>
              <a:spcBef>
                <a:spcPts val="0"/>
              </a:spcBef>
              <a:buNone/>
              <a:defRPr sz="1700" b="0" i="0" baseline="0">
                <a:solidFill>
                  <a:schemeClr val="bg1"/>
                </a:solidFill>
                <a:latin typeface="UGent Panno Text" panose="02000506040000040003" pitchFamily="2" charset="0"/>
              </a:defRPr>
            </a:lvl1pPr>
          </a:lstStyle>
          <a:p>
            <a:pPr lvl="0"/>
            <a:r>
              <a:rPr lang="en-GB"/>
              <a:t>Click to edit Master text styles</a:t>
            </a:r>
          </a:p>
        </p:txBody>
      </p:sp>
      <p:sp>
        <p:nvSpPr>
          <p:cNvPr id="26" name="Picture Placeholder 14">
            <a:extLst>
              <a:ext uri="{FF2B5EF4-FFF2-40B4-BE49-F238E27FC236}">
                <a16:creationId xmlns:a16="http://schemas.microsoft.com/office/drawing/2014/main" id="{03C7886B-E8EB-BF9C-5EAB-500C666EA069}"/>
              </a:ext>
            </a:extLst>
          </p:cNvPr>
          <p:cNvSpPr>
            <a:spLocks noGrp="1"/>
          </p:cNvSpPr>
          <p:nvPr>
            <p:ph type="pic" sz="quarter" idx="27"/>
          </p:nvPr>
        </p:nvSpPr>
        <p:spPr>
          <a:xfrm>
            <a:off x="8903448" y="3440016"/>
            <a:ext cx="360000" cy="360000"/>
          </a:xfrm>
        </p:spPr>
        <p:txBody>
          <a:bodyPr>
            <a:normAutofit/>
          </a:bodyPr>
          <a:lstStyle>
            <a:lvl1pPr>
              <a:defRPr sz="600" baseline="0"/>
            </a:lvl1pPr>
          </a:lstStyle>
          <a:p>
            <a:r>
              <a:rPr lang="en-GB"/>
              <a:t>Click icon to add picture</a:t>
            </a:r>
            <a:endParaRPr lang="en-BE"/>
          </a:p>
        </p:txBody>
      </p:sp>
      <p:sp>
        <p:nvSpPr>
          <p:cNvPr id="27" name="Text Placeholder 15">
            <a:extLst>
              <a:ext uri="{FF2B5EF4-FFF2-40B4-BE49-F238E27FC236}">
                <a16:creationId xmlns:a16="http://schemas.microsoft.com/office/drawing/2014/main" id="{58188310-B4F5-84E8-1582-FA7CC5C711E2}"/>
              </a:ext>
            </a:extLst>
          </p:cNvPr>
          <p:cNvSpPr>
            <a:spLocks noGrp="1"/>
          </p:cNvSpPr>
          <p:nvPr>
            <p:ph type="body" sz="quarter" idx="28"/>
          </p:nvPr>
        </p:nvSpPr>
        <p:spPr>
          <a:xfrm>
            <a:off x="9341671" y="3873854"/>
            <a:ext cx="2652130" cy="360000"/>
          </a:xfrm>
          <a:prstGeom prst="rect">
            <a:avLst/>
          </a:prstGeom>
        </p:spPr>
        <p:txBody>
          <a:bodyPr>
            <a:normAutofit/>
          </a:bodyPr>
          <a:lstStyle>
            <a:lvl1pPr marL="0" indent="0">
              <a:lnSpc>
                <a:spcPct val="100000"/>
              </a:lnSpc>
              <a:spcBef>
                <a:spcPts val="0"/>
              </a:spcBef>
              <a:buNone/>
              <a:defRPr sz="1700" b="0" i="0" baseline="0">
                <a:solidFill>
                  <a:schemeClr val="bg1"/>
                </a:solidFill>
                <a:latin typeface="UGent Panno Text" panose="02000506040000040003" pitchFamily="2" charset="0"/>
              </a:defRPr>
            </a:lvl1pPr>
          </a:lstStyle>
          <a:p>
            <a:pPr lvl="0"/>
            <a:r>
              <a:rPr lang="en-GB"/>
              <a:t>Click to edit Master text styles</a:t>
            </a:r>
          </a:p>
        </p:txBody>
      </p:sp>
      <p:sp>
        <p:nvSpPr>
          <p:cNvPr id="28" name="Picture Placeholder 14">
            <a:extLst>
              <a:ext uri="{FF2B5EF4-FFF2-40B4-BE49-F238E27FC236}">
                <a16:creationId xmlns:a16="http://schemas.microsoft.com/office/drawing/2014/main" id="{D6AAACB1-04C7-44D6-2E19-7196D2FAE160}"/>
              </a:ext>
            </a:extLst>
          </p:cNvPr>
          <p:cNvSpPr>
            <a:spLocks noGrp="1"/>
          </p:cNvSpPr>
          <p:nvPr>
            <p:ph type="pic" sz="quarter" idx="29"/>
          </p:nvPr>
        </p:nvSpPr>
        <p:spPr>
          <a:xfrm>
            <a:off x="8903448" y="3873854"/>
            <a:ext cx="360000" cy="360000"/>
          </a:xfrm>
        </p:spPr>
        <p:txBody>
          <a:bodyPr>
            <a:normAutofit/>
          </a:bodyPr>
          <a:lstStyle>
            <a:lvl1pPr>
              <a:defRPr sz="600" baseline="0"/>
            </a:lvl1pPr>
          </a:lstStyle>
          <a:p>
            <a:r>
              <a:rPr lang="en-GB"/>
              <a:t>Click icon to add picture</a:t>
            </a:r>
            <a:endParaRPr lang="en-BE"/>
          </a:p>
        </p:txBody>
      </p:sp>
      <p:sp>
        <p:nvSpPr>
          <p:cNvPr id="29" name="Text Placeholder 15">
            <a:extLst>
              <a:ext uri="{FF2B5EF4-FFF2-40B4-BE49-F238E27FC236}">
                <a16:creationId xmlns:a16="http://schemas.microsoft.com/office/drawing/2014/main" id="{66746C4A-1A2B-73F9-2735-FCADDF6790B5}"/>
              </a:ext>
            </a:extLst>
          </p:cNvPr>
          <p:cNvSpPr>
            <a:spLocks noGrp="1"/>
          </p:cNvSpPr>
          <p:nvPr>
            <p:ph type="body" sz="quarter" idx="30"/>
          </p:nvPr>
        </p:nvSpPr>
        <p:spPr>
          <a:xfrm>
            <a:off x="9341671" y="4307692"/>
            <a:ext cx="2652130" cy="360000"/>
          </a:xfrm>
          <a:prstGeom prst="rect">
            <a:avLst/>
          </a:prstGeom>
        </p:spPr>
        <p:txBody>
          <a:bodyPr>
            <a:normAutofit/>
          </a:bodyPr>
          <a:lstStyle>
            <a:lvl1pPr marL="0" indent="0">
              <a:lnSpc>
                <a:spcPct val="100000"/>
              </a:lnSpc>
              <a:spcBef>
                <a:spcPts val="0"/>
              </a:spcBef>
              <a:buNone/>
              <a:defRPr sz="1700" b="0" i="0" baseline="0">
                <a:solidFill>
                  <a:schemeClr val="bg1"/>
                </a:solidFill>
                <a:latin typeface="UGent Panno Text" panose="02000506040000040003" pitchFamily="2" charset="0"/>
              </a:defRPr>
            </a:lvl1pPr>
          </a:lstStyle>
          <a:p>
            <a:pPr lvl="0"/>
            <a:r>
              <a:rPr lang="en-GB"/>
              <a:t>Click to edit Master text styles</a:t>
            </a:r>
          </a:p>
        </p:txBody>
      </p:sp>
      <p:sp>
        <p:nvSpPr>
          <p:cNvPr id="30" name="Picture Placeholder 14">
            <a:extLst>
              <a:ext uri="{FF2B5EF4-FFF2-40B4-BE49-F238E27FC236}">
                <a16:creationId xmlns:a16="http://schemas.microsoft.com/office/drawing/2014/main" id="{680C7AB2-4763-95A8-4FA3-AE9A97C677E3}"/>
              </a:ext>
            </a:extLst>
          </p:cNvPr>
          <p:cNvSpPr>
            <a:spLocks noGrp="1"/>
          </p:cNvSpPr>
          <p:nvPr>
            <p:ph type="pic" sz="quarter" idx="31"/>
          </p:nvPr>
        </p:nvSpPr>
        <p:spPr>
          <a:xfrm>
            <a:off x="8903448" y="4307692"/>
            <a:ext cx="360000" cy="360000"/>
          </a:xfrm>
        </p:spPr>
        <p:txBody>
          <a:bodyPr>
            <a:normAutofit/>
          </a:bodyPr>
          <a:lstStyle>
            <a:lvl1pPr>
              <a:defRPr sz="600" baseline="0"/>
            </a:lvl1pPr>
          </a:lstStyle>
          <a:p>
            <a:r>
              <a:rPr lang="en-GB"/>
              <a:t>Click icon to add picture</a:t>
            </a:r>
            <a:endParaRPr lang="en-BE"/>
          </a:p>
        </p:txBody>
      </p:sp>
      <p:sp>
        <p:nvSpPr>
          <p:cNvPr id="31" name="Text Placeholder 15">
            <a:extLst>
              <a:ext uri="{FF2B5EF4-FFF2-40B4-BE49-F238E27FC236}">
                <a16:creationId xmlns:a16="http://schemas.microsoft.com/office/drawing/2014/main" id="{FDB81306-A097-1971-ACA8-4EBE7A81B910}"/>
              </a:ext>
            </a:extLst>
          </p:cNvPr>
          <p:cNvSpPr>
            <a:spLocks noGrp="1"/>
          </p:cNvSpPr>
          <p:nvPr>
            <p:ph type="body" sz="quarter" idx="32"/>
          </p:nvPr>
        </p:nvSpPr>
        <p:spPr>
          <a:xfrm>
            <a:off x="8903448" y="4971369"/>
            <a:ext cx="2652130" cy="360000"/>
          </a:xfrm>
          <a:prstGeom prst="rect">
            <a:avLst/>
          </a:prstGeom>
        </p:spPr>
        <p:txBody>
          <a:bodyPr lIns="0">
            <a:noAutofit/>
          </a:bodyPr>
          <a:lstStyle>
            <a:lvl1pPr marL="0" indent="0">
              <a:lnSpc>
                <a:spcPct val="100000"/>
              </a:lnSpc>
              <a:spcBef>
                <a:spcPts val="0"/>
              </a:spcBef>
              <a:buNone/>
              <a:defRPr sz="2400" b="0" i="0" baseline="0">
                <a:solidFill>
                  <a:schemeClr val="bg1"/>
                </a:solidFill>
                <a:latin typeface="UGent Panno Text" panose="02000506040000040003" pitchFamily="2" charset="0"/>
              </a:defRPr>
            </a:lvl1pPr>
          </a:lstStyle>
          <a:p>
            <a:pPr lvl="0"/>
            <a:r>
              <a:rPr lang="en-GB"/>
              <a:t>Click to edit Master text styles</a:t>
            </a:r>
          </a:p>
        </p:txBody>
      </p:sp>
      <p:pic>
        <p:nvPicPr>
          <p:cNvPr id="5" name="Afbeelding 17">
            <a:extLst>
              <a:ext uri="{FF2B5EF4-FFF2-40B4-BE49-F238E27FC236}">
                <a16:creationId xmlns:a16="http://schemas.microsoft.com/office/drawing/2014/main" id="{1268C458-54E6-556D-8781-D86A10F2D6A2}"/>
              </a:ext>
            </a:extLst>
          </p:cNvPr>
          <p:cNvPicPr>
            <a:picLocks noChangeAspect="1"/>
          </p:cNvPicPr>
          <p:nvPr userDrawn="1"/>
        </p:nvPicPr>
        <p:blipFill>
          <a:blip r:embed="rId3"/>
          <a:srcRect/>
          <a:stretch/>
        </p:blipFill>
        <p:spPr>
          <a:xfrm>
            <a:off x="-3506" y="-39239"/>
            <a:ext cx="3126706" cy="1042236"/>
          </a:xfrm>
          <a:prstGeom prst="rect">
            <a:avLst/>
          </a:prstGeom>
        </p:spPr>
      </p:pic>
    </p:spTree>
    <p:extLst>
      <p:ext uri="{BB962C8B-B14F-4D97-AF65-F5344CB8AC3E}">
        <p14:creationId xmlns:p14="http://schemas.microsoft.com/office/powerpoint/2010/main" val="694109209"/>
      </p:ext>
    </p:extLst>
  </p:cSld>
  <p:clrMapOvr>
    <a:masterClrMapping/>
  </p:clrMapOvr>
  <p:extLst>
    <p:ext uri="{DCECCB84-F9BA-43D5-87BE-67443E8EF086}">
      <p15:sldGuideLst xmlns:p15="http://schemas.microsoft.com/office/powerpoint/2012/main">
        <p15:guide id="2" pos="3840">
          <p15:clr>
            <a:srgbClr val="FBAE40"/>
          </p15:clr>
        </p15:guide>
        <p15:guide id="3" pos="21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064DE9-30A2-2B74-537F-01BD484D90F8}"/>
              </a:ext>
            </a:extLst>
          </p:cNvPr>
          <p:cNvPicPr>
            <a:picLocks noChangeAspect="1"/>
          </p:cNvPicPr>
          <p:nvPr userDrawn="1"/>
        </p:nvPicPr>
        <p:blipFill>
          <a:blip r:embed="rId12"/>
          <a:srcRect/>
          <a:stretch/>
        </p:blipFill>
        <p:spPr>
          <a:xfrm>
            <a:off x="43815" y="5632331"/>
            <a:ext cx="1531620" cy="1225554"/>
          </a:xfrm>
          <a:prstGeom prst="rect">
            <a:avLst/>
          </a:prstGeom>
        </p:spPr>
      </p:pic>
      <p:sp>
        <p:nvSpPr>
          <p:cNvPr id="18" name="Footer Placeholder 17">
            <a:extLst>
              <a:ext uri="{FF2B5EF4-FFF2-40B4-BE49-F238E27FC236}">
                <a16:creationId xmlns:a16="http://schemas.microsoft.com/office/drawing/2014/main" id="{854843F8-C4AC-387E-D09E-8057C939F3CE}"/>
              </a:ext>
            </a:extLst>
          </p:cNvPr>
          <p:cNvSpPr>
            <a:spLocks noGrp="1"/>
          </p:cNvSpPr>
          <p:nvPr>
            <p:ph type="ftr" sz="quarter" idx="3"/>
          </p:nvPr>
        </p:nvSpPr>
        <p:spPr>
          <a:xfrm>
            <a:off x="4856085" y="6356350"/>
            <a:ext cx="4864963" cy="365125"/>
          </a:xfrm>
          <a:prstGeom prst="rect">
            <a:avLst/>
          </a:prstGeom>
        </p:spPr>
        <p:txBody>
          <a:bodyPr vert="horz" lIns="91440" tIns="45720" rIns="91440" bIns="45720" rtlCol="0" anchor="ctr"/>
          <a:lstStyle>
            <a:lvl1pPr algn="ctr">
              <a:defRPr sz="1200">
                <a:solidFill>
                  <a:schemeClr val="tx1">
                    <a:tint val="75000"/>
                  </a:schemeClr>
                </a:solidFill>
                <a:latin typeface="UGent Panno Text" panose="02000506040000040003" pitchFamily="2" charset="0"/>
              </a:defRPr>
            </a:lvl1pPr>
          </a:lstStyle>
          <a:p>
            <a:endParaRPr lang="en-BE"/>
          </a:p>
        </p:txBody>
      </p:sp>
      <p:sp>
        <p:nvSpPr>
          <p:cNvPr id="20" name="Slide Number Placeholder 19">
            <a:extLst>
              <a:ext uri="{FF2B5EF4-FFF2-40B4-BE49-F238E27FC236}">
                <a16:creationId xmlns:a16="http://schemas.microsoft.com/office/drawing/2014/main" id="{9057CCB8-6D9D-26CA-514D-DC21CF29C2AE}"/>
              </a:ext>
            </a:extLst>
          </p:cNvPr>
          <p:cNvSpPr>
            <a:spLocks noGrp="1"/>
          </p:cNvSpPr>
          <p:nvPr>
            <p:ph type="sldNum" sz="quarter" idx="4"/>
          </p:nvPr>
        </p:nvSpPr>
        <p:spPr>
          <a:xfrm>
            <a:off x="9969622" y="6356350"/>
            <a:ext cx="1384177" cy="365125"/>
          </a:xfrm>
          <a:prstGeom prst="rect">
            <a:avLst/>
          </a:prstGeom>
        </p:spPr>
        <p:txBody>
          <a:bodyPr vert="horz" lIns="91440" tIns="45720" rIns="91440" bIns="45720" rtlCol="0" anchor="ctr"/>
          <a:lstStyle>
            <a:lvl1pPr algn="r">
              <a:defRPr sz="1200">
                <a:solidFill>
                  <a:schemeClr val="tx1">
                    <a:tint val="75000"/>
                  </a:schemeClr>
                </a:solidFill>
                <a:latin typeface="UGent Panno Text" panose="02000506040000040003" pitchFamily="2" charset="0"/>
              </a:defRPr>
            </a:lvl1pPr>
          </a:lstStyle>
          <a:p>
            <a:fld id="{3C1D3A25-F5F4-AF4A-8239-A533218656DA}" type="slidenum">
              <a:rPr lang="en-BE"/>
              <a:pPr/>
              <a:t>‹#›</a:t>
            </a:fld>
            <a:endParaRPr lang="en-BE"/>
          </a:p>
        </p:txBody>
      </p:sp>
      <p:sp>
        <p:nvSpPr>
          <p:cNvPr id="21" name="Date Placeholder 20">
            <a:extLst>
              <a:ext uri="{FF2B5EF4-FFF2-40B4-BE49-F238E27FC236}">
                <a16:creationId xmlns:a16="http://schemas.microsoft.com/office/drawing/2014/main" id="{9ACE937C-4427-1E12-DDEC-0A500F85C894}"/>
              </a:ext>
            </a:extLst>
          </p:cNvPr>
          <p:cNvSpPr>
            <a:spLocks noGrp="1"/>
          </p:cNvSpPr>
          <p:nvPr>
            <p:ph type="dt" sz="half" idx="2"/>
          </p:nvPr>
        </p:nvSpPr>
        <p:spPr>
          <a:xfrm>
            <a:off x="1669002" y="6356350"/>
            <a:ext cx="2938508" cy="365125"/>
          </a:xfrm>
          <a:prstGeom prst="rect">
            <a:avLst/>
          </a:prstGeom>
        </p:spPr>
        <p:txBody>
          <a:bodyPr vert="horz" lIns="91440" tIns="45720" rIns="91440" bIns="45720" rtlCol="0" anchor="ctr"/>
          <a:lstStyle>
            <a:lvl1pPr algn="l">
              <a:defRPr sz="1200">
                <a:solidFill>
                  <a:schemeClr val="tx1">
                    <a:tint val="75000"/>
                  </a:schemeClr>
                </a:solidFill>
                <a:latin typeface="UGent Panno Text" panose="02000506040000040003" pitchFamily="2" charset="0"/>
              </a:defRPr>
            </a:lvl1pPr>
          </a:lstStyle>
          <a:p>
            <a:fld id="{3257FDC4-781E-E84B-ACE4-EF1686371FEC}" type="datetimeFigureOut">
              <a:rPr lang="en-BE"/>
              <a:pPr/>
              <a:t>01/05/2026</a:t>
            </a:fld>
            <a:endParaRPr lang="en-BE"/>
          </a:p>
        </p:txBody>
      </p:sp>
      <p:sp>
        <p:nvSpPr>
          <p:cNvPr id="24" name="Title Placeholder 16">
            <a:extLst>
              <a:ext uri="{FF2B5EF4-FFF2-40B4-BE49-F238E27FC236}">
                <a16:creationId xmlns:a16="http://schemas.microsoft.com/office/drawing/2014/main" id="{7BD70135-BFF5-C1D3-7EAF-CD09E5AA0EAB}"/>
              </a:ext>
            </a:extLst>
          </p:cNvPr>
          <p:cNvSpPr>
            <a:spLocks noGrp="1"/>
          </p:cNvSpPr>
          <p:nvPr>
            <p:ph type="title"/>
          </p:nvPr>
        </p:nvSpPr>
        <p:spPr>
          <a:xfrm>
            <a:off x="542609" y="365126"/>
            <a:ext cx="10811191" cy="779462"/>
          </a:xfrm>
          <a:prstGeom prst="rect">
            <a:avLst/>
          </a:prstGeom>
        </p:spPr>
        <p:txBody>
          <a:bodyPr vert="horz" lIns="91440" tIns="45720" rIns="91440" bIns="45720" rtlCol="0" anchor="ctr">
            <a:normAutofit/>
          </a:bodyPr>
          <a:lstStyle/>
          <a:p>
            <a:r>
              <a:rPr lang="nl-NL" dirty="0"/>
              <a:t>Klik om stijl te bewerken</a:t>
            </a:r>
            <a:endParaRPr lang="en-BE" dirty="0"/>
          </a:p>
        </p:txBody>
      </p:sp>
      <p:sp>
        <p:nvSpPr>
          <p:cNvPr id="25" name="Text Placeholder 18">
            <a:extLst>
              <a:ext uri="{FF2B5EF4-FFF2-40B4-BE49-F238E27FC236}">
                <a16:creationId xmlns:a16="http://schemas.microsoft.com/office/drawing/2014/main" id="{79072CE6-E1B8-1EA7-B3C8-10C89DDC5E92}"/>
              </a:ext>
            </a:extLst>
          </p:cNvPr>
          <p:cNvSpPr>
            <a:spLocks noGrp="1"/>
          </p:cNvSpPr>
          <p:nvPr>
            <p:ph type="body" idx="1"/>
          </p:nvPr>
        </p:nvSpPr>
        <p:spPr>
          <a:xfrm>
            <a:off x="542609" y="1825625"/>
            <a:ext cx="10811191"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BE"/>
          </a:p>
        </p:txBody>
      </p:sp>
    </p:spTree>
    <p:extLst>
      <p:ext uri="{BB962C8B-B14F-4D97-AF65-F5344CB8AC3E}">
        <p14:creationId xmlns:p14="http://schemas.microsoft.com/office/powerpoint/2010/main" val="185193393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61" r:id="rId4"/>
    <p:sldLayoutId id="2147483663" r:id="rId5"/>
    <p:sldLayoutId id="2147483662" r:id="rId6"/>
    <p:sldLayoutId id="2147483668" r:id="rId7"/>
    <p:sldLayoutId id="2147483654" r:id="rId8"/>
    <p:sldLayoutId id="2147483666" r:id="rId9"/>
    <p:sldLayoutId id="2147483667" r:id="rId10"/>
  </p:sldLayoutIdLst>
  <p:txStyles>
    <p:titleStyle>
      <a:lvl1pPr marL="0" marR="0" indent="0" algn="l" defTabSz="914400" rtl="0" eaLnBrk="1" fontAlgn="auto" latinLnBrk="0" hangingPunct="1">
        <a:lnSpc>
          <a:spcPct val="100000"/>
        </a:lnSpc>
        <a:spcBef>
          <a:spcPts val="0"/>
        </a:spcBef>
        <a:spcAft>
          <a:spcPts val="0"/>
        </a:spcAft>
        <a:buClrTx/>
        <a:buSzTx/>
        <a:buFontTx/>
        <a:buNone/>
        <a:tabLst/>
        <a:defRPr sz="4400" b="0" i="0" kern="1200" cap="none" baseline="0">
          <a:solidFill>
            <a:srgbClr val="1E64C8"/>
          </a:solidFill>
          <a:latin typeface="UGent Panno Text Medium" panose="02000506040000040003"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UGent Panno Text" panose="02000506040000040003" pitchFamily="2" charset="0"/>
          <a:ea typeface="+mn-ea"/>
          <a:cs typeface="+mn-cs"/>
        </a:defRPr>
      </a:lvl1pPr>
      <a:lvl2pPr marL="685800" indent="-228600" algn="l" defTabSz="914400" rtl="0" eaLnBrk="1" latinLnBrk="0" hangingPunct="1">
        <a:lnSpc>
          <a:spcPct val="90000"/>
        </a:lnSpc>
        <a:spcBef>
          <a:spcPts val="500"/>
        </a:spcBef>
        <a:buClr>
          <a:srgbClr val="1E64C8"/>
        </a:buClr>
        <a:buFont typeface="Arial" panose="020B0604020202020204" pitchFamily="34" charset="0"/>
        <a:buChar char="•"/>
        <a:defRPr sz="2400" kern="1200">
          <a:solidFill>
            <a:schemeClr val="tx1"/>
          </a:solidFill>
          <a:latin typeface="UGent Panno Text" panose="02000506040000040003" pitchFamily="2" charset="0"/>
          <a:ea typeface="+mn-ea"/>
          <a:cs typeface="+mn-cs"/>
        </a:defRPr>
      </a:lvl2pPr>
      <a:lvl3pPr marL="1143000" indent="-228600" algn="l" defTabSz="914400" rtl="0" eaLnBrk="1" latinLnBrk="0" hangingPunct="1">
        <a:lnSpc>
          <a:spcPct val="90000"/>
        </a:lnSpc>
        <a:spcBef>
          <a:spcPts val="500"/>
        </a:spcBef>
        <a:buClr>
          <a:srgbClr val="1E64C8"/>
        </a:buClr>
        <a:buFont typeface="Arial" panose="020B0604020202020204" pitchFamily="34" charset="0"/>
        <a:buChar char="•"/>
        <a:defRPr sz="2000" kern="1200">
          <a:solidFill>
            <a:schemeClr val="tx1"/>
          </a:solidFill>
          <a:latin typeface="UGent Panno Text" panose="02000506040000040003" pitchFamily="2" charset="0"/>
          <a:ea typeface="+mn-ea"/>
          <a:cs typeface="+mn-cs"/>
        </a:defRPr>
      </a:lvl3pPr>
      <a:lvl4pPr marL="16002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a:solidFill>
            <a:schemeClr val="tx1"/>
          </a:solidFill>
          <a:latin typeface="UGent Panno Text" panose="02000506040000040003" pitchFamily="2" charset="0"/>
          <a:ea typeface="+mn-ea"/>
          <a:cs typeface="+mn-cs"/>
        </a:defRPr>
      </a:lvl4pPr>
      <a:lvl5pPr marL="20574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a:solidFill>
            <a:schemeClr val="tx1"/>
          </a:solidFill>
          <a:latin typeface="UGent Panno Text" panose="0200050604000004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10.png"/><Relationship Id="rId7" Type="http://schemas.openxmlformats.org/officeDocument/2006/relationships/image" Target="../media/image11.png"/><Relationship Id="rId2" Type="http://schemas.openxmlformats.org/officeDocument/2006/relationships/image" Target="../media/image610.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10.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1.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10.png"/><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33.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8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40.png"/><Relationship Id="rId1" Type="http://schemas.openxmlformats.org/officeDocument/2006/relationships/slideLayout" Target="../slideLayouts/slideLayout3.xml"/><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xml"/><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540.png"/><Relationship Id="rId1" Type="http://schemas.openxmlformats.org/officeDocument/2006/relationships/slideLayout" Target="../slideLayouts/slideLayout3.xml"/><Relationship Id="rId5" Type="http://schemas.openxmlformats.org/officeDocument/2006/relationships/image" Target="../media/image75.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40.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2.png"/><Relationship Id="rId4" Type="http://schemas.openxmlformats.org/officeDocument/2006/relationships/image" Target="../media/image81.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xml"/><Relationship Id="rId4" Type="http://schemas.openxmlformats.org/officeDocument/2006/relationships/image" Target="../media/image89.png"/></Relationships>
</file>

<file path=ppt/slides/_rels/slide4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4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00.png"/><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8" Type="http://schemas.openxmlformats.org/officeDocument/2006/relationships/hyperlink" Target="https://www.linkedin.com/school/ghent-university" TargetMode="External"/><Relationship Id="rId3" Type="http://schemas.openxmlformats.org/officeDocument/2006/relationships/image" Target="../media/image101.svg"/><Relationship Id="rId7" Type="http://schemas.openxmlformats.org/officeDocument/2006/relationships/image" Target="../media/image103.svg"/><Relationship Id="rId12" Type="http://schemas.openxmlformats.org/officeDocument/2006/relationships/hyperlink" Target="http://www.ugent.be/" TargetMode="External"/><Relationship Id="rId2" Type="http://schemas.openxmlformats.org/officeDocument/2006/relationships/hyperlink" Target="https://www.facebook.com/ugent/" TargetMode="External"/><Relationship Id="rId1" Type="http://schemas.openxmlformats.org/officeDocument/2006/relationships/slideLayout" Target="../slideLayouts/slideLayout10.xml"/><Relationship Id="rId6" Type="http://schemas.openxmlformats.org/officeDocument/2006/relationships/hyperlink" Target="https://www.instagram.com/ugent/" TargetMode="External"/><Relationship Id="rId11" Type="http://schemas.openxmlformats.org/officeDocument/2006/relationships/image" Target="../media/image105.svg"/><Relationship Id="rId5" Type="http://schemas.openxmlformats.org/officeDocument/2006/relationships/image" Target="../media/image102.svg"/><Relationship Id="rId10" Type="http://schemas.openxmlformats.org/officeDocument/2006/relationships/hyperlink" Target="http://www.youtube.com/user/UniversiteitGent" TargetMode="External"/><Relationship Id="rId4" Type="http://schemas.openxmlformats.org/officeDocument/2006/relationships/hyperlink" Target="https://www.twitter.com/ugent" TargetMode="External"/><Relationship Id="rId9" Type="http://schemas.openxmlformats.org/officeDocument/2006/relationships/image" Target="../media/image10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24E2-8742-78CB-C3F1-07D657E943F7}"/>
            </a:ext>
          </a:extLst>
        </p:cNvPr>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5B669136-86AD-0159-82AA-14CEB0334C84}"/>
              </a:ext>
            </a:extLst>
          </p:cNvPr>
          <p:cNvSpPr>
            <a:spLocks noGrp="1"/>
          </p:cNvSpPr>
          <p:nvPr>
            <p:ph type="pic" sz="quarter" idx="10"/>
          </p:nvPr>
        </p:nvSpPr>
        <p:spPr/>
        <p:txBody>
          <a:bodyPr/>
          <a:lstStyle/>
          <a:p>
            <a:endParaRPr lang="en-GB"/>
          </a:p>
        </p:txBody>
      </p:sp>
      <p:sp>
        <p:nvSpPr>
          <p:cNvPr id="22" name="Text Placeholder 21">
            <a:extLst>
              <a:ext uri="{FF2B5EF4-FFF2-40B4-BE49-F238E27FC236}">
                <a16:creationId xmlns:a16="http://schemas.microsoft.com/office/drawing/2014/main" id="{AFCF8F4B-3FCA-EE96-54D7-DB166294F447}"/>
              </a:ext>
            </a:extLst>
          </p:cNvPr>
          <p:cNvSpPr>
            <a:spLocks noGrp="1"/>
          </p:cNvSpPr>
          <p:nvPr>
            <p:ph type="body" sz="quarter" idx="12"/>
          </p:nvPr>
        </p:nvSpPr>
        <p:spPr/>
        <p:txBody>
          <a:bodyPr>
            <a:normAutofit fontScale="85000" lnSpcReduction="20000"/>
          </a:bodyPr>
          <a:lstStyle/>
          <a:p>
            <a:endParaRPr lang="en-BE"/>
          </a:p>
        </p:txBody>
      </p:sp>
      <p:sp>
        <p:nvSpPr>
          <p:cNvPr id="23" name="Text Placeholder 22">
            <a:extLst>
              <a:ext uri="{FF2B5EF4-FFF2-40B4-BE49-F238E27FC236}">
                <a16:creationId xmlns:a16="http://schemas.microsoft.com/office/drawing/2014/main" id="{EB32D74B-39BA-87B2-5CB1-967A962649E4}"/>
              </a:ext>
            </a:extLst>
          </p:cNvPr>
          <p:cNvSpPr>
            <a:spLocks noGrp="1"/>
          </p:cNvSpPr>
          <p:nvPr>
            <p:ph type="body" sz="quarter" idx="13"/>
          </p:nvPr>
        </p:nvSpPr>
        <p:spPr/>
        <p:txBody>
          <a:bodyPr>
            <a:normAutofit fontScale="85000" lnSpcReduction="20000"/>
          </a:bodyPr>
          <a:lstStyle/>
          <a:p>
            <a:endParaRPr lang="en-BE"/>
          </a:p>
        </p:txBody>
      </p:sp>
      <p:sp>
        <p:nvSpPr>
          <p:cNvPr id="24" name="Text Placeholder 23">
            <a:extLst>
              <a:ext uri="{FF2B5EF4-FFF2-40B4-BE49-F238E27FC236}">
                <a16:creationId xmlns:a16="http://schemas.microsoft.com/office/drawing/2014/main" id="{7107B840-194D-F887-2C2F-46798E086363}"/>
              </a:ext>
            </a:extLst>
          </p:cNvPr>
          <p:cNvSpPr>
            <a:spLocks noGrp="1"/>
          </p:cNvSpPr>
          <p:nvPr>
            <p:ph type="body" sz="quarter" idx="14"/>
          </p:nvPr>
        </p:nvSpPr>
        <p:spPr/>
        <p:txBody>
          <a:bodyPr/>
          <a:lstStyle/>
          <a:p>
            <a:endParaRPr lang="en-BE" dirty="0"/>
          </a:p>
        </p:txBody>
      </p:sp>
      <p:sp>
        <p:nvSpPr>
          <p:cNvPr id="26" name="Picture Placeholder 25">
            <a:extLst>
              <a:ext uri="{FF2B5EF4-FFF2-40B4-BE49-F238E27FC236}">
                <a16:creationId xmlns:a16="http://schemas.microsoft.com/office/drawing/2014/main" id="{04F0712C-4B59-D2D7-57E0-99420852AD40}"/>
              </a:ext>
            </a:extLst>
          </p:cNvPr>
          <p:cNvSpPr>
            <a:spLocks noGrp="1"/>
          </p:cNvSpPr>
          <p:nvPr>
            <p:ph type="pic" sz="quarter" idx="16"/>
          </p:nvPr>
        </p:nvSpPr>
        <p:spPr/>
        <p:txBody>
          <a:bodyPr/>
          <a:lstStyle/>
          <a:p>
            <a:endParaRPr lang="en-GB" dirty="0"/>
          </a:p>
        </p:txBody>
      </p:sp>
      <p:sp>
        <p:nvSpPr>
          <p:cNvPr id="27" name="Picture Placeholder 26">
            <a:extLst>
              <a:ext uri="{FF2B5EF4-FFF2-40B4-BE49-F238E27FC236}">
                <a16:creationId xmlns:a16="http://schemas.microsoft.com/office/drawing/2014/main" id="{78CE30F3-7283-19D0-68BC-C9CAB7D002F2}"/>
              </a:ext>
            </a:extLst>
          </p:cNvPr>
          <p:cNvSpPr>
            <a:spLocks noGrp="1"/>
          </p:cNvSpPr>
          <p:nvPr>
            <p:ph type="pic" sz="quarter" idx="17"/>
          </p:nvPr>
        </p:nvSpPr>
        <p:spPr/>
        <p:txBody>
          <a:bodyPr/>
          <a:lstStyle/>
          <a:p>
            <a:endParaRPr lang="en-GB" dirty="0"/>
          </a:p>
        </p:txBody>
      </p:sp>
      <p:sp>
        <p:nvSpPr>
          <p:cNvPr id="28" name="Picture Placeholder 27">
            <a:extLst>
              <a:ext uri="{FF2B5EF4-FFF2-40B4-BE49-F238E27FC236}">
                <a16:creationId xmlns:a16="http://schemas.microsoft.com/office/drawing/2014/main" id="{B20C31CD-24C3-1A80-B208-50D8A84E129C}"/>
              </a:ext>
            </a:extLst>
          </p:cNvPr>
          <p:cNvSpPr>
            <a:spLocks noGrp="1"/>
          </p:cNvSpPr>
          <p:nvPr>
            <p:ph type="pic" sz="quarter" idx="18"/>
          </p:nvPr>
        </p:nvSpPr>
        <p:spPr/>
        <p:txBody>
          <a:bodyPr/>
          <a:lstStyle/>
          <a:p>
            <a:endParaRPr lang="en-GB"/>
          </a:p>
        </p:txBody>
      </p:sp>
      <p:sp>
        <p:nvSpPr>
          <p:cNvPr id="32" name="Text Placeholder 31">
            <a:extLst>
              <a:ext uri="{FF2B5EF4-FFF2-40B4-BE49-F238E27FC236}">
                <a16:creationId xmlns:a16="http://schemas.microsoft.com/office/drawing/2014/main" id="{8F1B66F1-03CB-96BE-2610-B5C1B12A39B5}"/>
              </a:ext>
            </a:extLst>
          </p:cNvPr>
          <p:cNvSpPr>
            <a:spLocks noGrp="1"/>
          </p:cNvSpPr>
          <p:nvPr>
            <p:ph type="body" sz="quarter" idx="11"/>
          </p:nvPr>
        </p:nvSpPr>
        <p:spPr/>
        <p:txBody>
          <a:bodyPr>
            <a:normAutofit fontScale="85000" lnSpcReduction="10000"/>
          </a:bodyPr>
          <a:lstStyle/>
          <a:p>
            <a:r>
              <a:rPr lang="en-BE" dirty="0"/>
              <a:t>MU-MIMO</a:t>
            </a:r>
          </a:p>
          <a:p>
            <a:r>
              <a:rPr lang="en-BE" dirty="0"/>
              <a:t>Precoding Techniques</a:t>
            </a:r>
          </a:p>
        </p:txBody>
      </p:sp>
      <p:sp>
        <p:nvSpPr>
          <p:cNvPr id="3" name="Picture Placeholder 24">
            <a:extLst>
              <a:ext uri="{FF2B5EF4-FFF2-40B4-BE49-F238E27FC236}">
                <a16:creationId xmlns:a16="http://schemas.microsoft.com/office/drawing/2014/main" id="{7CA3A590-0155-56E0-4F96-0AF193335EA2}"/>
              </a:ext>
            </a:extLst>
          </p:cNvPr>
          <p:cNvSpPr>
            <a:spLocks noGrp="1"/>
          </p:cNvSpPr>
          <p:nvPr>
            <p:ph type="pic" sz="quarter" idx="15"/>
          </p:nvPr>
        </p:nvSpPr>
        <p:spPr>
          <a:xfrm>
            <a:off x="1900555" y="5852592"/>
            <a:ext cx="1929765" cy="698896"/>
          </a:xfrm>
        </p:spPr>
        <p:txBody>
          <a:bodyPr/>
          <a:lstStyle/>
          <a:p>
            <a:endParaRPr lang="en-GB" dirty="0"/>
          </a:p>
        </p:txBody>
      </p:sp>
    </p:spTree>
    <p:extLst>
      <p:ext uri="{BB962C8B-B14F-4D97-AF65-F5344CB8AC3E}">
        <p14:creationId xmlns:p14="http://schemas.microsoft.com/office/powerpoint/2010/main" val="1355679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69CC61-0CDE-3E5B-272B-2DA17EC4BAE7}"/>
              </a:ext>
            </a:extLst>
          </p:cNvPr>
          <p:cNvSpPr>
            <a:spLocks noGrp="1"/>
          </p:cNvSpPr>
          <p:nvPr>
            <p:ph type="title"/>
          </p:nvPr>
        </p:nvSpPr>
        <p:spPr/>
        <p:txBody>
          <a:bodyPr>
            <a:normAutofit/>
          </a:bodyPr>
          <a:lstStyle/>
          <a:p>
            <a:r>
              <a:rPr lang="en-BE" dirty="0"/>
              <a:t>Introduction</a:t>
            </a:r>
          </a:p>
        </p:txBody>
      </p:sp>
      <p:pic>
        <p:nvPicPr>
          <p:cNvPr id="6" name="Picture 5" descr="A black background with a black square&#10;&#10;AI-generated content may be incorrect.">
            <a:extLst>
              <a:ext uri="{FF2B5EF4-FFF2-40B4-BE49-F238E27FC236}">
                <a16:creationId xmlns:a16="http://schemas.microsoft.com/office/drawing/2014/main" id="{DA387A2B-4315-07E5-C8CD-499A56915406}"/>
              </a:ext>
            </a:extLst>
          </p:cNvPr>
          <p:cNvPicPr>
            <a:picLocks noChangeAspect="1"/>
          </p:cNvPicPr>
          <p:nvPr/>
        </p:nvPicPr>
        <p:blipFill>
          <a:blip r:embed="rId2"/>
          <a:stretch>
            <a:fillRect/>
          </a:stretch>
        </p:blipFill>
        <p:spPr>
          <a:xfrm>
            <a:off x="2382668" y="912434"/>
            <a:ext cx="7426663" cy="5548656"/>
          </a:xfrm>
          <a:prstGeom prst="rect">
            <a:avLst/>
          </a:prstGeom>
        </p:spPr>
      </p:pic>
    </p:spTree>
    <p:extLst>
      <p:ext uri="{BB962C8B-B14F-4D97-AF65-F5344CB8AC3E}">
        <p14:creationId xmlns:p14="http://schemas.microsoft.com/office/powerpoint/2010/main" val="2362975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0BDD59-91C0-A918-0CC1-9FBA945DDC3D}"/>
              </a:ext>
            </a:extLst>
          </p:cNvPr>
          <p:cNvSpPr>
            <a:spLocks noGrp="1"/>
          </p:cNvSpPr>
          <p:nvPr>
            <p:ph type="title"/>
          </p:nvPr>
        </p:nvSpPr>
        <p:spPr/>
        <p:txBody>
          <a:bodyPr/>
          <a:lstStyle/>
          <a:p>
            <a:r>
              <a:rPr lang="en-BE" dirty="0"/>
              <a:t>System Model</a:t>
            </a:r>
          </a:p>
        </p:txBody>
      </p:sp>
      <p:pic>
        <p:nvPicPr>
          <p:cNvPr id="6" name="Picture 5">
            <a:extLst>
              <a:ext uri="{FF2B5EF4-FFF2-40B4-BE49-F238E27FC236}">
                <a16:creationId xmlns:a16="http://schemas.microsoft.com/office/drawing/2014/main" id="{A4203129-74C9-8861-3C7C-0ACDA4658BAF}"/>
              </a:ext>
            </a:extLst>
          </p:cNvPr>
          <p:cNvPicPr>
            <a:picLocks noChangeAspect="1"/>
          </p:cNvPicPr>
          <p:nvPr/>
        </p:nvPicPr>
        <p:blipFill>
          <a:blip r:embed="rId2"/>
          <a:stretch>
            <a:fillRect/>
          </a:stretch>
        </p:blipFill>
        <p:spPr>
          <a:xfrm>
            <a:off x="202573" y="1412409"/>
            <a:ext cx="5596850" cy="1428983"/>
          </a:xfrm>
          <a:prstGeom prst="rect">
            <a:avLst/>
          </a:prstGeom>
        </p:spPr>
      </p:pic>
      <p:pic>
        <p:nvPicPr>
          <p:cNvPr id="8" name="Picture 7">
            <a:extLst>
              <a:ext uri="{FF2B5EF4-FFF2-40B4-BE49-F238E27FC236}">
                <a16:creationId xmlns:a16="http://schemas.microsoft.com/office/drawing/2014/main" id="{A1CF4BE3-AF22-8B58-C851-2B3065895246}"/>
              </a:ext>
            </a:extLst>
          </p:cNvPr>
          <p:cNvPicPr>
            <a:picLocks noChangeAspect="1"/>
          </p:cNvPicPr>
          <p:nvPr/>
        </p:nvPicPr>
        <p:blipFill>
          <a:blip r:embed="rId3"/>
          <a:stretch>
            <a:fillRect/>
          </a:stretch>
        </p:blipFill>
        <p:spPr>
          <a:xfrm>
            <a:off x="2264247" y="3109150"/>
            <a:ext cx="6779250" cy="1434450"/>
          </a:xfrm>
          <a:prstGeom prst="rect">
            <a:avLst/>
          </a:prstGeom>
        </p:spPr>
      </p:pic>
      <p:pic>
        <p:nvPicPr>
          <p:cNvPr id="10" name="Picture 9">
            <a:extLst>
              <a:ext uri="{FF2B5EF4-FFF2-40B4-BE49-F238E27FC236}">
                <a16:creationId xmlns:a16="http://schemas.microsoft.com/office/drawing/2014/main" id="{A72D2E9A-47A2-E21C-E369-A1215D603850}"/>
              </a:ext>
            </a:extLst>
          </p:cNvPr>
          <p:cNvPicPr>
            <a:picLocks noChangeAspect="1"/>
          </p:cNvPicPr>
          <p:nvPr/>
        </p:nvPicPr>
        <p:blipFill>
          <a:blip r:embed="rId4"/>
          <a:stretch>
            <a:fillRect/>
          </a:stretch>
        </p:blipFill>
        <p:spPr>
          <a:xfrm>
            <a:off x="4337327" y="4916422"/>
            <a:ext cx="7613619" cy="1434450"/>
          </a:xfrm>
          <a:prstGeom prst="rect">
            <a:avLst/>
          </a:prstGeom>
        </p:spPr>
      </p:pic>
    </p:spTree>
    <p:extLst>
      <p:ext uri="{BB962C8B-B14F-4D97-AF65-F5344CB8AC3E}">
        <p14:creationId xmlns:p14="http://schemas.microsoft.com/office/powerpoint/2010/main" val="1085655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D055A5-F3E4-F026-81AD-3B147F1880F4}"/>
              </a:ext>
            </a:extLst>
          </p:cNvPr>
          <p:cNvSpPr>
            <a:spLocks noGrp="1"/>
          </p:cNvSpPr>
          <p:nvPr>
            <p:ph type="title"/>
          </p:nvPr>
        </p:nvSpPr>
        <p:spPr>
          <a:xfrm>
            <a:off x="542609" y="162221"/>
            <a:ext cx="10893422" cy="893656"/>
          </a:xfrm>
        </p:spPr>
        <p:txBody>
          <a:bodyPr/>
          <a:lstStyle/>
          <a:p>
            <a:r>
              <a:rPr lang="en-BE" dirty="0"/>
              <a:t>System Model</a:t>
            </a:r>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8FB2A0E4-A24D-C614-BC03-D9F99BFFA2CD}"/>
                  </a:ext>
                </a:extLst>
              </p:cNvPr>
              <p:cNvSpPr>
                <a:spLocks noGrp="1"/>
              </p:cNvSpPr>
              <p:nvPr>
                <p:ph idx="1"/>
              </p:nvPr>
            </p:nvSpPr>
            <p:spPr>
              <a:xfrm>
                <a:off x="542609" y="2621898"/>
                <a:ext cx="10605121" cy="487680"/>
              </a:xfrm>
            </p:spPr>
            <p:txBody>
              <a:bodyPr>
                <a:noAutofit/>
              </a:bodyPr>
              <a:lstStyle/>
              <a:p>
                <a:pPr marL="457200" indent="-457200">
                  <a:buFont typeface="Arial" panose="020B0604020202020204" pitchFamily="34" charset="0"/>
                  <a:buChar char="•"/>
                </a:pPr>
                <a:r>
                  <a:rPr lang="en-BE" sz="2600" dirty="0"/>
                  <a:t>The received signal </a:t>
                </a:r>
                <a14:m>
                  <m:oMath xmlns:m="http://schemas.openxmlformats.org/officeDocument/2006/math">
                    <m:sSub>
                      <m:sSubPr>
                        <m:ctrlPr>
                          <a:rPr lang="en-US" sz="2600" b="0" i="1" smtClean="0">
                            <a:latin typeface="Cambria Math" panose="02040503050406030204" pitchFamily="18" charset="0"/>
                          </a:rPr>
                        </m:ctrlPr>
                      </m:sSubPr>
                      <m:e>
                        <m:r>
                          <a:rPr lang="en-US" sz="2600" i="1">
                            <a:latin typeface="Cambria Math" panose="02040503050406030204" pitchFamily="18" charset="0"/>
                          </a:rPr>
                          <m:t>𝐲</m:t>
                        </m:r>
                      </m:e>
                      <m:sub>
                        <m:r>
                          <m:rPr>
                            <m:sty m:val="p"/>
                          </m:rPr>
                          <a:rPr lang="en-US" sz="2600" b="0" i="1" smtClean="0">
                            <a:latin typeface="Cambria Math" panose="02040503050406030204" pitchFamily="18" charset="0"/>
                          </a:rPr>
                          <m:t>k</m:t>
                        </m:r>
                      </m:sub>
                    </m:sSub>
                  </m:oMath>
                </a14:m>
                <a:r>
                  <a:rPr lang="en-BE" sz="2600" dirty="0"/>
                  <a:t>  at UT</a:t>
                </a:r>
                <a:r>
                  <a:rPr lang="en-BE" sz="2600" baseline="-25000" dirty="0"/>
                  <a:t>k</a:t>
                </a:r>
                <a:r>
                  <a:rPr lang="en-BE" sz="2600" dirty="0"/>
                  <a:t> can be written in terms of the transmitted signal </a:t>
                </a:r>
                <a14:m>
                  <m:oMath xmlns:m="http://schemas.openxmlformats.org/officeDocument/2006/math">
                    <m:r>
                      <a:rPr lang="en-US" sz="2600" b="0" i="1" smtClean="0">
                        <a:latin typeface="Cambria Math" panose="02040503050406030204" pitchFamily="18" charset="0"/>
                      </a:rPr>
                      <m:t>𝐱</m:t>
                    </m:r>
                  </m:oMath>
                </a14:m>
                <a:r>
                  <a:rPr lang="en-BE" sz="2600" dirty="0"/>
                  <a:t> as: </a:t>
                </a:r>
              </a:p>
            </p:txBody>
          </p:sp>
        </mc:Choice>
        <mc:Fallback xmlns="">
          <p:sp>
            <p:nvSpPr>
              <p:cNvPr id="5" name="Content Placeholder 1">
                <a:extLst>
                  <a:ext uri="{FF2B5EF4-FFF2-40B4-BE49-F238E27FC236}">
                    <a16:creationId xmlns:a16="http://schemas.microsoft.com/office/drawing/2014/main" id="{8FB2A0E4-A24D-C614-BC03-D9F99BFFA2CD}"/>
                  </a:ext>
                </a:extLst>
              </p:cNvPr>
              <p:cNvSpPr>
                <a:spLocks noGrp="1" noRot="1" noChangeAspect="1" noMove="1" noResize="1" noEditPoints="1" noAdjustHandles="1" noChangeArrowheads="1" noChangeShapeType="1" noTextEdit="1"/>
              </p:cNvSpPr>
              <p:nvPr>
                <p:ph idx="1"/>
              </p:nvPr>
            </p:nvSpPr>
            <p:spPr>
              <a:xfrm>
                <a:off x="542609" y="2621898"/>
                <a:ext cx="10605121" cy="487680"/>
              </a:xfrm>
              <a:blipFill>
                <a:blip r:embed="rId2"/>
                <a:stretch>
                  <a:fillRect l="-837" t="-17949" b="-2564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FF65633-D501-67D3-66BA-8B615F773861}"/>
                  </a:ext>
                </a:extLst>
              </p:cNvPr>
              <p:cNvSpPr txBox="1"/>
              <p:nvPr/>
            </p:nvSpPr>
            <p:spPr>
              <a:xfrm>
                <a:off x="4779506" y="3193381"/>
                <a:ext cx="247221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i="1">
                              <a:latin typeface="Cambria Math" panose="02040503050406030204" pitchFamily="18" charset="0"/>
                            </a:rPr>
                            <m:t>𝐲</m:t>
                          </m:r>
                        </m:e>
                        <m:sub>
                          <m:r>
                            <m:rPr>
                              <m:sty m:val="p"/>
                            </m:rPr>
                            <a:rPr lang="en-US" sz="2400" b="0" i="1" smtClean="0">
                              <a:latin typeface="Cambria Math" panose="02040503050406030204" pitchFamily="18" charset="0"/>
                            </a:rPr>
                            <m:t>k</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𝐇</m:t>
                          </m:r>
                        </m:e>
                        <m:sub>
                          <m:r>
                            <m:rPr>
                              <m:sty m:val="p"/>
                            </m:rPr>
                            <a:rPr lang="en-US" sz="2400" b="0" i="1" smtClean="0">
                              <a:latin typeface="Cambria Math" panose="02040503050406030204" pitchFamily="18" charset="0"/>
                            </a:rPr>
                            <m:t>k</m:t>
                          </m:r>
                        </m:sub>
                      </m:sSub>
                      <m:r>
                        <a:rPr lang="en-US" sz="2400" b="0" i="1" smtClean="0">
                          <a:latin typeface="Cambria Math" panose="02040503050406030204" pitchFamily="18" charset="0"/>
                        </a:rPr>
                        <m:t>⋅</m:t>
                      </m:r>
                      <m:r>
                        <a:rPr lang="en-US" sz="2400" b="0" i="1" smtClean="0">
                          <a:latin typeface="Cambria Math" panose="02040503050406030204" pitchFamily="18" charset="0"/>
                        </a:rPr>
                        <m:t>𝐱</m:t>
                      </m:r>
                      <m:r>
                        <a:rPr lang="en-US" sz="2400" b="0" i="1" smtClean="0">
                          <a:latin typeface="Cambria Math" panose="02040503050406030204" pitchFamily="18" charset="0"/>
                        </a:rPr>
                        <m:t> + </m:t>
                      </m:r>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𝐧</m:t>
                          </m:r>
                        </m:e>
                        <m:sub>
                          <m:r>
                            <m:rPr>
                              <m:sty m:val="p"/>
                            </m:rPr>
                            <a:rPr lang="en-US" sz="2400" b="0" i="0" smtClean="0">
                              <a:latin typeface="Cambria Math" panose="02040503050406030204" pitchFamily="18" charset="0"/>
                            </a:rPr>
                            <m:t>k</m:t>
                          </m:r>
                        </m:sub>
                      </m:sSub>
                    </m:oMath>
                  </m:oMathPara>
                </a14:m>
                <a:endParaRPr lang="en-BE" sz="2400" dirty="0"/>
              </a:p>
            </p:txBody>
          </p:sp>
        </mc:Choice>
        <mc:Fallback xmlns="">
          <p:sp>
            <p:nvSpPr>
              <p:cNvPr id="6" name="TextBox 5">
                <a:extLst>
                  <a:ext uri="{FF2B5EF4-FFF2-40B4-BE49-F238E27FC236}">
                    <a16:creationId xmlns:a16="http://schemas.microsoft.com/office/drawing/2014/main" id="{2FF65633-D501-67D3-66BA-8B615F773861}"/>
                  </a:ext>
                </a:extLst>
              </p:cNvPr>
              <p:cNvSpPr txBox="1">
                <a:spLocks noRot="1" noChangeAspect="1" noMove="1" noResize="1" noEditPoints="1" noAdjustHandles="1" noChangeArrowheads="1" noChangeShapeType="1" noTextEdit="1"/>
              </p:cNvSpPr>
              <p:nvPr/>
            </p:nvSpPr>
            <p:spPr>
              <a:xfrm>
                <a:off x="4779506" y="3193381"/>
                <a:ext cx="2472215" cy="369332"/>
              </a:xfrm>
              <a:prstGeom prst="rect">
                <a:avLst/>
              </a:prstGeom>
              <a:blipFill>
                <a:blip r:embed="rId3"/>
                <a:stretch>
                  <a:fillRect l="-2041" t="-10000" b="-33333"/>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7" name="Content Placeholder 1">
                <a:extLst>
                  <a:ext uri="{FF2B5EF4-FFF2-40B4-BE49-F238E27FC236}">
                    <a16:creationId xmlns:a16="http://schemas.microsoft.com/office/drawing/2014/main" id="{A619BADA-0065-5D63-7946-03DD181BF84F}"/>
                  </a:ext>
                </a:extLst>
              </p:cNvPr>
              <p:cNvSpPr txBox="1">
                <a:spLocks/>
              </p:cNvSpPr>
              <p:nvPr/>
            </p:nvSpPr>
            <p:spPr>
              <a:xfrm>
                <a:off x="542609" y="4030575"/>
                <a:ext cx="10605121" cy="487680"/>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UGent Panno Text" panose="02000506040000040003" pitchFamily="2" charset="0"/>
                    <a:ea typeface="+mn-ea"/>
                    <a:cs typeface="+mn-cs"/>
                  </a:defRPr>
                </a:lvl1pPr>
                <a:lvl2pPr marL="9525" indent="263525" algn="l" defTabSz="914400" rtl="0" eaLnBrk="1" latinLnBrk="0" hangingPunct="1">
                  <a:lnSpc>
                    <a:spcPct val="90000"/>
                  </a:lnSpc>
                  <a:spcBef>
                    <a:spcPts val="500"/>
                  </a:spcBef>
                  <a:buClr>
                    <a:srgbClr val="1E64C8"/>
                  </a:buClr>
                  <a:buFont typeface="Arial" panose="020B0604020202020204" pitchFamily="34" charset="0"/>
                  <a:buChar char="•"/>
                  <a:tabLst/>
                  <a:defRPr sz="2400" kern="1200" baseline="0">
                    <a:solidFill>
                      <a:schemeClr val="tx1"/>
                    </a:solidFill>
                    <a:latin typeface="UGent Panno Text" panose="02000506040000040003" pitchFamily="2" charset="0"/>
                    <a:ea typeface="+mn-ea"/>
                    <a:cs typeface="+mn-cs"/>
                  </a:defRPr>
                </a:lvl2pPr>
                <a:lvl3pPr marL="801688" indent="-263525" algn="l" defTabSz="914400" rtl="0" eaLnBrk="1" latinLnBrk="0" hangingPunct="1">
                  <a:lnSpc>
                    <a:spcPct val="90000"/>
                  </a:lnSpc>
                  <a:spcBef>
                    <a:spcPts val="500"/>
                  </a:spcBef>
                  <a:buClr>
                    <a:srgbClr val="1E64C8"/>
                  </a:buClr>
                  <a:buFont typeface="Arial" panose="020B0604020202020204" pitchFamily="34" charset="0"/>
                  <a:buChar char="•"/>
                  <a:tabLst/>
                  <a:defRPr sz="2000" kern="1200" baseline="0">
                    <a:solidFill>
                      <a:schemeClr val="tx1"/>
                    </a:solidFill>
                    <a:latin typeface="UGent Panno Text" panose="02000506040000040003" pitchFamily="2" charset="0"/>
                    <a:ea typeface="+mn-ea"/>
                    <a:cs typeface="+mn-cs"/>
                  </a:defRPr>
                </a:lvl3pPr>
                <a:lvl4pPr marL="16002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baseline="0">
                    <a:solidFill>
                      <a:schemeClr val="tx1"/>
                    </a:solidFill>
                    <a:latin typeface="UGent Panno Text" panose="02000506040000040003" pitchFamily="2" charset="0"/>
                    <a:ea typeface="+mn-ea"/>
                    <a:cs typeface="+mn-cs"/>
                  </a:defRPr>
                </a:lvl4pPr>
                <a:lvl5pPr marL="20574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baseline="0">
                    <a:solidFill>
                      <a:schemeClr val="tx1"/>
                    </a:solidFill>
                    <a:latin typeface="UGent Panno Text" panose="0200050604000004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BE" dirty="0"/>
                  <a:t>The received signal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𝐲</m:t>
                        </m:r>
                      </m:e>
                      <m:sub>
                        <m:r>
                          <m:rPr>
                            <m:sty m:val="p"/>
                          </m:rPr>
                          <a:rPr lang="en-US" i="1" smtClean="0">
                            <a:latin typeface="Cambria Math" panose="02040503050406030204" pitchFamily="18" charset="0"/>
                          </a:rPr>
                          <m:t>k</m:t>
                        </m:r>
                      </m:sub>
                    </m:sSub>
                  </m:oMath>
                </a14:m>
                <a:r>
                  <a:rPr lang="en-BE" dirty="0"/>
                  <a:t>  at UT</a:t>
                </a:r>
                <a:r>
                  <a:rPr lang="en-BE" baseline="-25000" dirty="0"/>
                  <a:t>k</a:t>
                </a:r>
                <a:r>
                  <a:rPr lang="en-BE" dirty="0"/>
                  <a:t> </a:t>
                </a:r>
                <a:r>
                  <a:rPr lang="en-US" dirty="0"/>
                  <a:t>is combined to obtain the scaled decision variable </a:t>
                </a:r>
                <a14:m>
                  <m:oMath xmlns:m="http://schemas.openxmlformats.org/officeDocument/2006/math">
                    <m:sSub>
                      <m:sSubPr>
                        <m:ctrlPr>
                          <a:rPr lang="en-US" i="1" smtClean="0">
                            <a:latin typeface="Cambria Math" panose="02040503050406030204" pitchFamily="18" charset="0"/>
                          </a:rPr>
                        </m:ctrlPr>
                      </m:sSubPr>
                      <m:e>
                        <m:r>
                          <a:rPr lang="en-US" b="1" i="0" smtClean="0">
                            <a:latin typeface="Cambria Math" panose="02040503050406030204" pitchFamily="18" charset="0"/>
                          </a:rPr>
                          <m:t>𝐳</m:t>
                        </m:r>
                      </m:e>
                      <m:sub>
                        <m:r>
                          <m:rPr>
                            <m:sty m:val="p"/>
                          </m:rPr>
                          <a:rPr lang="en-US" b="0" i="1" smtClean="0">
                            <a:latin typeface="Cambria Math" panose="02040503050406030204" pitchFamily="18" charset="0"/>
                          </a:rPr>
                          <m:t>k</m:t>
                        </m:r>
                      </m:sub>
                    </m:sSub>
                  </m:oMath>
                </a14:m>
                <a:r>
                  <a:rPr lang="en-BE" dirty="0"/>
                  <a:t>:   </a:t>
                </a:r>
              </a:p>
            </p:txBody>
          </p:sp>
        </mc:Choice>
        <mc:Fallback xmlns="">
          <p:sp>
            <p:nvSpPr>
              <p:cNvPr id="7" name="Content Placeholder 1">
                <a:extLst>
                  <a:ext uri="{FF2B5EF4-FFF2-40B4-BE49-F238E27FC236}">
                    <a16:creationId xmlns:a16="http://schemas.microsoft.com/office/drawing/2014/main" id="{A619BADA-0065-5D63-7946-03DD181BF84F}"/>
                  </a:ext>
                </a:extLst>
              </p:cNvPr>
              <p:cNvSpPr txBox="1">
                <a:spLocks noRot="1" noChangeAspect="1" noMove="1" noResize="1" noEditPoints="1" noAdjustHandles="1" noChangeArrowheads="1" noChangeShapeType="1" noTextEdit="1"/>
              </p:cNvSpPr>
              <p:nvPr/>
            </p:nvSpPr>
            <p:spPr>
              <a:xfrm>
                <a:off x="542609" y="4030575"/>
                <a:ext cx="10605121" cy="487680"/>
              </a:xfrm>
              <a:prstGeom prst="rect">
                <a:avLst/>
              </a:prstGeom>
              <a:blipFill>
                <a:blip r:embed="rId4"/>
                <a:stretch>
                  <a:fillRect l="-837" t="-17949" b="-25641"/>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8FA2C49-3EF3-F68D-D453-98E1DC46A859}"/>
                  </a:ext>
                </a:extLst>
              </p:cNvPr>
              <p:cNvSpPr txBox="1"/>
              <p:nvPr/>
            </p:nvSpPr>
            <p:spPr>
              <a:xfrm>
                <a:off x="5098695" y="4654188"/>
                <a:ext cx="176792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𝐳</m:t>
                          </m:r>
                        </m:e>
                        <m:sub>
                          <m:r>
                            <m:rPr>
                              <m:sty m:val="p"/>
                            </m:rPr>
                            <a:rPr lang="en-US" sz="2400" b="0" i="1" smtClean="0">
                              <a:latin typeface="Cambria Math" panose="02040503050406030204" pitchFamily="18" charset="0"/>
                            </a:rPr>
                            <m:t>k</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𝐆</m:t>
                          </m:r>
                        </m:e>
                        <m:sub>
                          <m:r>
                            <m:rPr>
                              <m:sty m:val="p"/>
                            </m:rPr>
                            <a:rPr lang="en-US" sz="2400" b="0" i="1" smtClean="0">
                              <a:latin typeface="Cambria Math" panose="02040503050406030204" pitchFamily="18" charset="0"/>
                            </a:rPr>
                            <m:t>k</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𝐲</m:t>
                          </m:r>
                        </m:e>
                        <m:sub>
                          <m:r>
                            <m:rPr>
                              <m:sty m:val="p"/>
                            </m:rPr>
                            <a:rPr lang="en-US" sz="2400" i="1">
                              <a:latin typeface="Cambria Math" panose="02040503050406030204" pitchFamily="18" charset="0"/>
                            </a:rPr>
                            <m:t>k</m:t>
                          </m:r>
                        </m:sub>
                      </m:sSub>
                      <m:r>
                        <a:rPr lang="en-US" sz="2400" b="0" i="1" smtClean="0">
                          <a:latin typeface="Cambria Math" panose="02040503050406030204" pitchFamily="18" charset="0"/>
                        </a:rPr>
                        <m:t> </m:t>
                      </m:r>
                    </m:oMath>
                  </m:oMathPara>
                </a14:m>
                <a:endParaRPr lang="en-BE" sz="2400" dirty="0"/>
              </a:p>
            </p:txBody>
          </p:sp>
        </mc:Choice>
        <mc:Fallback xmlns="">
          <p:sp>
            <p:nvSpPr>
              <p:cNvPr id="8" name="TextBox 7">
                <a:extLst>
                  <a:ext uri="{FF2B5EF4-FFF2-40B4-BE49-F238E27FC236}">
                    <a16:creationId xmlns:a16="http://schemas.microsoft.com/office/drawing/2014/main" id="{B8FA2C49-3EF3-F68D-D453-98E1DC46A859}"/>
                  </a:ext>
                </a:extLst>
              </p:cNvPr>
              <p:cNvSpPr txBox="1">
                <a:spLocks noRot="1" noChangeAspect="1" noMove="1" noResize="1" noEditPoints="1" noAdjustHandles="1" noChangeArrowheads="1" noChangeShapeType="1" noTextEdit="1"/>
              </p:cNvSpPr>
              <p:nvPr/>
            </p:nvSpPr>
            <p:spPr>
              <a:xfrm>
                <a:off x="5098695" y="4654188"/>
                <a:ext cx="1767920" cy="369332"/>
              </a:xfrm>
              <a:prstGeom prst="rect">
                <a:avLst/>
              </a:prstGeom>
              <a:blipFill>
                <a:blip r:embed="rId5"/>
                <a:stretch>
                  <a:fillRect l="-2143" t="-10000" r="-6429" b="-36667"/>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9" name="Content Placeholder 1">
                <a:extLst>
                  <a:ext uri="{FF2B5EF4-FFF2-40B4-BE49-F238E27FC236}">
                    <a16:creationId xmlns:a16="http://schemas.microsoft.com/office/drawing/2014/main" id="{F04425AF-E7FB-13A1-3028-8CDAE422072E}"/>
                  </a:ext>
                </a:extLst>
              </p:cNvPr>
              <p:cNvSpPr txBox="1">
                <a:spLocks/>
              </p:cNvSpPr>
              <p:nvPr/>
            </p:nvSpPr>
            <p:spPr>
              <a:xfrm>
                <a:off x="542609" y="1191810"/>
                <a:ext cx="10605121" cy="89365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UGent Panno Text" panose="02000506040000040003" pitchFamily="2" charset="0"/>
                    <a:ea typeface="+mn-ea"/>
                    <a:cs typeface="+mn-cs"/>
                  </a:defRPr>
                </a:lvl1pPr>
                <a:lvl2pPr marL="9525" indent="263525" algn="l" defTabSz="914400" rtl="0" eaLnBrk="1" latinLnBrk="0" hangingPunct="1">
                  <a:lnSpc>
                    <a:spcPct val="90000"/>
                  </a:lnSpc>
                  <a:spcBef>
                    <a:spcPts val="500"/>
                  </a:spcBef>
                  <a:buClr>
                    <a:srgbClr val="1E64C8"/>
                  </a:buClr>
                  <a:buFont typeface="Arial" panose="020B0604020202020204" pitchFamily="34" charset="0"/>
                  <a:buChar char="•"/>
                  <a:tabLst/>
                  <a:defRPr sz="2400" kern="1200" baseline="0">
                    <a:solidFill>
                      <a:schemeClr val="tx1"/>
                    </a:solidFill>
                    <a:latin typeface="UGent Panno Text" panose="02000506040000040003" pitchFamily="2" charset="0"/>
                    <a:ea typeface="+mn-ea"/>
                    <a:cs typeface="+mn-cs"/>
                  </a:defRPr>
                </a:lvl2pPr>
                <a:lvl3pPr marL="801688" indent="-263525" algn="l" defTabSz="914400" rtl="0" eaLnBrk="1" latinLnBrk="0" hangingPunct="1">
                  <a:lnSpc>
                    <a:spcPct val="90000"/>
                  </a:lnSpc>
                  <a:spcBef>
                    <a:spcPts val="500"/>
                  </a:spcBef>
                  <a:buClr>
                    <a:srgbClr val="1E64C8"/>
                  </a:buClr>
                  <a:buFont typeface="Arial" panose="020B0604020202020204" pitchFamily="34" charset="0"/>
                  <a:buChar char="•"/>
                  <a:tabLst/>
                  <a:defRPr sz="2000" kern="1200" baseline="0">
                    <a:solidFill>
                      <a:schemeClr val="tx1"/>
                    </a:solidFill>
                    <a:latin typeface="UGent Panno Text" panose="02000506040000040003" pitchFamily="2" charset="0"/>
                    <a:ea typeface="+mn-ea"/>
                    <a:cs typeface="+mn-cs"/>
                  </a:defRPr>
                </a:lvl3pPr>
                <a:lvl4pPr marL="16002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baseline="0">
                    <a:solidFill>
                      <a:schemeClr val="tx1"/>
                    </a:solidFill>
                    <a:latin typeface="UGent Panno Text" panose="02000506040000040003" pitchFamily="2" charset="0"/>
                    <a:ea typeface="+mn-ea"/>
                    <a:cs typeface="+mn-cs"/>
                  </a:defRPr>
                </a:lvl4pPr>
                <a:lvl5pPr marL="20574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baseline="0">
                    <a:solidFill>
                      <a:schemeClr val="tx1"/>
                    </a:solidFill>
                    <a:latin typeface="UGent Panno Text" panose="0200050604000004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BE" sz="2600" dirty="0"/>
                  <a:t>The transmitted signal </a:t>
                </a:r>
                <a14:m>
                  <m:oMath xmlns:m="http://schemas.openxmlformats.org/officeDocument/2006/math">
                    <m:r>
                      <a:rPr lang="en-US" sz="2600" i="1" smtClean="0">
                        <a:latin typeface="Cambria Math" panose="02040503050406030204" pitchFamily="18" charset="0"/>
                      </a:rPr>
                      <m:t>𝐱</m:t>
                    </m:r>
                  </m:oMath>
                </a14:m>
                <a:r>
                  <a:rPr lang="en-BE" sz="2600" dirty="0"/>
                  <a:t> </a:t>
                </a:r>
                <a:r>
                  <a:rPr lang="en-US" sz="2600" dirty="0"/>
                  <a:t>is constructed at the BS by precoding the data streams:</a:t>
                </a:r>
                <a:endParaRPr lang="en-BE" sz="2600" dirty="0"/>
              </a:p>
            </p:txBody>
          </p:sp>
        </mc:Choice>
        <mc:Fallback xmlns="">
          <p:sp>
            <p:nvSpPr>
              <p:cNvPr id="9" name="Content Placeholder 1">
                <a:extLst>
                  <a:ext uri="{FF2B5EF4-FFF2-40B4-BE49-F238E27FC236}">
                    <a16:creationId xmlns:a16="http://schemas.microsoft.com/office/drawing/2014/main" id="{F04425AF-E7FB-13A1-3028-8CDAE422072E}"/>
                  </a:ext>
                </a:extLst>
              </p:cNvPr>
              <p:cNvSpPr txBox="1">
                <a:spLocks noRot="1" noChangeAspect="1" noMove="1" noResize="1" noEditPoints="1" noAdjustHandles="1" noChangeArrowheads="1" noChangeShapeType="1" noTextEdit="1"/>
              </p:cNvSpPr>
              <p:nvPr/>
            </p:nvSpPr>
            <p:spPr>
              <a:xfrm>
                <a:off x="542609" y="1191810"/>
                <a:ext cx="10605121" cy="893656"/>
              </a:xfrm>
              <a:prstGeom prst="rect">
                <a:avLst/>
              </a:prstGeom>
              <a:blipFill>
                <a:blip r:embed="rId6"/>
                <a:stretch>
                  <a:fillRect l="-837" t="-11268"/>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A2603B5-13E2-0541-8C1A-E82495AD26AB}"/>
                  </a:ext>
                </a:extLst>
              </p:cNvPr>
              <p:cNvSpPr txBox="1"/>
              <p:nvPr/>
            </p:nvSpPr>
            <p:spPr>
              <a:xfrm>
                <a:off x="4376299" y="1627877"/>
                <a:ext cx="3439395" cy="76136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𝐱</m:t>
                      </m:r>
                      <m:r>
                        <a:rPr lang="en-US" sz="2400" b="0" i="1" smtClean="0">
                          <a:latin typeface="Cambria Math" panose="02040503050406030204" pitchFamily="18" charset="0"/>
                        </a:rPr>
                        <m:t>= </m:t>
                      </m:r>
                      <m:nary>
                        <m:naryPr>
                          <m:chr m:val="∑"/>
                          <m:limLoc m:val="subSup"/>
                          <m:ctrlPr>
                            <a:rPr lang="en-US" sz="2400" b="0" i="1" smtClean="0">
                              <a:latin typeface="Cambria Math" panose="02040503050406030204" pitchFamily="18" charset="0"/>
                            </a:rPr>
                          </m:ctrlPr>
                        </m:naryPr>
                        <m:sub>
                          <m:r>
                            <m:rPr>
                              <m:sty m:val="p"/>
                              <m:brk m:alnAt="25"/>
                            </m:rPr>
                            <a:rPr lang="en-US" sz="2400" b="0" i="1" smtClean="0">
                              <a:latin typeface="Cambria Math" panose="02040503050406030204" pitchFamily="18" charset="0"/>
                            </a:rPr>
                            <m:t>k</m:t>
                          </m:r>
                        </m:sub>
                        <m:sup>
                          <m:r>
                            <m:rPr>
                              <m:sty m:val="p"/>
                            </m:rPr>
                            <a:rPr lang="en-US" sz="2400" b="0" i="1" smtClean="0">
                              <a:latin typeface="Cambria Math" panose="02040503050406030204" pitchFamily="18" charset="0"/>
                            </a:rPr>
                            <m:t>K</m:t>
                          </m:r>
                        </m:sup>
                        <m:e>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𝐅</m:t>
                              </m:r>
                            </m:e>
                            <m:sub>
                              <m:r>
                                <m:rPr>
                                  <m:sty m:val="p"/>
                                </m:rPr>
                                <a:rPr lang="en-US" sz="2400" b="0" i="1" smtClean="0">
                                  <a:latin typeface="Cambria Math" panose="02040503050406030204" pitchFamily="18" charset="0"/>
                                </a:rPr>
                                <m:t>k</m:t>
                              </m:r>
                            </m:sub>
                          </m:sSub>
                          <m:r>
                            <a:rPr lang="en-US" sz="2400" b="0" i="1" smtClean="0">
                              <a:latin typeface="Cambria Math" panose="02040503050406030204" pitchFamily="18" charset="0"/>
                            </a:rPr>
                            <m:t> ⋅ </m:t>
                          </m:r>
                          <m:sSub>
                            <m:sSubPr>
                              <m:ctrlPr>
                                <a:rPr lang="en-US" sz="2400" b="0" i="1" smtClean="0">
                                  <a:latin typeface="Cambria Math" panose="02040503050406030204" pitchFamily="18" charset="0"/>
                                </a:rPr>
                              </m:ctrlPr>
                            </m:sSubPr>
                            <m:e>
                              <m:r>
                                <a:rPr lang="en-US" sz="2400" b="1" i="0" smtClean="0">
                                  <a:latin typeface="Cambria Math" panose="02040503050406030204" pitchFamily="18" charset="0"/>
                                </a:rPr>
                                <m:t>𝐚</m:t>
                              </m:r>
                            </m:e>
                            <m:sub>
                              <m:r>
                                <m:rPr>
                                  <m:sty m:val="p"/>
                                </m:rPr>
                                <a:rPr lang="en-US" sz="2400" b="0" i="1" smtClean="0">
                                  <a:latin typeface="Cambria Math" panose="02040503050406030204" pitchFamily="18" charset="0"/>
                                </a:rPr>
                                <m:t>k</m:t>
                              </m:r>
                            </m:sub>
                          </m:sSub>
                        </m:e>
                      </m:nary>
                    </m:oMath>
                  </m:oMathPara>
                </a14:m>
                <a:endParaRPr lang="en-BE" sz="2400" dirty="0"/>
              </a:p>
            </p:txBody>
          </p:sp>
        </mc:Choice>
        <mc:Fallback xmlns="">
          <p:sp>
            <p:nvSpPr>
              <p:cNvPr id="10" name="TextBox 9">
                <a:extLst>
                  <a:ext uri="{FF2B5EF4-FFF2-40B4-BE49-F238E27FC236}">
                    <a16:creationId xmlns:a16="http://schemas.microsoft.com/office/drawing/2014/main" id="{4A2603B5-13E2-0541-8C1A-E82495AD26AB}"/>
                  </a:ext>
                </a:extLst>
              </p:cNvPr>
              <p:cNvSpPr txBox="1">
                <a:spLocks noRot="1" noChangeAspect="1" noMove="1" noResize="1" noEditPoints="1" noAdjustHandles="1" noChangeArrowheads="1" noChangeShapeType="1" noTextEdit="1"/>
              </p:cNvSpPr>
              <p:nvPr/>
            </p:nvSpPr>
            <p:spPr>
              <a:xfrm>
                <a:off x="4376299" y="1627877"/>
                <a:ext cx="3439395" cy="761362"/>
              </a:xfrm>
              <a:prstGeom prst="rect">
                <a:avLst/>
              </a:prstGeom>
              <a:blipFill>
                <a:blip r:embed="rId7"/>
                <a:stretch>
                  <a:fillRect t="-172131" b="-257377"/>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56EFAD-92E3-838A-1ABC-92767240CF13}"/>
                  </a:ext>
                </a:extLst>
              </p:cNvPr>
              <p:cNvSpPr txBox="1"/>
              <p:nvPr/>
            </p:nvSpPr>
            <p:spPr>
              <a:xfrm>
                <a:off x="4766016" y="6084276"/>
                <a:ext cx="2631105" cy="369332"/>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0">
                          <a:latin typeface="Cambria Math" panose="02040503050406030204" pitchFamily="18" charset="0"/>
                        </a:rPr>
                        <m:t>𝐳</m:t>
                      </m:r>
                      <m:r>
                        <a:rPr lang="en-US" sz="2400" b="1" i="0" smtClean="0">
                          <a:latin typeface="Cambria Math" panose="02040503050406030204" pitchFamily="18" charset="0"/>
                        </a:rPr>
                        <m:t>= </m:t>
                      </m:r>
                      <m:r>
                        <a:rPr lang="en-US" sz="2400" b="1" i="0" smtClean="0">
                          <a:latin typeface="Cambria Math" panose="02040503050406030204" pitchFamily="18" charset="0"/>
                        </a:rPr>
                        <m:t>𝐆𝐇𝐅</m:t>
                      </m:r>
                      <m:r>
                        <a:rPr lang="en-US" sz="2400" b="1" i="0" smtClean="0">
                          <a:latin typeface="Cambria Math" panose="02040503050406030204" pitchFamily="18" charset="0"/>
                        </a:rPr>
                        <m:t>⋅</m:t>
                      </m:r>
                      <m:r>
                        <a:rPr lang="en-US" sz="2400" b="1" i="0" smtClean="0">
                          <a:latin typeface="Cambria Math" panose="02040503050406030204" pitchFamily="18" charset="0"/>
                        </a:rPr>
                        <m:t>𝐚</m:t>
                      </m:r>
                      <m:r>
                        <a:rPr lang="en-US" sz="2400" b="1" i="0" smtClean="0">
                          <a:latin typeface="Cambria Math" panose="02040503050406030204" pitchFamily="18" charset="0"/>
                        </a:rPr>
                        <m:t> +</m:t>
                      </m:r>
                      <m:r>
                        <a:rPr lang="en-US" sz="2400" b="1" i="0" smtClean="0">
                          <a:latin typeface="Cambria Math" panose="02040503050406030204" pitchFamily="18" charset="0"/>
                        </a:rPr>
                        <m:t>𝐆</m:t>
                      </m:r>
                      <m:r>
                        <a:rPr lang="en-US" sz="2400" b="1" i="0" smtClean="0">
                          <a:latin typeface="Cambria Math" panose="02040503050406030204" pitchFamily="18" charset="0"/>
                        </a:rPr>
                        <m:t> </m:t>
                      </m:r>
                      <m:r>
                        <a:rPr lang="en-US" sz="2400" b="1" i="0" smtClean="0">
                          <a:latin typeface="Cambria Math" panose="02040503050406030204" pitchFamily="18" charset="0"/>
                        </a:rPr>
                        <m:t>𝐧</m:t>
                      </m:r>
                      <m:r>
                        <a:rPr lang="en-US" sz="2400" b="0" i="1" smtClean="0">
                          <a:latin typeface="Cambria Math" panose="02040503050406030204" pitchFamily="18" charset="0"/>
                        </a:rPr>
                        <m:t> </m:t>
                      </m:r>
                    </m:oMath>
                  </m:oMathPara>
                </a14:m>
                <a:endParaRPr lang="en-BE" sz="2400" dirty="0"/>
              </a:p>
            </p:txBody>
          </p:sp>
        </mc:Choice>
        <mc:Fallback xmlns="">
          <p:sp>
            <p:nvSpPr>
              <p:cNvPr id="13" name="TextBox 12">
                <a:extLst>
                  <a:ext uri="{FF2B5EF4-FFF2-40B4-BE49-F238E27FC236}">
                    <a16:creationId xmlns:a16="http://schemas.microsoft.com/office/drawing/2014/main" id="{8A56EFAD-92E3-838A-1ABC-92767240CF13}"/>
                  </a:ext>
                </a:extLst>
              </p:cNvPr>
              <p:cNvSpPr txBox="1">
                <a:spLocks noRot="1" noChangeAspect="1" noMove="1" noResize="1" noEditPoints="1" noAdjustHandles="1" noChangeArrowheads="1" noChangeShapeType="1" noTextEdit="1"/>
              </p:cNvSpPr>
              <p:nvPr/>
            </p:nvSpPr>
            <p:spPr>
              <a:xfrm>
                <a:off x="4766016" y="6084276"/>
                <a:ext cx="2631105" cy="369332"/>
              </a:xfrm>
              <a:prstGeom prst="rect">
                <a:avLst/>
              </a:prstGeom>
              <a:blipFill>
                <a:blip r:embed="rId8"/>
                <a:stretch>
                  <a:fillRect l="-957" t="-6452" r="-4306" b="-32258"/>
                </a:stretch>
              </a:blipFill>
              <a:ln>
                <a:solidFill>
                  <a:schemeClr val="tx1"/>
                </a:solidFill>
              </a:ln>
            </p:spPr>
            <p:txBody>
              <a:bodyPr/>
              <a:lstStyle/>
              <a:p>
                <a:r>
                  <a:rPr lang="en-BE">
                    <a:noFill/>
                  </a:rPr>
                  <a:t> </a:t>
                </a:r>
              </a:p>
            </p:txBody>
          </p:sp>
        </mc:Fallback>
      </mc:AlternateContent>
    </p:spTree>
    <p:extLst>
      <p:ext uri="{BB962C8B-B14F-4D97-AF65-F5344CB8AC3E}">
        <p14:creationId xmlns:p14="http://schemas.microsoft.com/office/powerpoint/2010/main" val="21084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FD0BC4-4B97-90E2-67ED-694AED25F1F0}"/>
              </a:ext>
            </a:extLst>
          </p:cNvPr>
          <p:cNvSpPr>
            <a:spLocks noGrp="1"/>
          </p:cNvSpPr>
          <p:nvPr>
            <p:ph type="body" sz="quarter" idx="10"/>
          </p:nvPr>
        </p:nvSpPr>
        <p:spPr/>
        <p:txBody>
          <a:bodyPr/>
          <a:lstStyle/>
          <a:p>
            <a:r>
              <a:rPr lang="en-GB" dirty="0"/>
              <a:t>C</a:t>
            </a:r>
            <a:r>
              <a:rPr lang="en-BE" dirty="0"/>
              <a:t>lass Diagram</a:t>
            </a:r>
          </a:p>
          <a:p>
            <a:endParaRPr lang="en-BE" dirty="0"/>
          </a:p>
        </p:txBody>
      </p:sp>
      <p:pic>
        <p:nvPicPr>
          <p:cNvPr id="6" name="Picture 5">
            <a:extLst>
              <a:ext uri="{FF2B5EF4-FFF2-40B4-BE49-F238E27FC236}">
                <a16:creationId xmlns:a16="http://schemas.microsoft.com/office/drawing/2014/main" id="{3A8D8591-40A5-691C-1C52-DA63198945DB}"/>
              </a:ext>
            </a:extLst>
          </p:cNvPr>
          <p:cNvPicPr>
            <a:picLocks noChangeAspect="1"/>
          </p:cNvPicPr>
          <p:nvPr/>
        </p:nvPicPr>
        <p:blipFill>
          <a:blip r:embed="rId2"/>
          <a:stretch>
            <a:fillRect/>
          </a:stretch>
        </p:blipFill>
        <p:spPr>
          <a:xfrm>
            <a:off x="2562188" y="1250828"/>
            <a:ext cx="7067623" cy="4999051"/>
          </a:xfrm>
          <a:prstGeom prst="rect">
            <a:avLst/>
          </a:prstGeom>
        </p:spPr>
      </p:pic>
      <p:sp>
        <p:nvSpPr>
          <p:cNvPr id="4" name="Title 3">
            <a:extLst>
              <a:ext uri="{FF2B5EF4-FFF2-40B4-BE49-F238E27FC236}">
                <a16:creationId xmlns:a16="http://schemas.microsoft.com/office/drawing/2014/main" id="{166C23BB-CB2F-1F8B-7CFB-271520BA5562}"/>
              </a:ext>
            </a:extLst>
          </p:cNvPr>
          <p:cNvSpPr>
            <a:spLocks noGrp="1"/>
          </p:cNvSpPr>
          <p:nvPr>
            <p:ph type="title"/>
          </p:nvPr>
        </p:nvSpPr>
        <p:spPr/>
        <p:txBody>
          <a:bodyPr/>
          <a:lstStyle/>
          <a:p>
            <a:r>
              <a:rPr lang="en-BE" dirty="0"/>
              <a:t>Simulation Framework</a:t>
            </a:r>
          </a:p>
        </p:txBody>
      </p:sp>
    </p:spTree>
    <p:extLst>
      <p:ext uri="{BB962C8B-B14F-4D97-AF65-F5344CB8AC3E}">
        <p14:creationId xmlns:p14="http://schemas.microsoft.com/office/powerpoint/2010/main" val="375314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7BD0AC-0842-32AB-4E52-66F58F8C761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4BD3A9-2E43-95E1-19E9-BD2D7AD25472}"/>
              </a:ext>
            </a:extLst>
          </p:cNvPr>
          <p:cNvSpPr>
            <a:spLocks noGrp="1"/>
          </p:cNvSpPr>
          <p:nvPr>
            <p:ph type="body" sz="quarter" idx="10"/>
          </p:nvPr>
        </p:nvSpPr>
        <p:spPr/>
        <p:txBody>
          <a:bodyPr/>
          <a:lstStyle/>
          <a:p>
            <a:r>
              <a:rPr lang="en-GB" dirty="0"/>
              <a:t>Sequence</a:t>
            </a:r>
            <a:r>
              <a:rPr lang="en-BE" dirty="0"/>
              <a:t> Diagram</a:t>
            </a:r>
          </a:p>
          <a:p>
            <a:endParaRPr lang="en-BE" dirty="0"/>
          </a:p>
        </p:txBody>
      </p:sp>
      <p:sp>
        <p:nvSpPr>
          <p:cNvPr id="4" name="Title 3">
            <a:extLst>
              <a:ext uri="{FF2B5EF4-FFF2-40B4-BE49-F238E27FC236}">
                <a16:creationId xmlns:a16="http://schemas.microsoft.com/office/drawing/2014/main" id="{EA9E3309-32FC-E4C8-6FE6-6B279868B510}"/>
              </a:ext>
            </a:extLst>
          </p:cNvPr>
          <p:cNvSpPr>
            <a:spLocks noGrp="1"/>
          </p:cNvSpPr>
          <p:nvPr>
            <p:ph type="title"/>
          </p:nvPr>
        </p:nvSpPr>
        <p:spPr/>
        <p:txBody>
          <a:bodyPr/>
          <a:lstStyle/>
          <a:p>
            <a:r>
              <a:rPr lang="en-BE" dirty="0"/>
              <a:t>Simulation Framework</a:t>
            </a:r>
          </a:p>
        </p:txBody>
      </p:sp>
      <p:pic>
        <p:nvPicPr>
          <p:cNvPr id="10" name="Picture 9">
            <a:extLst>
              <a:ext uri="{FF2B5EF4-FFF2-40B4-BE49-F238E27FC236}">
                <a16:creationId xmlns:a16="http://schemas.microsoft.com/office/drawing/2014/main" id="{A8CCB290-CE65-6A4E-B370-1A18804E71DD}"/>
              </a:ext>
            </a:extLst>
          </p:cNvPr>
          <p:cNvPicPr>
            <a:picLocks noChangeAspect="1"/>
          </p:cNvPicPr>
          <p:nvPr/>
        </p:nvPicPr>
        <p:blipFill>
          <a:blip r:embed="rId2"/>
          <a:srcRect b="94600"/>
          <a:stretch>
            <a:fillRect/>
          </a:stretch>
        </p:blipFill>
        <p:spPr>
          <a:xfrm>
            <a:off x="3415409" y="1611596"/>
            <a:ext cx="5361182" cy="620836"/>
          </a:xfrm>
          <a:prstGeom prst="rect">
            <a:avLst/>
          </a:prstGeom>
        </p:spPr>
      </p:pic>
      <p:pic>
        <p:nvPicPr>
          <p:cNvPr id="11" name="Picture 10">
            <a:extLst>
              <a:ext uri="{FF2B5EF4-FFF2-40B4-BE49-F238E27FC236}">
                <a16:creationId xmlns:a16="http://schemas.microsoft.com/office/drawing/2014/main" id="{7C643F3A-4A1C-E4EC-E4BC-6D39A050EC37}"/>
              </a:ext>
            </a:extLst>
          </p:cNvPr>
          <p:cNvPicPr>
            <a:picLocks noChangeAspect="1"/>
          </p:cNvPicPr>
          <p:nvPr/>
        </p:nvPicPr>
        <p:blipFill>
          <a:blip r:embed="rId2"/>
          <a:srcRect t="5763" b="63842"/>
          <a:stretch>
            <a:fillRect/>
          </a:stretch>
        </p:blipFill>
        <p:spPr>
          <a:xfrm>
            <a:off x="3419701" y="2248692"/>
            <a:ext cx="5356889" cy="3492027"/>
          </a:xfrm>
          <a:prstGeom prst="rect">
            <a:avLst/>
          </a:prstGeom>
        </p:spPr>
      </p:pic>
      <p:pic>
        <p:nvPicPr>
          <p:cNvPr id="12" name="Picture 11">
            <a:extLst>
              <a:ext uri="{FF2B5EF4-FFF2-40B4-BE49-F238E27FC236}">
                <a16:creationId xmlns:a16="http://schemas.microsoft.com/office/drawing/2014/main" id="{2BDBFD23-5AD6-6730-4E87-3CFD8B046D62}"/>
              </a:ext>
            </a:extLst>
          </p:cNvPr>
          <p:cNvPicPr>
            <a:picLocks noChangeAspect="1"/>
          </p:cNvPicPr>
          <p:nvPr/>
        </p:nvPicPr>
        <p:blipFill>
          <a:blip r:embed="rId2"/>
          <a:srcRect t="35838" b="33509"/>
          <a:stretch>
            <a:fillRect/>
          </a:stretch>
        </p:blipFill>
        <p:spPr>
          <a:xfrm>
            <a:off x="3415409" y="2248692"/>
            <a:ext cx="5356889" cy="3521705"/>
          </a:xfrm>
          <a:prstGeom prst="rect">
            <a:avLst/>
          </a:prstGeom>
        </p:spPr>
      </p:pic>
      <p:pic>
        <p:nvPicPr>
          <p:cNvPr id="13" name="Picture 12">
            <a:extLst>
              <a:ext uri="{FF2B5EF4-FFF2-40B4-BE49-F238E27FC236}">
                <a16:creationId xmlns:a16="http://schemas.microsoft.com/office/drawing/2014/main" id="{94FB2325-4FB6-75D8-0691-B5546EAD65DC}"/>
              </a:ext>
            </a:extLst>
          </p:cNvPr>
          <p:cNvPicPr>
            <a:picLocks noChangeAspect="1"/>
          </p:cNvPicPr>
          <p:nvPr/>
        </p:nvPicPr>
        <p:blipFill>
          <a:blip r:embed="rId2"/>
          <a:srcRect t="66331" b="4200"/>
          <a:stretch>
            <a:fillRect/>
          </a:stretch>
        </p:blipFill>
        <p:spPr>
          <a:xfrm>
            <a:off x="3411117" y="2248691"/>
            <a:ext cx="5361648" cy="3388537"/>
          </a:xfrm>
          <a:prstGeom prst="rect">
            <a:avLst/>
          </a:prstGeom>
        </p:spPr>
      </p:pic>
      <p:pic>
        <p:nvPicPr>
          <p:cNvPr id="14" name="Picture 13">
            <a:extLst>
              <a:ext uri="{FF2B5EF4-FFF2-40B4-BE49-F238E27FC236}">
                <a16:creationId xmlns:a16="http://schemas.microsoft.com/office/drawing/2014/main" id="{947B5A4E-735A-CB84-7E18-42A89C988FA5}"/>
              </a:ext>
            </a:extLst>
          </p:cNvPr>
          <p:cNvPicPr>
            <a:picLocks noChangeAspect="1"/>
          </p:cNvPicPr>
          <p:nvPr/>
        </p:nvPicPr>
        <p:blipFill>
          <a:blip r:embed="rId2"/>
          <a:srcRect t="95258" b="-1246"/>
          <a:stretch>
            <a:fillRect/>
          </a:stretch>
        </p:blipFill>
        <p:spPr>
          <a:xfrm>
            <a:off x="3428285" y="5740719"/>
            <a:ext cx="5352597" cy="687446"/>
          </a:xfrm>
          <a:prstGeom prst="rect">
            <a:avLst/>
          </a:prstGeom>
        </p:spPr>
      </p:pic>
    </p:spTree>
    <p:extLst>
      <p:ext uri="{BB962C8B-B14F-4D97-AF65-F5344CB8AC3E}">
        <p14:creationId xmlns:p14="http://schemas.microsoft.com/office/powerpoint/2010/main" val="408869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D98C75-67BF-3890-F53E-3A6AC6EE056A}"/>
              </a:ext>
            </a:extLst>
          </p:cNvPr>
          <p:cNvSpPr>
            <a:spLocks noGrp="1"/>
          </p:cNvSpPr>
          <p:nvPr>
            <p:ph type="body" sz="quarter" idx="11"/>
          </p:nvPr>
        </p:nvSpPr>
        <p:spPr>
          <a:xfrm>
            <a:off x="554196" y="836023"/>
            <a:ext cx="6403953" cy="1036320"/>
          </a:xfrm>
        </p:spPr>
        <p:txBody>
          <a:bodyPr>
            <a:normAutofit/>
          </a:bodyPr>
          <a:lstStyle/>
          <a:p>
            <a:r>
              <a:rPr lang="en-BE" sz="6000" dirty="0"/>
              <a:t>Precoding Techniques</a:t>
            </a:r>
          </a:p>
        </p:txBody>
      </p:sp>
      <p:sp>
        <p:nvSpPr>
          <p:cNvPr id="7" name="Text Placeholder 2">
            <a:extLst>
              <a:ext uri="{FF2B5EF4-FFF2-40B4-BE49-F238E27FC236}">
                <a16:creationId xmlns:a16="http://schemas.microsoft.com/office/drawing/2014/main" id="{156189A4-B8C9-A5AB-A19A-79C111E2C1D4}"/>
              </a:ext>
            </a:extLst>
          </p:cNvPr>
          <p:cNvSpPr txBox="1">
            <a:spLocks/>
          </p:cNvSpPr>
          <p:nvPr/>
        </p:nvSpPr>
        <p:spPr>
          <a:xfrm>
            <a:off x="1146377" y="1872343"/>
            <a:ext cx="11211085" cy="3596640"/>
          </a:xfrm>
          <a:prstGeom prst="rect">
            <a:avLst/>
          </a:prstGeom>
        </p:spPr>
        <p:txBody>
          <a:bodyPr vert="horz" lIns="91440" tIns="45720" rIns="91440" bIns="45720" rtlCol="0" anchor="b" anchorCtr="0">
            <a:normAutofit/>
          </a:bodyPr>
          <a:lstStyle>
            <a:lvl1pPr marL="0" indent="0" algn="l" defTabSz="914400" rtl="0" eaLnBrk="1" latinLnBrk="0" hangingPunct="1">
              <a:lnSpc>
                <a:spcPts val="6800"/>
              </a:lnSpc>
              <a:spcBef>
                <a:spcPts val="0"/>
              </a:spcBef>
              <a:buFont typeface="Arial" panose="020B0604020202020204" pitchFamily="34" charset="0"/>
              <a:buNone/>
              <a:defRPr sz="6500" b="1" i="0" kern="1200" cap="none" baseline="0">
                <a:solidFill>
                  <a:schemeClr val="bg1"/>
                </a:solidFill>
                <a:latin typeface="UGent Panno Text" panose="02000506040000040003" pitchFamily="2" charset="0"/>
                <a:ea typeface="+mn-ea"/>
                <a:cs typeface="+mn-cs"/>
              </a:defRPr>
            </a:lvl1pPr>
            <a:lvl2pPr marL="685800" indent="-228600" algn="l" defTabSz="914400" rtl="0" eaLnBrk="1" latinLnBrk="0" hangingPunct="1">
              <a:lnSpc>
                <a:spcPct val="90000"/>
              </a:lnSpc>
              <a:spcBef>
                <a:spcPts val="500"/>
              </a:spcBef>
              <a:buClr>
                <a:srgbClr val="1E64C8"/>
              </a:buClr>
              <a:buFont typeface="Arial" panose="020B0604020202020204" pitchFamily="34" charset="0"/>
              <a:buChar char="•"/>
              <a:defRPr sz="2400" kern="1200">
                <a:solidFill>
                  <a:schemeClr val="tx1"/>
                </a:solidFill>
                <a:latin typeface="UGent Panno Text" panose="02000506040000040003" pitchFamily="2" charset="0"/>
                <a:ea typeface="+mn-ea"/>
                <a:cs typeface="+mn-cs"/>
              </a:defRPr>
            </a:lvl2pPr>
            <a:lvl3pPr marL="1143000" indent="-228600" algn="l" defTabSz="914400" rtl="0" eaLnBrk="1" latinLnBrk="0" hangingPunct="1">
              <a:lnSpc>
                <a:spcPct val="90000"/>
              </a:lnSpc>
              <a:spcBef>
                <a:spcPts val="500"/>
              </a:spcBef>
              <a:buClr>
                <a:srgbClr val="1E64C8"/>
              </a:buClr>
              <a:buFont typeface="Arial" panose="020B0604020202020204" pitchFamily="34" charset="0"/>
              <a:buChar char="•"/>
              <a:defRPr sz="2000" kern="1200">
                <a:solidFill>
                  <a:schemeClr val="tx1"/>
                </a:solidFill>
                <a:latin typeface="UGent Panno Text" panose="02000506040000040003" pitchFamily="2" charset="0"/>
                <a:ea typeface="+mn-ea"/>
                <a:cs typeface="+mn-cs"/>
              </a:defRPr>
            </a:lvl3pPr>
            <a:lvl4pPr marL="16002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a:solidFill>
                  <a:schemeClr val="tx1"/>
                </a:solidFill>
                <a:latin typeface="UGent Panno Text" panose="02000506040000040003" pitchFamily="2" charset="0"/>
                <a:ea typeface="+mn-ea"/>
                <a:cs typeface="+mn-cs"/>
              </a:defRPr>
            </a:lvl4pPr>
            <a:lvl5pPr marL="2057400" indent="-228600" algn="l" defTabSz="914400" rtl="0" eaLnBrk="1" latinLnBrk="0" hangingPunct="1">
              <a:lnSpc>
                <a:spcPct val="90000"/>
              </a:lnSpc>
              <a:spcBef>
                <a:spcPts val="500"/>
              </a:spcBef>
              <a:buClr>
                <a:srgbClr val="1E64C8"/>
              </a:buClr>
              <a:buFont typeface="Arial" panose="020B0604020202020204" pitchFamily="34" charset="0"/>
              <a:buChar char="•"/>
              <a:defRPr sz="1800" kern="1200">
                <a:solidFill>
                  <a:schemeClr val="tx1"/>
                </a:solidFill>
                <a:latin typeface="UGent Panno Text" panose="0200050604000004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0" indent="-1143000">
              <a:buAutoNum type="arabicPeriod"/>
            </a:pPr>
            <a:r>
              <a:rPr lang="en-BE" sz="4000" dirty="0"/>
              <a:t>Zero-Forcing (ZF)</a:t>
            </a:r>
          </a:p>
          <a:p>
            <a:pPr marL="1143000" indent="-1143000">
              <a:buAutoNum type="arabicPeriod"/>
            </a:pPr>
            <a:r>
              <a:rPr lang="en-BE" sz="4000" dirty="0"/>
              <a:t>Zero-Forcing (ZF) + Heuristic LSV Combiner</a:t>
            </a:r>
          </a:p>
          <a:p>
            <a:pPr marL="1143000" indent="-1143000">
              <a:buAutoNum type="arabicPeriod"/>
            </a:pPr>
            <a:r>
              <a:rPr lang="en-BE" sz="4000" dirty="0"/>
              <a:t>Block-Diagonalization (BD)</a:t>
            </a:r>
          </a:p>
          <a:p>
            <a:pPr marL="1143000" indent="-1143000">
              <a:buAutoNum type="arabicPeriod"/>
            </a:pPr>
            <a:r>
              <a:rPr lang="en-BE" sz="4000" dirty="0"/>
              <a:t>Weighted Minimum Mean Squared Error (WMMSE)</a:t>
            </a:r>
          </a:p>
        </p:txBody>
      </p:sp>
    </p:spTree>
    <p:extLst>
      <p:ext uri="{BB962C8B-B14F-4D97-AF65-F5344CB8AC3E}">
        <p14:creationId xmlns:p14="http://schemas.microsoft.com/office/powerpoint/2010/main" val="2595423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59D79-2605-EC0B-06CE-90A854F6D152}"/>
              </a:ext>
            </a:extLst>
          </p:cNvPr>
          <p:cNvSpPr>
            <a:spLocks noGrp="1"/>
          </p:cNvSpPr>
          <p:nvPr>
            <p:ph type="title"/>
          </p:nvPr>
        </p:nvSpPr>
        <p:spPr/>
        <p:txBody>
          <a:bodyPr/>
          <a:lstStyle/>
          <a:p>
            <a:r>
              <a:rPr lang="en-BE" dirty="0"/>
              <a:t>Precoding Techniques – ZF</a:t>
            </a:r>
          </a:p>
        </p:txBody>
      </p:sp>
      <p:sp>
        <p:nvSpPr>
          <p:cNvPr id="8" name="TextBox 7">
            <a:extLst>
              <a:ext uri="{FF2B5EF4-FFF2-40B4-BE49-F238E27FC236}">
                <a16:creationId xmlns:a16="http://schemas.microsoft.com/office/drawing/2014/main" id="{98A04DB9-312E-00C3-CC30-967CABDBA7CE}"/>
              </a:ext>
            </a:extLst>
          </p:cNvPr>
          <p:cNvSpPr txBox="1"/>
          <p:nvPr/>
        </p:nvSpPr>
        <p:spPr>
          <a:xfrm>
            <a:off x="542609" y="1221773"/>
            <a:ext cx="3796232" cy="707886"/>
          </a:xfrm>
          <a:prstGeom prst="rect">
            <a:avLst/>
          </a:prstGeom>
          <a:noFill/>
        </p:spPr>
        <p:txBody>
          <a:bodyPr wrap="none" rtlCol="0">
            <a:spAutoFit/>
          </a:bodyPr>
          <a:lstStyle/>
          <a:p>
            <a:r>
              <a:rPr lang="en-BE" sz="2000" b="1" dirty="0"/>
              <a:t>GOAL:</a:t>
            </a:r>
            <a:r>
              <a:rPr lang="en-BE" sz="2000" dirty="0"/>
              <a:t> </a:t>
            </a:r>
          </a:p>
          <a:p>
            <a:r>
              <a:rPr lang="en-BE" sz="2000" dirty="0"/>
              <a:t>Cancel all interference (stream and user) </a:t>
            </a:r>
          </a:p>
        </p:txBody>
      </p:sp>
      <p:sp>
        <p:nvSpPr>
          <p:cNvPr id="10" name="TextBox 9">
            <a:extLst>
              <a:ext uri="{FF2B5EF4-FFF2-40B4-BE49-F238E27FC236}">
                <a16:creationId xmlns:a16="http://schemas.microsoft.com/office/drawing/2014/main" id="{CC126394-F966-FBA4-7FA5-7ED2B1D72196}"/>
              </a:ext>
            </a:extLst>
          </p:cNvPr>
          <p:cNvSpPr txBox="1"/>
          <p:nvPr/>
        </p:nvSpPr>
        <p:spPr>
          <a:xfrm>
            <a:off x="542609" y="2131243"/>
            <a:ext cx="6107762" cy="1015663"/>
          </a:xfrm>
          <a:prstGeom prst="rect">
            <a:avLst/>
          </a:prstGeom>
          <a:noFill/>
        </p:spPr>
        <p:txBody>
          <a:bodyPr wrap="none" rtlCol="0">
            <a:spAutoFit/>
          </a:bodyPr>
          <a:lstStyle/>
          <a:p>
            <a:r>
              <a:rPr lang="en-BE" sz="2000" b="1" dirty="0"/>
              <a:t>HOW: </a:t>
            </a:r>
          </a:p>
          <a:p>
            <a:pPr marL="342900" indent="-342900">
              <a:buFont typeface="Arial" panose="020B0604020202020204" pitchFamily="34" charset="0"/>
              <a:buChar char="•"/>
            </a:pPr>
            <a:r>
              <a:rPr lang="en-GB" sz="2000" dirty="0"/>
              <a:t>C</a:t>
            </a:r>
            <a:r>
              <a:rPr lang="en-BE" sz="2000" dirty="0"/>
              <a:t>hoose the precoder equal to the psuedo-inverse of the channel</a:t>
            </a:r>
          </a:p>
          <a:p>
            <a:pPr marL="342900" indent="-342900">
              <a:buFont typeface="Arial" panose="020B0604020202020204" pitchFamily="34" charset="0"/>
              <a:buChar char="•"/>
            </a:pPr>
            <a:r>
              <a:rPr lang="en-BE" sz="2000" dirty="0"/>
              <a:t>Waterfilling for power allocation</a:t>
            </a:r>
            <a:endParaRPr lang="en-BE"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B92D0B-4D15-E733-D5C3-468F5757ADA3}"/>
                  </a:ext>
                </a:extLst>
              </p:cNvPr>
              <p:cNvSpPr txBox="1"/>
              <p:nvPr/>
            </p:nvSpPr>
            <p:spPr>
              <a:xfrm>
                <a:off x="542609" y="3424083"/>
                <a:ext cx="9080363" cy="2212144"/>
              </a:xfrm>
              <a:prstGeom prst="rect">
                <a:avLst/>
              </a:prstGeom>
              <a:noFill/>
            </p:spPr>
            <p:txBody>
              <a:bodyPr wrap="square" rtlCol="0">
                <a:spAutoFit/>
              </a:bodyPr>
              <a:lstStyle/>
              <a:p>
                <a:r>
                  <a:rPr lang="en-BE" sz="2000" b="1" dirty="0"/>
                  <a:t>EQUATIONS: </a:t>
                </a:r>
              </a:p>
              <a:p>
                <a:pPr marL="742950" lvl="1" indent="-285750">
                  <a:lnSpc>
                    <a:spcPct val="150000"/>
                  </a:lnSpc>
                  <a:buFont typeface="Arial" panose="020B0604020202020204" pitchFamily="34" charset="0"/>
                  <a:buChar char="•"/>
                </a:pPr>
                <a:r>
                  <a:rPr lang="en-GB" sz="2000" dirty="0"/>
                  <a:t>S</a:t>
                </a:r>
                <a:r>
                  <a:rPr lang="en-BE" sz="2000" dirty="0"/>
                  <a:t>ystem equation:     </a:t>
                </a:r>
                <a14:m>
                  <m:oMath xmlns:m="http://schemas.openxmlformats.org/officeDocument/2006/math">
                    <m:r>
                      <a:rPr lang="en-US" sz="2000" b="1" i="0" smtClean="0">
                        <a:latin typeface="Cambria Math" panose="02040503050406030204" pitchFamily="18" charset="0"/>
                      </a:rPr>
                      <m:t>𝐳</m:t>
                    </m:r>
                    <m:r>
                      <a:rPr lang="en-US" sz="2000" b="1" i="0" smtClean="0">
                        <a:latin typeface="Cambria Math" panose="02040503050406030204" pitchFamily="18" charset="0"/>
                      </a:rPr>
                      <m:t> = </m:t>
                    </m:r>
                    <m:r>
                      <a:rPr lang="en-US" sz="2000" b="1" i="0" smtClean="0">
                        <a:latin typeface="Cambria Math" panose="02040503050406030204" pitchFamily="18" charset="0"/>
                      </a:rPr>
                      <m:t>𝐆𝐇𝐅</m:t>
                    </m:r>
                    <m:r>
                      <a:rPr lang="en-US" sz="2000" b="1" i="1" smtClean="0">
                        <a:latin typeface="Cambria Math" panose="02040503050406030204" pitchFamily="18" charset="0"/>
                      </a:rPr>
                      <m:t>⋅</m:t>
                    </m:r>
                    <m:r>
                      <a:rPr lang="en-US" sz="2000" b="1" i="0" smtClean="0">
                        <a:latin typeface="Cambria Math" panose="02040503050406030204" pitchFamily="18" charset="0"/>
                      </a:rPr>
                      <m:t>𝐚</m:t>
                    </m:r>
                    <m:r>
                      <a:rPr lang="en-US" sz="2000" b="1" i="0" smtClean="0">
                        <a:latin typeface="Cambria Math" panose="02040503050406030204" pitchFamily="18" charset="0"/>
                      </a:rPr>
                      <m:t> + </m:t>
                    </m:r>
                    <m:r>
                      <a:rPr lang="en-US" sz="2000" b="1" i="0" smtClean="0">
                        <a:latin typeface="Cambria Math" panose="02040503050406030204" pitchFamily="18" charset="0"/>
                      </a:rPr>
                      <m:t>𝐆</m:t>
                    </m:r>
                    <m:r>
                      <a:rPr lang="en-US" sz="2000" b="1" i="0" smtClean="0">
                        <a:latin typeface="Cambria Math" panose="02040503050406030204" pitchFamily="18" charset="0"/>
                      </a:rPr>
                      <m:t> </m:t>
                    </m:r>
                    <m:r>
                      <a:rPr lang="en-US" sz="2000" b="1" i="0" smtClean="0">
                        <a:latin typeface="Cambria Math" panose="02040503050406030204" pitchFamily="18" charset="0"/>
                      </a:rPr>
                      <m:t>𝐧</m:t>
                    </m:r>
                  </m:oMath>
                </a14:m>
                <a:endParaRPr lang="en-BE" sz="2000" b="1" dirty="0"/>
              </a:p>
              <a:p>
                <a:pPr marL="742950" lvl="1" indent="-285750">
                  <a:lnSpc>
                    <a:spcPct val="150000"/>
                  </a:lnSpc>
                  <a:buFont typeface="Arial" panose="020B0604020202020204" pitchFamily="34" charset="0"/>
                  <a:buChar char="•"/>
                </a:pPr>
                <a:r>
                  <a:rPr lang="en-GB" sz="2000" dirty="0"/>
                  <a:t>N</a:t>
                </a:r>
                <a:r>
                  <a:rPr lang="en-BE" sz="2000" dirty="0"/>
                  <a:t>o combiner used:   </a:t>
                </a:r>
                <a14:m>
                  <m:oMath xmlns:m="http://schemas.openxmlformats.org/officeDocument/2006/math">
                    <m:r>
                      <a:rPr lang="en-US" sz="2000" b="1">
                        <a:latin typeface="Cambria Math" panose="02040503050406030204" pitchFamily="18" charset="0"/>
                      </a:rPr>
                      <m:t>𝐳</m:t>
                    </m:r>
                    <m:r>
                      <a:rPr lang="en-US" sz="2000" b="1">
                        <a:latin typeface="Cambria Math" panose="02040503050406030204" pitchFamily="18" charset="0"/>
                      </a:rPr>
                      <m:t> = </m:t>
                    </m:r>
                    <m:r>
                      <a:rPr lang="en-US" sz="2000" b="1" i="0" smtClean="0">
                        <a:latin typeface="Cambria Math" panose="02040503050406030204" pitchFamily="18" charset="0"/>
                      </a:rPr>
                      <m:t>𝐈</m:t>
                    </m:r>
                    <m:r>
                      <a:rPr lang="en-US" sz="2000" b="1">
                        <a:latin typeface="Cambria Math" panose="02040503050406030204" pitchFamily="18" charset="0"/>
                      </a:rPr>
                      <m:t>𝐇𝐅</m:t>
                    </m:r>
                    <m:r>
                      <a:rPr lang="en-US" sz="2000" b="1" i="1" smtClean="0">
                        <a:latin typeface="Cambria Math" panose="02040503050406030204" pitchFamily="18" charset="0"/>
                      </a:rPr>
                      <m:t>⋅</m:t>
                    </m:r>
                    <m:r>
                      <a:rPr lang="en-US" sz="2000" b="1">
                        <a:latin typeface="Cambria Math" panose="02040503050406030204" pitchFamily="18" charset="0"/>
                      </a:rPr>
                      <m:t>𝐚</m:t>
                    </m:r>
                    <m:r>
                      <a:rPr lang="en-US" sz="2000" b="1">
                        <a:latin typeface="Cambria Math" panose="02040503050406030204" pitchFamily="18" charset="0"/>
                      </a:rPr>
                      <m:t> + </m:t>
                    </m:r>
                    <m:r>
                      <a:rPr lang="en-US" sz="2000" b="1" i="0" smtClean="0">
                        <a:latin typeface="Cambria Math" panose="02040503050406030204" pitchFamily="18" charset="0"/>
                      </a:rPr>
                      <m:t>𝐈</m:t>
                    </m:r>
                    <m:r>
                      <a:rPr lang="en-US" sz="2000" b="1">
                        <a:latin typeface="Cambria Math" panose="02040503050406030204" pitchFamily="18" charset="0"/>
                      </a:rPr>
                      <m:t>𝐧</m:t>
                    </m:r>
                    <m:r>
                      <a:rPr lang="en-US" sz="2000" b="1" i="0" smtClean="0">
                        <a:latin typeface="Cambria Math" panose="02040503050406030204" pitchFamily="18" charset="0"/>
                      </a:rPr>
                      <m:t> = </m:t>
                    </m:r>
                    <m:r>
                      <a:rPr lang="en-US" sz="2000" b="1" i="0" smtClean="0">
                        <a:latin typeface="Cambria Math" panose="02040503050406030204" pitchFamily="18" charset="0"/>
                      </a:rPr>
                      <m:t>𝐇𝐅</m:t>
                    </m:r>
                    <m:r>
                      <a:rPr lang="en-US" sz="2000" b="1" i="0" smtClean="0">
                        <a:latin typeface="Cambria Math" panose="02040503050406030204" pitchFamily="18" charset="0"/>
                      </a:rPr>
                      <m:t>⋅</m:t>
                    </m:r>
                    <m:r>
                      <a:rPr lang="en-US" sz="2000" b="1" i="0" smtClean="0">
                        <a:latin typeface="Cambria Math" panose="02040503050406030204" pitchFamily="18" charset="0"/>
                      </a:rPr>
                      <m:t>𝐚</m:t>
                    </m:r>
                    <m:r>
                      <a:rPr lang="en-US" sz="2000" b="1" i="0" smtClean="0">
                        <a:latin typeface="Cambria Math" panose="02040503050406030204" pitchFamily="18" charset="0"/>
                      </a:rPr>
                      <m:t> + </m:t>
                    </m:r>
                    <m:r>
                      <a:rPr lang="en-US" sz="2000" b="1" i="0" smtClean="0">
                        <a:latin typeface="Cambria Math" panose="02040503050406030204" pitchFamily="18" charset="0"/>
                      </a:rPr>
                      <m:t>𝐧</m:t>
                    </m:r>
                  </m:oMath>
                </a14:m>
                <a:endParaRPr lang="en-BE" sz="2000" b="1" dirty="0"/>
              </a:p>
              <a:p>
                <a:pPr marL="742950" lvl="1" indent="-285750">
                  <a:lnSpc>
                    <a:spcPct val="150000"/>
                  </a:lnSpc>
                  <a:buFont typeface="Arial" panose="020B0604020202020204" pitchFamily="34" charset="0"/>
                  <a:buChar char="•"/>
                </a:pPr>
                <a:r>
                  <a:rPr lang="en-BE" sz="2000" dirty="0"/>
                  <a:t>Precoder Matrix:      </a:t>
                </a:r>
                <a14:m>
                  <m:oMath xmlns:m="http://schemas.openxmlformats.org/officeDocument/2006/math">
                    <m:r>
                      <a:rPr lang="en-US" sz="2000" b="1" i="0" smtClean="0">
                        <a:latin typeface="Cambria Math" panose="02040503050406030204" pitchFamily="18" charset="0"/>
                      </a:rPr>
                      <m:t>𝐓</m:t>
                    </m:r>
                    <m:r>
                      <a:rPr lang="en-US" sz="2000" b="0" i="1" smtClean="0">
                        <a:latin typeface="Cambria Math" panose="02040503050406030204" pitchFamily="18" charset="0"/>
                      </a:rPr>
                      <m:t> = </m:t>
                    </m:r>
                    <m:r>
                      <a:rPr lang="en-US" sz="2000" b="1" i="0" smtClean="0">
                        <a:latin typeface="Cambria Math" panose="02040503050406030204" pitchFamily="18" charset="0"/>
                      </a:rPr>
                      <m:t>𝐇𝐅</m:t>
                    </m:r>
                    <m:r>
                      <a:rPr lang="en-US" sz="2000" b="0" i="1" smtClean="0">
                        <a:latin typeface="Cambria Math" panose="02040503050406030204" pitchFamily="18" charset="0"/>
                      </a:rPr>
                      <m:t> = </m:t>
                    </m:r>
                    <m:r>
                      <a:rPr lang="en-US" sz="2000" b="1" i="0" smtClean="0">
                        <a:latin typeface="Cambria Math" panose="02040503050406030204" pitchFamily="18" charset="0"/>
                      </a:rPr>
                      <m:t>𝐈</m:t>
                    </m:r>
                    <m:r>
                      <a:rPr lang="en-US" sz="2000" b="1" i="0" smtClean="0">
                        <a:latin typeface="Cambria Math" panose="02040503050406030204" pitchFamily="18" charset="0"/>
                      </a:rPr>
                      <m:t> </m:t>
                    </m:r>
                    <m:r>
                      <a:rPr lang="en-US" sz="2000" b="1" i="0" smtClean="0">
                        <a:latin typeface="Cambria Math" panose="02040503050406030204" pitchFamily="18" charset="0"/>
                      </a:rPr>
                      <m:t>𝐏</m:t>
                    </m:r>
                    <m:r>
                      <a:rPr lang="en-US" sz="2000" b="0" i="1" smtClean="0">
                        <a:latin typeface="Cambria Math" panose="02040503050406030204" pitchFamily="18" charset="0"/>
                      </a:rPr>
                      <m:t> ⟺ </m:t>
                    </m:r>
                    <m:r>
                      <a:rPr lang="en-US" sz="2000" b="1" i="0" smtClean="0">
                        <a:latin typeface="Cambria Math" panose="02040503050406030204" pitchFamily="18" charset="0"/>
                      </a:rPr>
                      <m:t>𝐅</m:t>
                    </m:r>
                    <m:r>
                      <a:rPr lang="en-US" sz="2000" b="0" i="1" smtClean="0">
                        <a:latin typeface="Cambria Math" panose="02040503050406030204" pitchFamily="18" charset="0"/>
                      </a:rPr>
                      <m:t> = </m:t>
                    </m:r>
                    <m:sSup>
                      <m:sSupPr>
                        <m:ctrlPr>
                          <a:rPr lang="en-US" sz="2000" b="0" i="1" smtClean="0">
                            <a:latin typeface="Cambria Math" panose="02040503050406030204" pitchFamily="18" charset="0"/>
                          </a:rPr>
                        </m:ctrlPr>
                      </m:sSupPr>
                      <m:e>
                        <m:r>
                          <a:rPr lang="en-US" sz="2000" b="1" i="0" smtClean="0">
                            <a:latin typeface="Cambria Math" panose="02040503050406030204" pitchFamily="18" charset="0"/>
                          </a:rPr>
                          <m:t>𝐇</m:t>
                        </m:r>
                      </m:e>
                      <m:sup>
                        <m:r>
                          <m:rPr>
                            <m:sty m:val="p"/>
                          </m:rPr>
                          <a:rPr lang="en-US" sz="2000" b="0" i="1" smtClean="0">
                            <a:latin typeface="Cambria Math" panose="02040503050406030204" pitchFamily="18" charset="0"/>
                          </a:rPr>
                          <m:t>H</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1" i="0" smtClean="0">
                            <a:latin typeface="Cambria Math" panose="02040503050406030204" pitchFamily="18" charset="0"/>
                          </a:rPr>
                          <m:t>𝐇</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1" i="0" smtClean="0">
                                <a:latin typeface="Cambria Math" panose="02040503050406030204" pitchFamily="18" charset="0"/>
                              </a:rPr>
                              <m:t>𝐇</m:t>
                            </m:r>
                          </m:e>
                          <m:sup>
                            <m:r>
                              <m:rPr>
                                <m:sty m:val="p"/>
                              </m:rPr>
                              <a:rPr lang="en-US" sz="2000" b="0" i="1" smtClean="0">
                                <a:latin typeface="Cambria Math" panose="02040503050406030204" pitchFamily="18" charset="0"/>
                              </a:rPr>
                              <m:t>H</m:t>
                            </m:r>
                          </m:sup>
                        </m:sSup>
                        <m:r>
                          <a:rPr lang="en-US" sz="2000" b="0" i="1" smtClean="0">
                            <a:latin typeface="Cambria Math" panose="02040503050406030204" pitchFamily="18" charset="0"/>
                          </a:rPr>
                          <m:t>)</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 ⋅ </m:t>
                    </m:r>
                    <m:r>
                      <a:rPr lang="en-US" sz="2000" b="1" i="0" smtClean="0">
                        <a:latin typeface="Cambria Math" panose="02040503050406030204" pitchFamily="18" charset="0"/>
                      </a:rPr>
                      <m:t>𝐏</m:t>
                    </m:r>
                  </m:oMath>
                </a14:m>
                <a:endParaRPr lang="en-BE" sz="2000" b="1" dirty="0"/>
              </a:p>
              <a:p>
                <a:pPr marL="742950" lvl="1" indent="-285750">
                  <a:lnSpc>
                    <a:spcPct val="150000"/>
                  </a:lnSpc>
                  <a:buFont typeface="Arial" panose="020B0604020202020204" pitchFamily="34" charset="0"/>
                  <a:buChar char="•"/>
                </a:pPr>
                <a:r>
                  <a:rPr lang="en-BE" sz="2000" dirty="0"/>
                  <a:t>Result:                       </a:t>
                </a:r>
                <a14:m>
                  <m:oMath xmlns:m="http://schemas.openxmlformats.org/officeDocument/2006/math">
                    <m:r>
                      <a:rPr lang="en-US" sz="2000" b="1">
                        <a:latin typeface="Cambria Math" panose="02040503050406030204" pitchFamily="18" charset="0"/>
                      </a:rPr>
                      <m:t>𝐳</m:t>
                    </m:r>
                    <m:r>
                      <a:rPr lang="en-US" sz="2000" b="1">
                        <a:latin typeface="Cambria Math" panose="02040503050406030204" pitchFamily="18" charset="0"/>
                      </a:rPr>
                      <m:t> = </m:t>
                    </m:r>
                    <m:r>
                      <a:rPr lang="en-US" sz="2000" b="1" i="0" smtClean="0">
                        <a:latin typeface="Cambria Math" panose="02040503050406030204" pitchFamily="18" charset="0"/>
                      </a:rPr>
                      <m:t>𝐏</m:t>
                    </m:r>
                    <m:r>
                      <a:rPr lang="en-US" sz="2000" b="1" i="0" smtClean="0">
                        <a:latin typeface="Cambria Math" panose="02040503050406030204" pitchFamily="18" charset="0"/>
                      </a:rPr>
                      <m:t> </m:t>
                    </m:r>
                    <m:r>
                      <a:rPr lang="en-US" sz="2000" b="1">
                        <a:latin typeface="Cambria Math" panose="02040503050406030204" pitchFamily="18" charset="0"/>
                      </a:rPr>
                      <m:t>𝐚</m:t>
                    </m:r>
                    <m:r>
                      <a:rPr lang="en-US" sz="2000" b="1">
                        <a:latin typeface="Cambria Math" panose="02040503050406030204" pitchFamily="18" charset="0"/>
                      </a:rPr>
                      <m:t> + </m:t>
                    </m:r>
                    <m:r>
                      <a:rPr lang="en-US" sz="2000" b="1">
                        <a:latin typeface="Cambria Math" panose="02040503050406030204" pitchFamily="18" charset="0"/>
                      </a:rPr>
                      <m:t>𝐧</m:t>
                    </m:r>
                  </m:oMath>
                </a14:m>
                <a:endParaRPr lang="en-BE" sz="2000" dirty="0"/>
              </a:p>
            </p:txBody>
          </p:sp>
        </mc:Choice>
        <mc:Fallback xmlns="">
          <p:sp>
            <p:nvSpPr>
              <p:cNvPr id="12" name="TextBox 11">
                <a:extLst>
                  <a:ext uri="{FF2B5EF4-FFF2-40B4-BE49-F238E27FC236}">
                    <a16:creationId xmlns:a16="http://schemas.microsoft.com/office/drawing/2014/main" id="{2CB92D0B-4D15-E733-D5C3-468F5757ADA3}"/>
                  </a:ext>
                </a:extLst>
              </p:cNvPr>
              <p:cNvSpPr txBox="1">
                <a:spLocks noRot="1" noChangeAspect="1" noMove="1" noResize="1" noEditPoints="1" noAdjustHandles="1" noChangeArrowheads="1" noChangeShapeType="1" noTextEdit="1"/>
              </p:cNvSpPr>
              <p:nvPr/>
            </p:nvSpPr>
            <p:spPr>
              <a:xfrm>
                <a:off x="542609" y="3424083"/>
                <a:ext cx="9080363" cy="2212144"/>
              </a:xfrm>
              <a:prstGeom prst="rect">
                <a:avLst/>
              </a:prstGeom>
              <a:blipFill>
                <a:blip r:embed="rId2"/>
                <a:stretch>
                  <a:fillRect l="-698" t="-1705" b="-3977"/>
                </a:stretch>
              </a:blipFill>
            </p:spPr>
            <p:txBody>
              <a:bodyPr/>
              <a:lstStyle/>
              <a:p>
                <a:r>
                  <a:rPr lang="en-BE">
                    <a:noFill/>
                  </a:rPr>
                  <a:t> </a:t>
                </a:r>
              </a:p>
            </p:txBody>
          </p:sp>
        </mc:Fallback>
      </mc:AlternateContent>
    </p:spTree>
    <p:extLst>
      <p:ext uri="{BB962C8B-B14F-4D97-AF65-F5344CB8AC3E}">
        <p14:creationId xmlns:p14="http://schemas.microsoft.com/office/powerpoint/2010/main" val="29968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66B5774-1BB1-1B97-38F9-97F11418DF8C}"/>
                  </a:ext>
                </a:extLst>
              </p:cNvPr>
              <p:cNvSpPr>
                <a:spLocks noGrp="1"/>
              </p:cNvSpPr>
              <p:nvPr>
                <p:ph type="body" sz="quarter" idx="10"/>
              </p:nvPr>
            </p:nvSpPr>
            <p:spPr>
              <a:xfrm>
                <a:off x="542609" y="1045368"/>
                <a:ext cx="10893106" cy="549275"/>
              </a:xfrm>
            </p:spPr>
            <p:txBody>
              <a:bodyPr/>
              <a:lstStyle/>
              <a:p>
                <a:pPr/>
                <a14:m>
                  <m:oMathPara xmlns:m="http://schemas.openxmlformats.org/officeDocument/2006/math">
                    <m:oMathParaPr>
                      <m:jc m:val="left"/>
                    </m:oMathParaPr>
                    <m:oMath xmlns:m="http://schemas.openxmlformats.org/officeDocument/2006/math">
                      <m:r>
                        <m:rPr>
                          <m:sty m:val="p"/>
                        </m:rPr>
                        <a:rPr lang="en-US" b="0" i="1" smtClean="0">
                          <a:latin typeface="Cambria Math" panose="02040503050406030204" pitchFamily="18" charset="0"/>
                        </a:rPr>
                        <m:t>Nt</m:t>
                      </m:r>
                      <m:r>
                        <a:rPr lang="en-US" b="0" i="1" smtClean="0">
                          <a:latin typeface="Cambria Math" panose="02040503050406030204" pitchFamily="18" charset="0"/>
                        </a:rPr>
                        <m:t>=2,  </m:t>
                      </m:r>
                      <m:r>
                        <m:rPr>
                          <m:sty m:val="p"/>
                        </m:rPr>
                        <a:rPr lang="en-US" b="0" i="1" smtClean="0">
                          <a:latin typeface="Cambria Math" panose="02040503050406030204" pitchFamily="18" charset="0"/>
                        </a:rPr>
                        <m:t>Nr</m:t>
                      </m:r>
                      <m:r>
                        <a:rPr lang="en-US" b="0" i="1" smtClean="0">
                          <a:latin typeface="Cambria Math" panose="02040503050406030204" pitchFamily="18" charset="0"/>
                        </a:rPr>
                        <m:t>=1,  </m:t>
                      </m:r>
                      <m:r>
                        <m:rPr>
                          <m:sty m:val="p"/>
                        </m:rPr>
                        <a:rPr lang="en-US" b="0" i="1" smtClean="0">
                          <a:latin typeface="Cambria Math" panose="02040503050406030204" pitchFamily="18" charset="0"/>
                        </a:rPr>
                        <m:t>K</m:t>
                      </m:r>
                      <m:r>
                        <a:rPr lang="en-US" b="0" i="1" smtClean="0">
                          <a:latin typeface="Cambria Math" panose="02040503050406030204" pitchFamily="18" charset="0"/>
                        </a:rPr>
                        <m:t>=1</m:t>
                      </m:r>
                    </m:oMath>
                  </m:oMathPara>
                </a14:m>
                <a:endParaRPr lang="en-BE" dirty="0"/>
              </a:p>
            </p:txBody>
          </p:sp>
        </mc:Choice>
        <mc:Fallback xmlns="">
          <p:sp>
            <p:nvSpPr>
              <p:cNvPr id="3" name="Text Placeholder 2">
                <a:extLst>
                  <a:ext uri="{FF2B5EF4-FFF2-40B4-BE49-F238E27FC236}">
                    <a16:creationId xmlns:a16="http://schemas.microsoft.com/office/drawing/2014/main" id="{766B5774-1BB1-1B97-38F9-97F11418DF8C}"/>
                  </a:ext>
                </a:extLst>
              </p:cNvPr>
              <p:cNvSpPr>
                <a:spLocks noGrp="1" noRot="1" noChangeAspect="1" noMove="1" noResize="1" noEditPoints="1" noAdjustHandles="1" noChangeArrowheads="1" noChangeShapeType="1" noTextEdit="1"/>
              </p:cNvSpPr>
              <p:nvPr>
                <p:ph type="body" sz="quarter" idx="10"/>
              </p:nvPr>
            </p:nvSpPr>
            <p:spPr>
              <a:xfrm>
                <a:off x="542609" y="1045368"/>
                <a:ext cx="10893106" cy="549275"/>
              </a:xfrm>
              <a:blipFill>
                <a:blip r:embed="rId3"/>
                <a:stretch>
                  <a:fillRect l="-233" t="-6818" b="-9091"/>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F0B57638-E7CD-8B0A-CAAA-B04E7D02F7DA}"/>
              </a:ext>
            </a:extLst>
          </p:cNvPr>
          <p:cNvSpPr>
            <a:spLocks noGrp="1"/>
          </p:cNvSpPr>
          <p:nvPr>
            <p:ph type="title"/>
          </p:nvPr>
        </p:nvSpPr>
        <p:spPr/>
        <p:txBody>
          <a:bodyPr/>
          <a:lstStyle/>
          <a:p>
            <a:r>
              <a:rPr lang="en-BE" dirty="0"/>
              <a:t>Precoding Techniques – ZF</a:t>
            </a:r>
          </a:p>
        </p:txBody>
      </p:sp>
      <p:pic>
        <p:nvPicPr>
          <p:cNvPr id="7" name="Picture 6">
            <a:extLst>
              <a:ext uri="{FF2B5EF4-FFF2-40B4-BE49-F238E27FC236}">
                <a16:creationId xmlns:a16="http://schemas.microsoft.com/office/drawing/2014/main" id="{70393DB0-34F5-0A31-5F89-AD525548C57A}"/>
              </a:ext>
            </a:extLst>
          </p:cNvPr>
          <p:cNvPicPr>
            <a:picLocks noChangeAspect="1"/>
          </p:cNvPicPr>
          <p:nvPr/>
        </p:nvPicPr>
        <p:blipFill>
          <a:blip r:embed="rId4"/>
          <a:stretch>
            <a:fillRect/>
          </a:stretch>
        </p:blipFill>
        <p:spPr>
          <a:xfrm>
            <a:off x="3795497" y="1939024"/>
            <a:ext cx="4993500" cy="4280143"/>
          </a:xfrm>
          <a:prstGeom prst="rect">
            <a:avLst/>
          </a:prstGeom>
        </p:spPr>
      </p:pic>
      <p:pic>
        <p:nvPicPr>
          <p:cNvPr id="5" name="Picture 4">
            <a:extLst>
              <a:ext uri="{FF2B5EF4-FFF2-40B4-BE49-F238E27FC236}">
                <a16:creationId xmlns:a16="http://schemas.microsoft.com/office/drawing/2014/main" id="{FADD0860-4051-DEBC-E5FE-416735BF4BF1}"/>
              </a:ext>
            </a:extLst>
          </p:cNvPr>
          <p:cNvPicPr>
            <a:picLocks noChangeAspect="1"/>
          </p:cNvPicPr>
          <p:nvPr/>
        </p:nvPicPr>
        <p:blipFill>
          <a:blip r:embed="rId5"/>
          <a:stretch>
            <a:fillRect/>
          </a:stretch>
        </p:blipFill>
        <p:spPr>
          <a:xfrm>
            <a:off x="6442215" y="1939023"/>
            <a:ext cx="4993500" cy="4280143"/>
          </a:xfrm>
          <a:prstGeom prst="rect">
            <a:avLst/>
          </a:prstGeom>
        </p:spPr>
      </p:pic>
    </p:spTree>
    <p:extLst>
      <p:ext uri="{BB962C8B-B14F-4D97-AF65-F5344CB8AC3E}">
        <p14:creationId xmlns:p14="http://schemas.microsoft.com/office/powerpoint/2010/main" val="125730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375E-6 4.07407E-6 L -0.20469 -0.0007 " pathEditMode="fixed" rAng="0" ptsTypes="AA">
                                      <p:cBhvr>
                                        <p:cTn id="6" dur="1000" fill="hold"/>
                                        <p:tgtEl>
                                          <p:spTgt spid="7"/>
                                        </p:tgtEl>
                                        <p:attrNameLst>
                                          <p:attrName>ppt_x</p:attrName>
                                          <p:attrName>ppt_y</p:attrName>
                                        </p:attrNameLst>
                                      </p:cBhvr>
                                      <p:rCtr x="-10234" y="-46"/>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90123D-EE23-3177-FC9C-82D9EA143FE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BAF310-1125-8CCB-B92B-8CF31B225FFA}"/>
              </a:ext>
            </a:extLst>
          </p:cNvPr>
          <p:cNvSpPr txBox="1"/>
          <p:nvPr/>
        </p:nvSpPr>
        <p:spPr>
          <a:xfrm>
            <a:off x="276225" y="5753100"/>
            <a:ext cx="923925" cy="853904"/>
          </a:xfrm>
          <a:prstGeom prst="rect">
            <a:avLst/>
          </a:prstGeom>
          <a:solidFill>
            <a:schemeClr val="bg1"/>
          </a:solidFill>
        </p:spPr>
        <p:txBody>
          <a:bodyPr wrap="square" rtlCol="0">
            <a:spAutoFit/>
          </a:bodyPr>
          <a:lstStyle/>
          <a:p>
            <a:endParaRPr lang="en-BE"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5BD8E3-D148-9840-CE82-7AD858C5363A}"/>
                  </a:ext>
                </a:extLst>
              </p:cNvPr>
              <p:cNvSpPr>
                <a:spLocks noGrp="1"/>
              </p:cNvSpPr>
              <p:nvPr>
                <p:ph type="body" sz="quarter" idx="10"/>
              </p:nvPr>
            </p:nvSpPr>
            <p:spPr>
              <a:xfrm>
                <a:off x="542609" y="1045368"/>
                <a:ext cx="10893106" cy="549275"/>
              </a:xfrm>
            </p:spPr>
            <p:txBody>
              <a:bodyPr/>
              <a:lstStyle/>
              <a:p>
                <a:pPr/>
                <a14:m>
                  <m:oMathPara xmlns:m="http://schemas.openxmlformats.org/officeDocument/2006/math">
                    <m:oMathParaPr>
                      <m:jc m:val="left"/>
                    </m:oMathParaPr>
                    <m:oMath xmlns:m="http://schemas.openxmlformats.org/officeDocument/2006/math">
                      <m:r>
                        <m:rPr>
                          <m:sty m:val="p"/>
                        </m:rPr>
                        <a:rPr lang="en-US" b="0" i="1" smtClean="0">
                          <a:latin typeface="Cambria Math" panose="02040503050406030204" pitchFamily="18" charset="0"/>
                        </a:rPr>
                        <m:t>Nt</m:t>
                      </m:r>
                      <m:r>
                        <a:rPr lang="en-US" b="0" i="1" smtClean="0">
                          <a:latin typeface="Cambria Math" panose="02040503050406030204" pitchFamily="18" charset="0"/>
                        </a:rPr>
                        <m:t>=2,  </m:t>
                      </m:r>
                      <m:r>
                        <m:rPr>
                          <m:sty m:val="p"/>
                        </m:rPr>
                        <a:rPr lang="en-US" b="0" i="1" smtClean="0">
                          <a:latin typeface="Cambria Math" panose="02040503050406030204" pitchFamily="18" charset="0"/>
                        </a:rPr>
                        <m:t>Nr</m:t>
                      </m:r>
                      <m:r>
                        <a:rPr lang="en-US" b="0" i="1" smtClean="0">
                          <a:latin typeface="Cambria Math" panose="02040503050406030204" pitchFamily="18" charset="0"/>
                        </a:rPr>
                        <m:t>=1,  </m:t>
                      </m:r>
                      <m:r>
                        <m:rPr>
                          <m:sty m:val="p"/>
                        </m:rPr>
                        <a:rPr lang="en-US" b="0" i="1" smtClean="0">
                          <a:latin typeface="Cambria Math" panose="02040503050406030204" pitchFamily="18" charset="0"/>
                        </a:rPr>
                        <m:t>K</m:t>
                      </m:r>
                      <m:r>
                        <a:rPr lang="en-US" b="0" i="1" smtClean="0">
                          <a:latin typeface="Cambria Math" panose="02040503050406030204" pitchFamily="18" charset="0"/>
                        </a:rPr>
                        <m:t>=2</m:t>
                      </m:r>
                    </m:oMath>
                  </m:oMathPara>
                </a14:m>
                <a:endParaRPr lang="en-BE" dirty="0"/>
              </a:p>
            </p:txBody>
          </p:sp>
        </mc:Choice>
        <mc:Fallback xmlns="">
          <p:sp>
            <p:nvSpPr>
              <p:cNvPr id="3" name="Text Placeholder 2">
                <a:extLst>
                  <a:ext uri="{FF2B5EF4-FFF2-40B4-BE49-F238E27FC236}">
                    <a16:creationId xmlns:a16="http://schemas.microsoft.com/office/drawing/2014/main" id="{B75BD8E3-D148-9840-CE82-7AD858C5363A}"/>
                  </a:ext>
                </a:extLst>
              </p:cNvPr>
              <p:cNvSpPr>
                <a:spLocks noGrp="1" noRot="1" noChangeAspect="1" noMove="1" noResize="1" noEditPoints="1" noAdjustHandles="1" noChangeArrowheads="1" noChangeShapeType="1" noTextEdit="1"/>
              </p:cNvSpPr>
              <p:nvPr>
                <p:ph type="body" sz="quarter" idx="10"/>
              </p:nvPr>
            </p:nvSpPr>
            <p:spPr>
              <a:xfrm>
                <a:off x="542609" y="1045368"/>
                <a:ext cx="10893106" cy="549275"/>
              </a:xfrm>
              <a:blipFill>
                <a:blip r:embed="rId2"/>
                <a:stretch>
                  <a:fillRect l="-233" t="-6818" b="-9091"/>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50496101-54A1-D512-1131-A649B01892B6}"/>
              </a:ext>
            </a:extLst>
          </p:cNvPr>
          <p:cNvSpPr>
            <a:spLocks noGrp="1"/>
          </p:cNvSpPr>
          <p:nvPr>
            <p:ph type="title"/>
          </p:nvPr>
        </p:nvSpPr>
        <p:spPr/>
        <p:txBody>
          <a:bodyPr/>
          <a:lstStyle/>
          <a:p>
            <a:r>
              <a:rPr lang="en-BE" dirty="0"/>
              <a:t>Precoding Techniques – ZF</a:t>
            </a:r>
          </a:p>
        </p:txBody>
      </p:sp>
      <p:pic>
        <p:nvPicPr>
          <p:cNvPr id="2" name="Picture 1">
            <a:extLst>
              <a:ext uri="{FF2B5EF4-FFF2-40B4-BE49-F238E27FC236}">
                <a16:creationId xmlns:a16="http://schemas.microsoft.com/office/drawing/2014/main" id="{6F1ABB54-2920-EB59-6FC1-6B55057FB05B}"/>
              </a:ext>
            </a:extLst>
          </p:cNvPr>
          <p:cNvPicPr>
            <a:picLocks noChangeAspect="1"/>
          </p:cNvPicPr>
          <p:nvPr/>
        </p:nvPicPr>
        <p:blipFill>
          <a:blip r:embed="rId3"/>
          <a:stretch>
            <a:fillRect/>
          </a:stretch>
        </p:blipFill>
        <p:spPr>
          <a:xfrm>
            <a:off x="3952783" y="2098166"/>
            <a:ext cx="5357813" cy="4592410"/>
          </a:xfrm>
          <a:prstGeom prst="rect">
            <a:avLst/>
          </a:prstGeom>
        </p:spPr>
      </p:pic>
      <p:pic>
        <p:nvPicPr>
          <p:cNvPr id="5" name="Picture 4">
            <a:extLst>
              <a:ext uri="{FF2B5EF4-FFF2-40B4-BE49-F238E27FC236}">
                <a16:creationId xmlns:a16="http://schemas.microsoft.com/office/drawing/2014/main" id="{A92F3288-5A75-8A63-AEC6-42E126806857}"/>
              </a:ext>
            </a:extLst>
          </p:cNvPr>
          <p:cNvPicPr>
            <a:picLocks noChangeAspect="1"/>
          </p:cNvPicPr>
          <p:nvPr/>
        </p:nvPicPr>
        <p:blipFill>
          <a:blip r:embed="rId4"/>
          <a:stretch>
            <a:fillRect/>
          </a:stretch>
        </p:blipFill>
        <p:spPr>
          <a:xfrm>
            <a:off x="6278426" y="2098166"/>
            <a:ext cx="5357813" cy="4592410"/>
          </a:xfrm>
          <a:prstGeom prst="rect">
            <a:avLst/>
          </a:prstGeom>
        </p:spPr>
      </p:pic>
      <p:sp>
        <p:nvSpPr>
          <p:cNvPr id="8" name="TextBox 7">
            <a:extLst>
              <a:ext uri="{FF2B5EF4-FFF2-40B4-BE49-F238E27FC236}">
                <a16:creationId xmlns:a16="http://schemas.microsoft.com/office/drawing/2014/main" id="{435AA678-BF53-8DDF-3FE7-FC50CEE3462C}"/>
              </a:ext>
            </a:extLst>
          </p:cNvPr>
          <p:cNvSpPr txBox="1"/>
          <p:nvPr/>
        </p:nvSpPr>
        <p:spPr>
          <a:xfrm>
            <a:off x="5330693" y="1852260"/>
            <a:ext cx="2601994" cy="369332"/>
          </a:xfrm>
          <a:prstGeom prst="rect">
            <a:avLst/>
          </a:prstGeom>
          <a:noFill/>
        </p:spPr>
        <p:txBody>
          <a:bodyPr wrap="none" rtlCol="0">
            <a:spAutoFit/>
          </a:bodyPr>
          <a:lstStyle/>
          <a:p>
            <a:r>
              <a:rPr lang="en-GB" dirty="0"/>
              <a:t>F</a:t>
            </a:r>
            <a:r>
              <a:rPr lang="en-BE" dirty="0"/>
              <a:t>avourable Channel Conditions</a:t>
            </a:r>
          </a:p>
        </p:txBody>
      </p:sp>
      <p:sp>
        <p:nvSpPr>
          <p:cNvPr id="9" name="TextBox 8">
            <a:extLst>
              <a:ext uri="{FF2B5EF4-FFF2-40B4-BE49-F238E27FC236}">
                <a16:creationId xmlns:a16="http://schemas.microsoft.com/office/drawing/2014/main" id="{0BC265D7-668C-D4D6-40B8-E5F5FEB9CBE2}"/>
              </a:ext>
            </a:extLst>
          </p:cNvPr>
          <p:cNvSpPr txBox="1"/>
          <p:nvPr/>
        </p:nvSpPr>
        <p:spPr>
          <a:xfrm>
            <a:off x="7781111" y="1869950"/>
            <a:ext cx="2795958" cy="369332"/>
          </a:xfrm>
          <a:prstGeom prst="rect">
            <a:avLst/>
          </a:prstGeom>
          <a:noFill/>
        </p:spPr>
        <p:txBody>
          <a:bodyPr wrap="none" rtlCol="0">
            <a:spAutoFit/>
          </a:bodyPr>
          <a:lstStyle/>
          <a:p>
            <a:r>
              <a:rPr lang="en-BE" dirty="0"/>
              <a:t>Unfavourable Channel Conditions</a:t>
            </a:r>
          </a:p>
        </p:txBody>
      </p:sp>
    </p:spTree>
    <p:extLst>
      <p:ext uri="{BB962C8B-B14F-4D97-AF65-F5344CB8AC3E}">
        <p14:creationId xmlns:p14="http://schemas.microsoft.com/office/powerpoint/2010/main" val="35236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1000" fill="hold"/>
                                        <p:tgtEl>
                                          <p:spTgt spid="2"/>
                                        </p:tgtEl>
                                        <p:attrNameLst>
                                          <p:attrName>ppt_x</p:attrName>
                                          <p:attrName>ppt_y</p:attrName>
                                        </p:attrNameLst>
                                      </p:cBhvr>
                                    </p:animMotion>
                                  </p:childTnLst>
                                </p:cTn>
                              </p:par>
                              <p:par>
                                <p:cTn id="7" presetID="35" presetClass="path" presetSubtype="0" accel="50000" decel="50000" fill="hold" grpId="0" nodeType="withEffect">
                                  <p:stCondLst>
                                    <p:cond delay="0"/>
                                  </p:stCondLst>
                                  <p:childTnLst>
                                    <p:animMotion origin="layout" path="M 0 0 L -0.25 0 E" pathEditMode="relative" ptsTypes="">
                                      <p:cBhvr>
                                        <p:cTn id="8" dur="1000" fill="hold"/>
                                        <p:tgtEl>
                                          <p:spTgt spid="8"/>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24D81-BC96-5AC7-DF2D-DE920263F4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8727A6-3186-AD1C-1931-51DA68E485CF}"/>
              </a:ext>
            </a:extLst>
          </p:cNvPr>
          <p:cNvSpPr txBox="1"/>
          <p:nvPr/>
        </p:nvSpPr>
        <p:spPr>
          <a:xfrm>
            <a:off x="276225" y="5753100"/>
            <a:ext cx="923925" cy="853904"/>
          </a:xfrm>
          <a:prstGeom prst="rect">
            <a:avLst/>
          </a:prstGeom>
          <a:solidFill>
            <a:schemeClr val="bg1"/>
          </a:solidFill>
        </p:spPr>
        <p:txBody>
          <a:bodyPr wrap="square" rtlCol="0">
            <a:spAutoFit/>
          </a:bodyPr>
          <a:lstStyle/>
          <a:p>
            <a:endParaRPr lang="en-BE"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CDBAC89-A1A1-61AB-EFF8-B6AA1941EFE8}"/>
                  </a:ext>
                </a:extLst>
              </p:cNvPr>
              <p:cNvSpPr>
                <a:spLocks noGrp="1"/>
              </p:cNvSpPr>
              <p:nvPr>
                <p:ph type="body" sz="quarter" idx="10"/>
              </p:nvPr>
            </p:nvSpPr>
            <p:spPr>
              <a:xfrm>
                <a:off x="692002" y="1119739"/>
                <a:ext cx="10893106" cy="549275"/>
              </a:xfrm>
            </p:spPr>
            <p:txBody>
              <a:bodyPr/>
              <a:lstStyle/>
              <a:p>
                <a:pPr/>
                <a14:m>
                  <m:oMathPara xmlns:m="http://schemas.openxmlformats.org/officeDocument/2006/math">
                    <m:oMathParaPr>
                      <m:jc m:val="left"/>
                    </m:oMathParaPr>
                    <m:oMath xmlns:m="http://schemas.openxmlformats.org/officeDocument/2006/math">
                      <m:r>
                        <m:rPr>
                          <m:sty m:val="p"/>
                        </m:rPr>
                        <a:rPr lang="en-US" b="0" i="1" smtClean="0">
                          <a:latin typeface="Cambria Math" panose="02040503050406030204" pitchFamily="18" charset="0"/>
                        </a:rPr>
                        <m:t>Nt</m:t>
                      </m:r>
                      <m:r>
                        <a:rPr lang="en-US" b="0" i="1" smtClean="0">
                          <a:latin typeface="Cambria Math" panose="02040503050406030204" pitchFamily="18" charset="0"/>
                        </a:rPr>
                        <m:t>=3,  </m:t>
                      </m:r>
                      <m:r>
                        <m:rPr>
                          <m:sty m:val="p"/>
                        </m:rPr>
                        <a:rPr lang="en-US" b="0" i="1" smtClean="0">
                          <a:latin typeface="Cambria Math" panose="02040503050406030204" pitchFamily="18" charset="0"/>
                        </a:rPr>
                        <m:t>Nr</m:t>
                      </m:r>
                      <m:r>
                        <a:rPr lang="en-US" b="0" i="1" smtClean="0">
                          <a:latin typeface="Cambria Math" panose="02040503050406030204" pitchFamily="18" charset="0"/>
                        </a:rPr>
                        <m:t>=1,  </m:t>
                      </m:r>
                      <m:r>
                        <m:rPr>
                          <m:sty m:val="p"/>
                        </m:rPr>
                        <a:rPr lang="en-US" b="0" i="1" smtClean="0">
                          <a:latin typeface="Cambria Math" panose="02040503050406030204" pitchFamily="18" charset="0"/>
                        </a:rPr>
                        <m:t>K</m:t>
                      </m:r>
                      <m:r>
                        <a:rPr lang="en-US" b="0" i="1" smtClean="0">
                          <a:latin typeface="Cambria Math" panose="02040503050406030204" pitchFamily="18" charset="0"/>
                        </a:rPr>
                        <m:t>=2</m:t>
                      </m:r>
                    </m:oMath>
                  </m:oMathPara>
                </a14:m>
                <a:endParaRPr lang="en-BE" dirty="0"/>
              </a:p>
            </p:txBody>
          </p:sp>
        </mc:Choice>
        <mc:Fallback xmlns="">
          <p:sp>
            <p:nvSpPr>
              <p:cNvPr id="3" name="Text Placeholder 2">
                <a:extLst>
                  <a:ext uri="{FF2B5EF4-FFF2-40B4-BE49-F238E27FC236}">
                    <a16:creationId xmlns:a16="http://schemas.microsoft.com/office/drawing/2014/main" id="{ACDBAC89-A1A1-61AB-EFF8-B6AA1941EFE8}"/>
                  </a:ext>
                </a:extLst>
              </p:cNvPr>
              <p:cNvSpPr>
                <a:spLocks noGrp="1" noRot="1" noChangeAspect="1" noMove="1" noResize="1" noEditPoints="1" noAdjustHandles="1" noChangeArrowheads="1" noChangeShapeType="1" noTextEdit="1"/>
              </p:cNvSpPr>
              <p:nvPr>
                <p:ph type="body" sz="quarter" idx="10"/>
              </p:nvPr>
            </p:nvSpPr>
            <p:spPr>
              <a:xfrm>
                <a:off x="692002" y="1119739"/>
                <a:ext cx="10893106" cy="549275"/>
              </a:xfrm>
              <a:blipFill>
                <a:blip r:embed="rId2"/>
                <a:stretch>
                  <a:fillRect l="-349" t="-6818" b="-9091"/>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67BC1AAC-6006-EF61-6EC4-C0D399DE2778}"/>
              </a:ext>
            </a:extLst>
          </p:cNvPr>
          <p:cNvSpPr>
            <a:spLocks noGrp="1"/>
          </p:cNvSpPr>
          <p:nvPr>
            <p:ph type="title"/>
          </p:nvPr>
        </p:nvSpPr>
        <p:spPr>
          <a:xfrm>
            <a:off x="692002" y="250996"/>
            <a:ext cx="10893422" cy="893656"/>
          </a:xfrm>
        </p:spPr>
        <p:txBody>
          <a:bodyPr/>
          <a:lstStyle/>
          <a:p>
            <a:r>
              <a:rPr lang="en-BE" dirty="0"/>
              <a:t>Precoding Techniques – ZF</a:t>
            </a:r>
          </a:p>
        </p:txBody>
      </p:sp>
      <p:sp>
        <p:nvSpPr>
          <p:cNvPr id="8" name="TextBox 7">
            <a:extLst>
              <a:ext uri="{FF2B5EF4-FFF2-40B4-BE49-F238E27FC236}">
                <a16:creationId xmlns:a16="http://schemas.microsoft.com/office/drawing/2014/main" id="{CC7A3B7F-ACC8-4226-7348-489135378341}"/>
              </a:ext>
            </a:extLst>
          </p:cNvPr>
          <p:cNvSpPr txBox="1"/>
          <p:nvPr/>
        </p:nvSpPr>
        <p:spPr>
          <a:xfrm>
            <a:off x="4890458" y="2003596"/>
            <a:ext cx="2601994" cy="369332"/>
          </a:xfrm>
          <a:prstGeom prst="rect">
            <a:avLst/>
          </a:prstGeom>
          <a:noFill/>
        </p:spPr>
        <p:txBody>
          <a:bodyPr wrap="none" rtlCol="0">
            <a:spAutoFit/>
          </a:bodyPr>
          <a:lstStyle/>
          <a:p>
            <a:r>
              <a:rPr lang="en-GB" dirty="0"/>
              <a:t>F</a:t>
            </a:r>
            <a:r>
              <a:rPr lang="en-BE" dirty="0"/>
              <a:t>avourable Channel Conditions</a:t>
            </a:r>
          </a:p>
        </p:txBody>
      </p:sp>
      <p:sp>
        <p:nvSpPr>
          <p:cNvPr id="9" name="TextBox 8">
            <a:extLst>
              <a:ext uri="{FF2B5EF4-FFF2-40B4-BE49-F238E27FC236}">
                <a16:creationId xmlns:a16="http://schemas.microsoft.com/office/drawing/2014/main" id="{3BA015D6-4B3B-8739-47A4-7E3BDDBE0B79}"/>
              </a:ext>
            </a:extLst>
          </p:cNvPr>
          <p:cNvSpPr txBox="1"/>
          <p:nvPr/>
        </p:nvSpPr>
        <p:spPr>
          <a:xfrm>
            <a:off x="7669490" y="2019684"/>
            <a:ext cx="2795958" cy="369332"/>
          </a:xfrm>
          <a:prstGeom prst="rect">
            <a:avLst/>
          </a:prstGeom>
          <a:noFill/>
        </p:spPr>
        <p:txBody>
          <a:bodyPr wrap="none" rtlCol="0">
            <a:spAutoFit/>
          </a:bodyPr>
          <a:lstStyle/>
          <a:p>
            <a:r>
              <a:rPr lang="en-BE" dirty="0"/>
              <a:t>Unfavourable Channel Conditions</a:t>
            </a:r>
          </a:p>
        </p:txBody>
      </p:sp>
      <p:pic>
        <p:nvPicPr>
          <p:cNvPr id="10" name="Picture 9">
            <a:extLst>
              <a:ext uri="{FF2B5EF4-FFF2-40B4-BE49-F238E27FC236}">
                <a16:creationId xmlns:a16="http://schemas.microsoft.com/office/drawing/2014/main" id="{90CFCB98-C561-7972-5242-446E39626921}"/>
              </a:ext>
            </a:extLst>
          </p:cNvPr>
          <p:cNvPicPr>
            <a:picLocks noChangeAspect="1"/>
          </p:cNvPicPr>
          <p:nvPr/>
        </p:nvPicPr>
        <p:blipFill>
          <a:blip r:embed="rId3"/>
          <a:srcRect l="18307" t="16565" r="18703" b="12755"/>
          <a:stretch>
            <a:fillRect/>
          </a:stretch>
        </p:blipFill>
        <p:spPr>
          <a:xfrm>
            <a:off x="3512549" y="2372928"/>
            <a:ext cx="5715316" cy="4358314"/>
          </a:xfrm>
          <a:prstGeom prst="rect">
            <a:avLst/>
          </a:prstGeom>
        </p:spPr>
      </p:pic>
      <p:pic>
        <p:nvPicPr>
          <p:cNvPr id="12" name="Picture 11">
            <a:extLst>
              <a:ext uri="{FF2B5EF4-FFF2-40B4-BE49-F238E27FC236}">
                <a16:creationId xmlns:a16="http://schemas.microsoft.com/office/drawing/2014/main" id="{04F9897B-87D7-AC53-59A8-96633DC63615}"/>
              </a:ext>
            </a:extLst>
          </p:cNvPr>
          <p:cNvPicPr>
            <a:picLocks noChangeAspect="1"/>
          </p:cNvPicPr>
          <p:nvPr/>
        </p:nvPicPr>
        <p:blipFill>
          <a:blip r:embed="rId4"/>
          <a:srcRect l="25212" t="17391" r="22091" b="8711"/>
          <a:stretch>
            <a:fillRect/>
          </a:stretch>
        </p:blipFill>
        <p:spPr>
          <a:xfrm>
            <a:off x="6138713" y="2400201"/>
            <a:ext cx="5857511" cy="4457799"/>
          </a:xfrm>
          <a:prstGeom prst="rect">
            <a:avLst/>
          </a:prstGeom>
        </p:spPr>
      </p:pic>
      <p:pic>
        <p:nvPicPr>
          <p:cNvPr id="14" name="Picture 13">
            <a:extLst>
              <a:ext uri="{FF2B5EF4-FFF2-40B4-BE49-F238E27FC236}">
                <a16:creationId xmlns:a16="http://schemas.microsoft.com/office/drawing/2014/main" id="{7A6A1F37-5275-98DD-58CB-52E79E797E1C}"/>
              </a:ext>
            </a:extLst>
          </p:cNvPr>
          <p:cNvPicPr>
            <a:picLocks noChangeAspect="1"/>
          </p:cNvPicPr>
          <p:nvPr/>
        </p:nvPicPr>
        <p:blipFill>
          <a:blip r:embed="rId5"/>
          <a:srcRect t="7580" b="5242"/>
          <a:stretch>
            <a:fillRect/>
          </a:stretch>
        </p:blipFill>
        <p:spPr>
          <a:xfrm>
            <a:off x="8833008" y="54564"/>
            <a:ext cx="3264880" cy="1752600"/>
          </a:xfrm>
          <a:prstGeom prst="rect">
            <a:avLst/>
          </a:prstGeom>
        </p:spPr>
      </p:pic>
    </p:spTree>
    <p:extLst>
      <p:ext uri="{BB962C8B-B14F-4D97-AF65-F5344CB8AC3E}">
        <p14:creationId xmlns:p14="http://schemas.microsoft.com/office/powerpoint/2010/main" val="355911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1000" fill="hold"/>
                                        <p:tgtEl>
                                          <p:spTgt spid="10"/>
                                        </p:tgtEl>
                                        <p:attrNameLst>
                                          <p:attrName>ppt_x</p:attrName>
                                          <p:attrName>ppt_y</p:attrName>
                                        </p:attrNameLst>
                                      </p:cBhvr>
                                    </p:animMotion>
                                  </p:childTnLst>
                                </p:cTn>
                              </p:par>
                              <p:par>
                                <p:cTn id="7" presetID="35" presetClass="path" presetSubtype="0" accel="50000" decel="50000" fill="hold" grpId="0" nodeType="withEffect">
                                  <p:stCondLst>
                                    <p:cond delay="0"/>
                                  </p:stCondLst>
                                  <p:childTnLst>
                                    <p:animMotion origin="layout" path="M 0 0 L -0.25 0 E" pathEditMode="relative" ptsTypes="">
                                      <p:cBhvr>
                                        <p:cTn id="8" dur="1000" fill="hold"/>
                                        <p:tgtEl>
                                          <p:spTgt spid="8"/>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429B-AE0C-959F-E6E2-6CB01A03DC2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D27CBD-30F3-07F3-7A8B-AC29DA7079C2}"/>
              </a:ext>
            </a:extLst>
          </p:cNvPr>
          <p:cNvSpPr txBox="1"/>
          <p:nvPr/>
        </p:nvSpPr>
        <p:spPr>
          <a:xfrm>
            <a:off x="276225" y="5753100"/>
            <a:ext cx="923925" cy="853904"/>
          </a:xfrm>
          <a:prstGeom prst="rect">
            <a:avLst/>
          </a:prstGeom>
          <a:solidFill>
            <a:schemeClr val="bg1"/>
          </a:solidFill>
        </p:spPr>
        <p:txBody>
          <a:bodyPr wrap="square" rtlCol="0">
            <a:spAutoFit/>
          </a:bodyPr>
          <a:lstStyle/>
          <a:p>
            <a:endParaRPr lang="en-BE"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D91ABDD-0632-CED1-81FE-4E30655C979E}"/>
                  </a:ext>
                </a:extLst>
              </p:cNvPr>
              <p:cNvSpPr>
                <a:spLocks noGrp="1"/>
              </p:cNvSpPr>
              <p:nvPr>
                <p:ph type="body" sz="quarter" idx="10"/>
              </p:nvPr>
            </p:nvSpPr>
            <p:spPr>
              <a:xfrm>
                <a:off x="542609" y="1045368"/>
                <a:ext cx="10893106" cy="549275"/>
              </a:xfrm>
            </p:spPr>
            <p:txBody>
              <a:bodyPr/>
              <a:lstStyle/>
              <a:p>
                <a:pPr/>
                <a14:m>
                  <m:oMathPara xmlns:m="http://schemas.openxmlformats.org/officeDocument/2006/math">
                    <m:oMathParaPr>
                      <m:jc m:val="left"/>
                    </m:oMathParaPr>
                    <m:oMath xmlns:m="http://schemas.openxmlformats.org/officeDocument/2006/math">
                      <m:r>
                        <m:rPr>
                          <m:sty m:val="p"/>
                        </m:rPr>
                        <a:rPr lang="en-US" b="0" i="1" smtClean="0">
                          <a:latin typeface="Cambria Math" panose="02040503050406030204" pitchFamily="18" charset="0"/>
                        </a:rPr>
                        <m:t>Nt</m:t>
                      </m:r>
                      <m:r>
                        <a:rPr lang="en-US" b="0" i="1" smtClean="0">
                          <a:latin typeface="Cambria Math" panose="02040503050406030204" pitchFamily="18" charset="0"/>
                        </a:rPr>
                        <m:t>=3,  </m:t>
                      </m:r>
                      <m:r>
                        <m:rPr>
                          <m:sty m:val="p"/>
                        </m:rPr>
                        <a:rPr lang="en-US" b="0" i="1" smtClean="0">
                          <a:latin typeface="Cambria Math" panose="02040503050406030204" pitchFamily="18" charset="0"/>
                        </a:rPr>
                        <m:t>Nr</m:t>
                      </m:r>
                      <m:r>
                        <a:rPr lang="en-US" b="0" i="1" smtClean="0">
                          <a:latin typeface="Cambria Math" panose="02040503050406030204" pitchFamily="18" charset="0"/>
                        </a:rPr>
                        <m:t>=1,  </m:t>
                      </m:r>
                      <m:r>
                        <m:rPr>
                          <m:sty m:val="p"/>
                        </m:rPr>
                        <a:rPr lang="en-US" b="0" i="1" smtClean="0">
                          <a:latin typeface="Cambria Math" panose="02040503050406030204" pitchFamily="18" charset="0"/>
                        </a:rPr>
                        <m:t>K</m:t>
                      </m:r>
                      <m:r>
                        <a:rPr lang="en-US" b="0" i="1" smtClean="0">
                          <a:latin typeface="Cambria Math" panose="02040503050406030204" pitchFamily="18" charset="0"/>
                        </a:rPr>
                        <m:t>=3</m:t>
                      </m:r>
                    </m:oMath>
                  </m:oMathPara>
                </a14:m>
                <a:endParaRPr lang="en-BE" dirty="0"/>
              </a:p>
            </p:txBody>
          </p:sp>
        </mc:Choice>
        <mc:Fallback xmlns="">
          <p:sp>
            <p:nvSpPr>
              <p:cNvPr id="3" name="Text Placeholder 2">
                <a:extLst>
                  <a:ext uri="{FF2B5EF4-FFF2-40B4-BE49-F238E27FC236}">
                    <a16:creationId xmlns:a16="http://schemas.microsoft.com/office/drawing/2014/main" id="{8D91ABDD-0632-CED1-81FE-4E30655C979E}"/>
                  </a:ext>
                </a:extLst>
              </p:cNvPr>
              <p:cNvSpPr>
                <a:spLocks noGrp="1" noRot="1" noChangeAspect="1" noMove="1" noResize="1" noEditPoints="1" noAdjustHandles="1" noChangeArrowheads="1" noChangeShapeType="1" noTextEdit="1"/>
              </p:cNvSpPr>
              <p:nvPr>
                <p:ph type="body" sz="quarter" idx="10"/>
              </p:nvPr>
            </p:nvSpPr>
            <p:spPr>
              <a:xfrm>
                <a:off x="542609" y="1045368"/>
                <a:ext cx="10893106" cy="549275"/>
              </a:xfrm>
              <a:blipFill>
                <a:blip r:embed="rId2"/>
                <a:stretch>
                  <a:fillRect l="-233" t="-6818" b="-9091"/>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56206EEA-D349-E624-5028-AB80EA62387E}"/>
              </a:ext>
            </a:extLst>
          </p:cNvPr>
          <p:cNvSpPr>
            <a:spLocks noGrp="1"/>
          </p:cNvSpPr>
          <p:nvPr>
            <p:ph type="title"/>
          </p:nvPr>
        </p:nvSpPr>
        <p:spPr/>
        <p:txBody>
          <a:bodyPr/>
          <a:lstStyle/>
          <a:p>
            <a:r>
              <a:rPr lang="en-BE" dirty="0"/>
              <a:t>Precoding Techniques – ZF</a:t>
            </a:r>
          </a:p>
        </p:txBody>
      </p:sp>
      <p:sp>
        <p:nvSpPr>
          <p:cNvPr id="8" name="TextBox 7">
            <a:extLst>
              <a:ext uri="{FF2B5EF4-FFF2-40B4-BE49-F238E27FC236}">
                <a16:creationId xmlns:a16="http://schemas.microsoft.com/office/drawing/2014/main" id="{EE1B7FE1-93C1-1873-1AA1-0D57967D16DB}"/>
              </a:ext>
            </a:extLst>
          </p:cNvPr>
          <p:cNvSpPr txBox="1"/>
          <p:nvPr/>
        </p:nvSpPr>
        <p:spPr>
          <a:xfrm>
            <a:off x="4748511" y="2019684"/>
            <a:ext cx="2601994" cy="369332"/>
          </a:xfrm>
          <a:prstGeom prst="rect">
            <a:avLst/>
          </a:prstGeom>
          <a:noFill/>
        </p:spPr>
        <p:txBody>
          <a:bodyPr wrap="none" rtlCol="0">
            <a:spAutoFit/>
          </a:bodyPr>
          <a:lstStyle/>
          <a:p>
            <a:r>
              <a:rPr lang="en-GB" dirty="0"/>
              <a:t>F</a:t>
            </a:r>
            <a:r>
              <a:rPr lang="en-BE" dirty="0"/>
              <a:t>avourable Channel Conditions</a:t>
            </a:r>
          </a:p>
        </p:txBody>
      </p:sp>
      <p:sp>
        <p:nvSpPr>
          <p:cNvPr id="9" name="TextBox 8">
            <a:extLst>
              <a:ext uri="{FF2B5EF4-FFF2-40B4-BE49-F238E27FC236}">
                <a16:creationId xmlns:a16="http://schemas.microsoft.com/office/drawing/2014/main" id="{E9AFAF6F-6B76-8A35-2420-207D0AEE862C}"/>
              </a:ext>
            </a:extLst>
          </p:cNvPr>
          <p:cNvSpPr txBox="1"/>
          <p:nvPr/>
        </p:nvSpPr>
        <p:spPr>
          <a:xfrm>
            <a:off x="7669490" y="2019684"/>
            <a:ext cx="2884123" cy="369332"/>
          </a:xfrm>
          <a:prstGeom prst="rect">
            <a:avLst/>
          </a:prstGeom>
          <a:noFill/>
        </p:spPr>
        <p:txBody>
          <a:bodyPr wrap="none" rtlCol="0">
            <a:spAutoFit/>
          </a:bodyPr>
          <a:lstStyle/>
          <a:p>
            <a:r>
              <a:rPr lang="en-BE" dirty="0"/>
              <a:t>Unfavoxurable Channel Conditions</a:t>
            </a:r>
          </a:p>
        </p:txBody>
      </p:sp>
      <p:pic>
        <p:nvPicPr>
          <p:cNvPr id="12" name="Picture 11">
            <a:extLst>
              <a:ext uri="{FF2B5EF4-FFF2-40B4-BE49-F238E27FC236}">
                <a16:creationId xmlns:a16="http://schemas.microsoft.com/office/drawing/2014/main" id="{7B442CA8-B6A6-02DA-FE0E-A29EB78CD887}"/>
              </a:ext>
            </a:extLst>
          </p:cNvPr>
          <p:cNvPicPr>
            <a:picLocks noChangeAspect="1"/>
          </p:cNvPicPr>
          <p:nvPr/>
        </p:nvPicPr>
        <p:blipFill>
          <a:blip r:embed="rId3"/>
          <a:srcRect l="18600" t="18409" r="16303" b="10555"/>
          <a:stretch>
            <a:fillRect/>
          </a:stretch>
        </p:blipFill>
        <p:spPr>
          <a:xfrm>
            <a:off x="3566180" y="2441013"/>
            <a:ext cx="5059639" cy="4416987"/>
          </a:xfrm>
          <a:prstGeom prst="rect">
            <a:avLst/>
          </a:prstGeom>
        </p:spPr>
      </p:pic>
      <p:pic>
        <p:nvPicPr>
          <p:cNvPr id="10" name="Picture 9">
            <a:extLst>
              <a:ext uri="{FF2B5EF4-FFF2-40B4-BE49-F238E27FC236}">
                <a16:creationId xmlns:a16="http://schemas.microsoft.com/office/drawing/2014/main" id="{1A2F6F11-3305-1FFD-BC6D-F8B2CAD7EC84}"/>
              </a:ext>
            </a:extLst>
          </p:cNvPr>
          <p:cNvPicPr>
            <a:picLocks noChangeAspect="1"/>
          </p:cNvPicPr>
          <p:nvPr/>
        </p:nvPicPr>
        <p:blipFill>
          <a:blip r:embed="rId4"/>
          <a:srcRect l="18636" t="15085" r="14575" b="9395"/>
          <a:stretch>
            <a:fillRect/>
          </a:stretch>
        </p:blipFill>
        <p:spPr>
          <a:xfrm>
            <a:off x="6752903" y="2341968"/>
            <a:ext cx="4912206" cy="4443518"/>
          </a:xfrm>
          <a:prstGeom prst="rect">
            <a:avLst/>
          </a:prstGeom>
        </p:spPr>
      </p:pic>
      <p:pic>
        <p:nvPicPr>
          <p:cNvPr id="14" name="Picture 13">
            <a:extLst>
              <a:ext uri="{FF2B5EF4-FFF2-40B4-BE49-F238E27FC236}">
                <a16:creationId xmlns:a16="http://schemas.microsoft.com/office/drawing/2014/main" id="{B23C2804-44C4-6D72-0D71-F3C72386F6B2}"/>
              </a:ext>
            </a:extLst>
          </p:cNvPr>
          <p:cNvPicPr>
            <a:picLocks noChangeAspect="1"/>
          </p:cNvPicPr>
          <p:nvPr/>
        </p:nvPicPr>
        <p:blipFill>
          <a:blip r:embed="rId5"/>
          <a:srcRect t="6481" b="6519"/>
          <a:stretch>
            <a:fillRect/>
          </a:stretch>
        </p:blipFill>
        <p:spPr>
          <a:xfrm>
            <a:off x="8895013" y="72514"/>
            <a:ext cx="3140869" cy="1588695"/>
          </a:xfrm>
          <a:prstGeom prst="rect">
            <a:avLst/>
          </a:prstGeom>
        </p:spPr>
      </p:pic>
    </p:spTree>
    <p:extLst>
      <p:ext uri="{BB962C8B-B14F-4D97-AF65-F5344CB8AC3E}">
        <p14:creationId xmlns:p14="http://schemas.microsoft.com/office/powerpoint/2010/main" val="161855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1000" fill="hold"/>
                                        <p:tgtEl>
                                          <p:spTgt spid="12"/>
                                        </p:tgtEl>
                                        <p:attrNameLst>
                                          <p:attrName>ppt_x</p:attrName>
                                          <p:attrName>ppt_y</p:attrName>
                                        </p:attrNameLst>
                                      </p:cBhvr>
                                    </p:animMotion>
                                  </p:childTnLst>
                                </p:cTn>
                              </p:par>
                              <p:par>
                                <p:cTn id="7" presetID="35" presetClass="path" presetSubtype="0" accel="50000" decel="50000" fill="hold" grpId="0" nodeType="withEffect">
                                  <p:stCondLst>
                                    <p:cond delay="0"/>
                                  </p:stCondLst>
                                  <p:childTnLst>
                                    <p:animMotion origin="layout" path="M 0 0 L -0.25 0 E" pathEditMode="relative" ptsTypes="">
                                      <p:cBhvr>
                                        <p:cTn id="8" dur="1000" fill="hold"/>
                                        <p:tgtEl>
                                          <p:spTgt spid="8"/>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7F95C4-7ED4-723C-C5A1-04B4F981F2FD}"/>
              </a:ext>
            </a:extLst>
          </p:cNvPr>
          <p:cNvSpPr>
            <a:spLocks noGrp="1"/>
          </p:cNvSpPr>
          <p:nvPr>
            <p:ph type="body" sz="quarter" idx="10"/>
          </p:nvPr>
        </p:nvSpPr>
        <p:spPr/>
        <p:txBody>
          <a:bodyPr/>
          <a:lstStyle/>
          <a:p>
            <a:r>
              <a:rPr lang="en-BE" dirty="0"/>
              <a:t>Fixed Bit Loader (4-QAM)</a:t>
            </a:r>
          </a:p>
        </p:txBody>
      </p:sp>
      <p:sp>
        <p:nvSpPr>
          <p:cNvPr id="4" name="Title 3">
            <a:extLst>
              <a:ext uri="{FF2B5EF4-FFF2-40B4-BE49-F238E27FC236}">
                <a16:creationId xmlns:a16="http://schemas.microsoft.com/office/drawing/2014/main" id="{AB2E9A1B-7D43-A503-1D69-1EC79EA96B16}"/>
              </a:ext>
            </a:extLst>
          </p:cNvPr>
          <p:cNvSpPr>
            <a:spLocks noGrp="1"/>
          </p:cNvSpPr>
          <p:nvPr>
            <p:ph type="title"/>
          </p:nvPr>
        </p:nvSpPr>
        <p:spPr/>
        <p:txBody>
          <a:bodyPr/>
          <a:lstStyle/>
          <a:p>
            <a:r>
              <a:rPr lang="en-BE" dirty="0"/>
              <a:t>Simulation Results – ZF</a:t>
            </a:r>
          </a:p>
        </p:txBody>
      </p:sp>
      <p:sp>
        <p:nvSpPr>
          <p:cNvPr id="11" name="TextBox 10">
            <a:extLst>
              <a:ext uri="{FF2B5EF4-FFF2-40B4-BE49-F238E27FC236}">
                <a16:creationId xmlns:a16="http://schemas.microsoft.com/office/drawing/2014/main" id="{08A527A1-9C5C-D514-47A3-54CBDCC0F461}"/>
              </a:ext>
            </a:extLst>
          </p:cNvPr>
          <p:cNvSpPr txBox="1"/>
          <p:nvPr/>
        </p:nvSpPr>
        <p:spPr>
          <a:xfrm>
            <a:off x="8304645" y="1960591"/>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B95CBCD4-A898-9D00-5C23-D2463039A26A}"/>
              </a:ext>
            </a:extLst>
          </p:cNvPr>
          <p:cNvSpPr txBox="1"/>
          <p:nvPr/>
        </p:nvSpPr>
        <p:spPr>
          <a:xfrm>
            <a:off x="2927637" y="1960591"/>
            <a:ext cx="859531" cy="369332"/>
          </a:xfrm>
          <a:prstGeom prst="rect">
            <a:avLst/>
          </a:prstGeom>
          <a:noFill/>
        </p:spPr>
        <p:txBody>
          <a:bodyPr wrap="none" rtlCol="0">
            <a:spAutoFit/>
          </a:bodyPr>
          <a:lstStyle/>
          <a:p>
            <a:r>
              <a:rPr lang="en-BE" dirty="0"/>
              <a:t>R vs SNR</a:t>
            </a:r>
          </a:p>
        </p:txBody>
      </p:sp>
      <p:pic>
        <p:nvPicPr>
          <p:cNvPr id="13" name="Picture 12">
            <a:extLst>
              <a:ext uri="{FF2B5EF4-FFF2-40B4-BE49-F238E27FC236}">
                <a16:creationId xmlns:a16="http://schemas.microsoft.com/office/drawing/2014/main" id="{44107859-1D9B-3D72-F73E-5A46DF3CBE5C}"/>
              </a:ext>
            </a:extLst>
          </p:cNvPr>
          <p:cNvPicPr>
            <a:picLocks noChangeAspect="1"/>
          </p:cNvPicPr>
          <p:nvPr/>
        </p:nvPicPr>
        <p:blipFill>
          <a:blip r:embed="rId3"/>
          <a:stretch>
            <a:fillRect/>
          </a:stretch>
        </p:blipFill>
        <p:spPr>
          <a:xfrm>
            <a:off x="6444747" y="2221764"/>
            <a:ext cx="4895850" cy="4079875"/>
          </a:xfrm>
          <a:prstGeom prst="rect">
            <a:avLst/>
          </a:prstGeom>
        </p:spPr>
      </p:pic>
      <p:pic>
        <p:nvPicPr>
          <p:cNvPr id="15" name="Picture 14">
            <a:extLst>
              <a:ext uri="{FF2B5EF4-FFF2-40B4-BE49-F238E27FC236}">
                <a16:creationId xmlns:a16="http://schemas.microsoft.com/office/drawing/2014/main" id="{FDE49AC6-F2F7-83FF-4E80-E70524888CFF}"/>
              </a:ext>
            </a:extLst>
          </p:cNvPr>
          <p:cNvPicPr>
            <a:picLocks noChangeAspect="1"/>
          </p:cNvPicPr>
          <p:nvPr/>
        </p:nvPicPr>
        <p:blipFill>
          <a:blip r:embed="rId4"/>
          <a:stretch>
            <a:fillRect/>
          </a:stretch>
        </p:blipFill>
        <p:spPr>
          <a:xfrm>
            <a:off x="851405" y="2221764"/>
            <a:ext cx="4895850" cy="4079875"/>
          </a:xfrm>
          <a:prstGeom prst="rect">
            <a:avLst/>
          </a:prstGeom>
        </p:spPr>
      </p:pic>
    </p:spTree>
    <p:extLst>
      <p:ext uri="{BB962C8B-B14F-4D97-AF65-F5344CB8AC3E}">
        <p14:creationId xmlns:p14="http://schemas.microsoft.com/office/powerpoint/2010/main" val="143263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761B-0754-9C3A-65BA-295B99EF51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90E87C2-9066-A941-2F13-FEA1761F5A9A}"/>
                  </a:ext>
                </a:extLst>
              </p:cNvPr>
              <p:cNvSpPr>
                <a:spLocks noGrp="1"/>
              </p:cNvSpPr>
              <p:nvPr>
                <p:ph type="body" sz="quarter" idx="10"/>
              </p:nvPr>
            </p:nvSpPr>
            <p:spPr/>
            <p:txBody>
              <a:bodyPr/>
              <a:lstStyle/>
              <a:p>
                <a:r>
                  <a:rPr lang="en-BE" dirty="0"/>
                  <a:t>Adaptive Bit Loader (</a:t>
                </a:r>
                <a14:m>
                  <m:oMath xmlns:m="http://schemas.openxmlformats.org/officeDocument/2006/math">
                    <m:r>
                      <a:rPr lang="en-US" i="1">
                        <a:latin typeface="Cambria Math" panose="02040503050406030204" pitchFamily="18" charset="0"/>
                      </a:rPr>
                      <m:t>𝑅</m:t>
                    </m:r>
                  </m:oMath>
                </a14:m>
                <a:r>
                  <a:rPr lang="en-BE" dirty="0"/>
                  <a:t>-QAM)</a:t>
                </a:r>
              </a:p>
            </p:txBody>
          </p:sp>
        </mc:Choice>
        <mc:Fallback xmlns="">
          <p:sp>
            <p:nvSpPr>
              <p:cNvPr id="3" name="Text Placeholder 2">
                <a:extLst>
                  <a:ext uri="{FF2B5EF4-FFF2-40B4-BE49-F238E27FC236}">
                    <a16:creationId xmlns:a16="http://schemas.microsoft.com/office/drawing/2014/main" id="{D90E87C2-9066-A941-2F13-FEA1761F5A9A}"/>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164" t="-15909" b="-20455"/>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44AA9716-CE58-7BC8-E08D-365D5D3DF26F}"/>
              </a:ext>
            </a:extLst>
          </p:cNvPr>
          <p:cNvSpPr>
            <a:spLocks noGrp="1"/>
          </p:cNvSpPr>
          <p:nvPr>
            <p:ph type="title"/>
          </p:nvPr>
        </p:nvSpPr>
        <p:spPr/>
        <p:txBody>
          <a:bodyPr/>
          <a:lstStyle/>
          <a:p>
            <a:r>
              <a:rPr lang="en-BE" dirty="0"/>
              <a:t>Simulation Results – ZF</a:t>
            </a:r>
          </a:p>
        </p:txBody>
      </p:sp>
      <p:sp>
        <p:nvSpPr>
          <p:cNvPr id="12" name="TextBox 11">
            <a:extLst>
              <a:ext uri="{FF2B5EF4-FFF2-40B4-BE49-F238E27FC236}">
                <a16:creationId xmlns:a16="http://schemas.microsoft.com/office/drawing/2014/main" id="{768F542A-9DF2-F4F9-3C02-C153E7CB9111}"/>
              </a:ext>
            </a:extLst>
          </p:cNvPr>
          <p:cNvSpPr txBox="1"/>
          <p:nvPr/>
        </p:nvSpPr>
        <p:spPr>
          <a:xfrm>
            <a:off x="1780369" y="2138767"/>
            <a:ext cx="787395" cy="338554"/>
          </a:xfrm>
          <a:prstGeom prst="rect">
            <a:avLst/>
          </a:prstGeom>
          <a:noFill/>
        </p:spPr>
        <p:txBody>
          <a:bodyPr wrap="none" rtlCol="0">
            <a:spAutoFit/>
          </a:bodyPr>
          <a:lstStyle/>
          <a:p>
            <a:r>
              <a:rPr lang="en-BE" sz="1600" dirty="0"/>
              <a:t>R vs SNR</a:t>
            </a:r>
          </a:p>
        </p:txBody>
      </p:sp>
      <p:sp>
        <p:nvSpPr>
          <p:cNvPr id="13" name="TextBox 12">
            <a:extLst>
              <a:ext uri="{FF2B5EF4-FFF2-40B4-BE49-F238E27FC236}">
                <a16:creationId xmlns:a16="http://schemas.microsoft.com/office/drawing/2014/main" id="{DAD7D76B-B4DA-FA18-D177-3F845FEB5FB9}"/>
              </a:ext>
            </a:extLst>
          </p:cNvPr>
          <p:cNvSpPr txBox="1"/>
          <p:nvPr/>
        </p:nvSpPr>
        <p:spPr>
          <a:xfrm>
            <a:off x="5631770" y="2142651"/>
            <a:ext cx="928459" cy="338554"/>
          </a:xfrm>
          <a:prstGeom prst="rect">
            <a:avLst/>
          </a:prstGeom>
          <a:noFill/>
        </p:spPr>
        <p:txBody>
          <a:bodyPr wrap="none" rtlCol="0">
            <a:spAutoFit/>
          </a:bodyPr>
          <a:lstStyle/>
          <a:p>
            <a:r>
              <a:rPr lang="en-BE" sz="1600" dirty="0"/>
              <a:t>IBR vs SNR</a:t>
            </a:r>
          </a:p>
        </p:txBody>
      </p:sp>
      <p:sp>
        <p:nvSpPr>
          <p:cNvPr id="14" name="TextBox 13">
            <a:extLst>
              <a:ext uri="{FF2B5EF4-FFF2-40B4-BE49-F238E27FC236}">
                <a16:creationId xmlns:a16="http://schemas.microsoft.com/office/drawing/2014/main" id="{5DD647E2-E6C1-58DA-E3A7-3D53DA429842}"/>
              </a:ext>
            </a:extLst>
          </p:cNvPr>
          <p:cNvSpPr txBox="1"/>
          <p:nvPr/>
        </p:nvSpPr>
        <p:spPr>
          <a:xfrm>
            <a:off x="9928165" y="2138767"/>
            <a:ext cx="966931" cy="338554"/>
          </a:xfrm>
          <a:prstGeom prst="rect">
            <a:avLst/>
          </a:prstGeom>
          <a:noFill/>
        </p:spPr>
        <p:txBody>
          <a:bodyPr wrap="none" rtlCol="0">
            <a:spAutoFit/>
          </a:bodyPr>
          <a:lstStyle/>
          <a:p>
            <a:r>
              <a:rPr lang="en-BE" sz="1600" dirty="0"/>
              <a:t>BER vs SNR</a:t>
            </a:r>
          </a:p>
        </p:txBody>
      </p:sp>
      <p:pic>
        <p:nvPicPr>
          <p:cNvPr id="6" name="Picture 5">
            <a:extLst>
              <a:ext uri="{FF2B5EF4-FFF2-40B4-BE49-F238E27FC236}">
                <a16:creationId xmlns:a16="http://schemas.microsoft.com/office/drawing/2014/main" id="{1AE15285-E9CB-27E6-552C-A048A993A0EA}"/>
              </a:ext>
            </a:extLst>
          </p:cNvPr>
          <p:cNvPicPr>
            <a:picLocks noChangeAspect="1"/>
          </p:cNvPicPr>
          <p:nvPr/>
        </p:nvPicPr>
        <p:blipFill>
          <a:blip r:embed="rId4"/>
          <a:stretch>
            <a:fillRect/>
          </a:stretch>
        </p:blipFill>
        <p:spPr>
          <a:xfrm>
            <a:off x="8165162" y="2477321"/>
            <a:ext cx="4026838" cy="3355698"/>
          </a:xfrm>
          <a:prstGeom prst="rect">
            <a:avLst/>
          </a:prstGeom>
        </p:spPr>
      </p:pic>
      <p:pic>
        <p:nvPicPr>
          <p:cNvPr id="9" name="Picture 8">
            <a:extLst>
              <a:ext uri="{FF2B5EF4-FFF2-40B4-BE49-F238E27FC236}">
                <a16:creationId xmlns:a16="http://schemas.microsoft.com/office/drawing/2014/main" id="{40E0E203-4B45-E2B4-B663-D791FE88755B}"/>
              </a:ext>
            </a:extLst>
          </p:cNvPr>
          <p:cNvPicPr>
            <a:picLocks noChangeAspect="1"/>
          </p:cNvPicPr>
          <p:nvPr/>
        </p:nvPicPr>
        <p:blipFill>
          <a:blip r:embed="rId5"/>
          <a:stretch>
            <a:fillRect/>
          </a:stretch>
        </p:blipFill>
        <p:spPr>
          <a:xfrm>
            <a:off x="4119274" y="2477321"/>
            <a:ext cx="4026838" cy="3355698"/>
          </a:xfrm>
          <a:prstGeom prst="rect">
            <a:avLst/>
          </a:prstGeom>
        </p:spPr>
      </p:pic>
      <p:pic>
        <p:nvPicPr>
          <p:cNvPr id="11" name="Picture 10">
            <a:extLst>
              <a:ext uri="{FF2B5EF4-FFF2-40B4-BE49-F238E27FC236}">
                <a16:creationId xmlns:a16="http://schemas.microsoft.com/office/drawing/2014/main" id="{2EF2AB06-4751-7736-3E54-42C6749B2BDC}"/>
              </a:ext>
            </a:extLst>
          </p:cNvPr>
          <p:cNvPicPr>
            <a:picLocks noChangeAspect="1"/>
          </p:cNvPicPr>
          <p:nvPr/>
        </p:nvPicPr>
        <p:blipFill>
          <a:blip r:embed="rId6"/>
          <a:stretch>
            <a:fillRect/>
          </a:stretch>
        </p:blipFill>
        <p:spPr>
          <a:xfrm>
            <a:off x="61883" y="2477322"/>
            <a:ext cx="4026838" cy="3355698"/>
          </a:xfrm>
          <a:prstGeom prst="rect">
            <a:avLst/>
          </a:prstGeom>
        </p:spPr>
      </p:pic>
    </p:spTree>
    <p:extLst>
      <p:ext uri="{BB962C8B-B14F-4D97-AF65-F5344CB8AC3E}">
        <p14:creationId xmlns:p14="http://schemas.microsoft.com/office/powerpoint/2010/main" val="1474631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68CC7-A9D3-0322-11B4-D7657DD85DA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569764-6D53-AD85-B63C-7FA041749E14}"/>
              </a:ext>
            </a:extLst>
          </p:cNvPr>
          <p:cNvSpPr>
            <a:spLocks noGrp="1"/>
          </p:cNvSpPr>
          <p:nvPr>
            <p:ph type="body" sz="quarter" idx="10"/>
          </p:nvPr>
        </p:nvSpPr>
        <p:spPr/>
        <p:txBody>
          <a:bodyPr/>
          <a:lstStyle/>
          <a:p>
            <a:r>
              <a:rPr lang="en-BE" dirty="0"/>
              <a:t>Fixed Bit Loader (QAM), Underloaded System</a:t>
            </a:r>
          </a:p>
        </p:txBody>
      </p:sp>
      <p:sp>
        <p:nvSpPr>
          <p:cNvPr id="4" name="Title 3">
            <a:extLst>
              <a:ext uri="{FF2B5EF4-FFF2-40B4-BE49-F238E27FC236}">
                <a16:creationId xmlns:a16="http://schemas.microsoft.com/office/drawing/2014/main" id="{EE050AFC-D164-2E2B-710D-4EC6A4EF871F}"/>
              </a:ext>
            </a:extLst>
          </p:cNvPr>
          <p:cNvSpPr>
            <a:spLocks noGrp="1"/>
          </p:cNvSpPr>
          <p:nvPr>
            <p:ph type="title"/>
          </p:nvPr>
        </p:nvSpPr>
        <p:spPr/>
        <p:txBody>
          <a:bodyPr/>
          <a:lstStyle/>
          <a:p>
            <a:r>
              <a:rPr lang="en-BE" dirty="0"/>
              <a:t>Simulation Results – ZF</a:t>
            </a:r>
          </a:p>
        </p:txBody>
      </p:sp>
      <p:sp>
        <p:nvSpPr>
          <p:cNvPr id="11" name="TextBox 10">
            <a:extLst>
              <a:ext uri="{FF2B5EF4-FFF2-40B4-BE49-F238E27FC236}">
                <a16:creationId xmlns:a16="http://schemas.microsoft.com/office/drawing/2014/main" id="{0A8D3AED-D81F-9C38-FD1F-2BD1E0859C8D}"/>
              </a:ext>
            </a:extLst>
          </p:cNvPr>
          <p:cNvSpPr txBox="1"/>
          <p:nvPr/>
        </p:nvSpPr>
        <p:spPr>
          <a:xfrm>
            <a:off x="8348835" y="1848142"/>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5DD064B0-24A7-6437-A166-C364CAD6C405}"/>
              </a:ext>
            </a:extLst>
          </p:cNvPr>
          <p:cNvSpPr txBox="1"/>
          <p:nvPr/>
        </p:nvSpPr>
        <p:spPr>
          <a:xfrm>
            <a:off x="2983633" y="1848142"/>
            <a:ext cx="859531" cy="369332"/>
          </a:xfrm>
          <a:prstGeom prst="rect">
            <a:avLst/>
          </a:prstGeom>
          <a:noFill/>
        </p:spPr>
        <p:txBody>
          <a:bodyPr wrap="none" rtlCol="0">
            <a:spAutoFit/>
          </a:bodyPr>
          <a:lstStyle/>
          <a:p>
            <a:r>
              <a:rPr lang="en-BE" dirty="0"/>
              <a:t>R vs SNR</a:t>
            </a:r>
          </a:p>
        </p:txBody>
      </p:sp>
      <p:pic>
        <p:nvPicPr>
          <p:cNvPr id="6" name="Picture 5">
            <a:extLst>
              <a:ext uri="{FF2B5EF4-FFF2-40B4-BE49-F238E27FC236}">
                <a16:creationId xmlns:a16="http://schemas.microsoft.com/office/drawing/2014/main" id="{533AD5D3-B487-471E-A7DD-2E46691C047E}"/>
              </a:ext>
            </a:extLst>
          </p:cNvPr>
          <p:cNvPicPr>
            <a:picLocks noChangeAspect="1"/>
          </p:cNvPicPr>
          <p:nvPr/>
        </p:nvPicPr>
        <p:blipFill>
          <a:blip r:embed="rId3"/>
          <a:stretch>
            <a:fillRect/>
          </a:stretch>
        </p:blipFill>
        <p:spPr>
          <a:xfrm>
            <a:off x="986977" y="2217474"/>
            <a:ext cx="4852845" cy="4044038"/>
          </a:xfrm>
          <a:prstGeom prst="rect">
            <a:avLst/>
          </a:prstGeom>
        </p:spPr>
      </p:pic>
      <p:pic>
        <p:nvPicPr>
          <p:cNvPr id="9" name="Picture 8">
            <a:extLst>
              <a:ext uri="{FF2B5EF4-FFF2-40B4-BE49-F238E27FC236}">
                <a16:creationId xmlns:a16="http://schemas.microsoft.com/office/drawing/2014/main" id="{73F4A74A-2563-2541-187F-1DEC774ED691}"/>
              </a:ext>
            </a:extLst>
          </p:cNvPr>
          <p:cNvPicPr>
            <a:picLocks noChangeAspect="1"/>
          </p:cNvPicPr>
          <p:nvPr/>
        </p:nvPicPr>
        <p:blipFill>
          <a:blip r:embed="rId4"/>
          <a:stretch>
            <a:fillRect/>
          </a:stretch>
        </p:blipFill>
        <p:spPr>
          <a:xfrm>
            <a:off x="6352177" y="2202195"/>
            <a:ext cx="4852846" cy="4044039"/>
          </a:xfrm>
          <a:prstGeom prst="rect">
            <a:avLst/>
          </a:prstGeom>
        </p:spPr>
      </p:pic>
    </p:spTree>
    <p:extLst>
      <p:ext uri="{BB962C8B-B14F-4D97-AF65-F5344CB8AC3E}">
        <p14:creationId xmlns:p14="http://schemas.microsoft.com/office/powerpoint/2010/main" val="947019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5023-CC6B-9838-79E5-EAF1D8BD8A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FAF031-A473-F1B4-F0F2-7A3DA11E02DA}"/>
              </a:ext>
            </a:extLst>
          </p:cNvPr>
          <p:cNvSpPr>
            <a:spLocks noGrp="1"/>
          </p:cNvSpPr>
          <p:nvPr>
            <p:ph type="body" sz="quarter" idx="10"/>
          </p:nvPr>
        </p:nvSpPr>
        <p:spPr>
          <a:xfrm>
            <a:off x="542925" y="1150143"/>
            <a:ext cx="10893106" cy="574962"/>
          </a:xfrm>
        </p:spPr>
        <p:txBody>
          <a:bodyPr>
            <a:normAutofit/>
          </a:bodyPr>
          <a:lstStyle/>
          <a:p>
            <a:r>
              <a:rPr lang="en-BE" dirty="0"/>
              <a:t>Adaptive Bit Loader (QAM), Fully Loaded System (4 U</a:t>
            </a:r>
            <a:r>
              <a:rPr lang="en-GB" dirty="0"/>
              <a:t>T</a:t>
            </a:r>
            <a:r>
              <a:rPr lang="en-BE" dirty="0"/>
              <a:t>s)</a:t>
            </a:r>
          </a:p>
        </p:txBody>
      </p:sp>
      <p:sp>
        <p:nvSpPr>
          <p:cNvPr id="4" name="Title 3">
            <a:extLst>
              <a:ext uri="{FF2B5EF4-FFF2-40B4-BE49-F238E27FC236}">
                <a16:creationId xmlns:a16="http://schemas.microsoft.com/office/drawing/2014/main" id="{FB405A83-2C87-E755-C2CF-075B09D9D5BA}"/>
              </a:ext>
            </a:extLst>
          </p:cNvPr>
          <p:cNvSpPr>
            <a:spLocks noGrp="1"/>
          </p:cNvSpPr>
          <p:nvPr>
            <p:ph type="title"/>
          </p:nvPr>
        </p:nvSpPr>
        <p:spPr/>
        <p:txBody>
          <a:bodyPr/>
          <a:lstStyle/>
          <a:p>
            <a:r>
              <a:rPr lang="en-BE" dirty="0"/>
              <a:t>Simulation Results – ZF</a:t>
            </a:r>
          </a:p>
        </p:txBody>
      </p:sp>
      <p:sp>
        <p:nvSpPr>
          <p:cNvPr id="15" name="TextBox 14">
            <a:extLst>
              <a:ext uri="{FF2B5EF4-FFF2-40B4-BE49-F238E27FC236}">
                <a16:creationId xmlns:a16="http://schemas.microsoft.com/office/drawing/2014/main" id="{3748747A-2FA9-914F-284D-C66FA06F971D}"/>
              </a:ext>
            </a:extLst>
          </p:cNvPr>
          <p:cNvSpPr txBox="1"/>
          <p:nvPr/>
        </p:nvSpPr>
        <p:spPr>
          <a:xfrm>
            <a:off x="1879616" y="2142651"/>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639BB1C3-D87B-F4F5-1715-B77C0594C748}"/>
              </a:ext>
            </a:extLst>
          </p:cNvPr>
          <p:cNvSpPr txBox="1"/>
          <p:nvPr/>
        </p:nvSpPr>
        <p:spPr>
          <a:xfrm>
            <a:off x="5631770" y="2142651"/>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F0D3B56A-8822-61E1-8B2D-F2D35A4FD1E5}"/>
              </a:ext>
            </a:extLst>
          </p:cNvPr>
          <p:cNvSpPr txBox="1"/>
          <p:nvPr/>
        </p:nvSpPr>
        <p:spPr>
          <a:xfrm>
            <a:off x="9731664" y="2142651"/>
            <a:ext cx="966931" cy="338554"/>
          </a:xfrm>
          <a:prstGeom prst="rect">
            <a:avLst/>
          </a:prstGeom>
          <a:noFill/>
        </p:spPr>
        <p:txBody>
          <a:bodyPr wrap="none" rtlCol="0">
            <a:spAutoFit/>
          </a:bodyPr>
          <a:lstStyle/>
          <a:p>
            <a:r>
              <a:rPr lang="en-BE" sz="1600" dirty="0"/>
              <a:t>BER vs SNR</a:t>
            </a:r>
          </a:p>
        </p:txBody>
      </p:sp>
      <p:pic>
        <p:nvPicPr>
          <p:cNvPr id="6" name="Picture 5">
            <a:extLst>
              <a:ext uri="{FF2B5EF4-FFF2-40B4-BE49-F238E27FC236}">
                <a16:creationId xmlns:a16="http://schemas.microsoft.com/office/drawing/2014/main" id="{FD9707E1-58F1-CF32-6499-35753030F63D}"/>
              </a:ext>
            </a:extLst>
          </p:cNvPr>
          <p:cNvPicPr>
            <a:picLocks noChangeAspect="1"/>
          </p:cNvPicPr>
          <p:nvPr/>
        </p:nvPicPr>
        <p:blipFill>
          <a:blip r:embed="rId3"/>
          <a:stretch>
            <a:fillRect/>
          </a:stretch>
        </p:blipFill>
        <p:spPr>
          <a:xfrm>
            <a:off x="269296" y="2396052"/>
            <a:ext cx="3855029" cy="3212524"/>
          </a:xfrm>
          <a:prstGeom prst="rect">
            <a:avLst/>
          </a:prstGeom>
        </p:spPr>
      </p:pic>
      <p:pic>
        <p:nvPicPr>
          <p:cNvPr id="10" name="Picture 9">
            <a:extLst>
              <a:ext uri="{FF2B5EF4-FFF2-40B4-BE49-F238E27FC236}">
                <a16:creationId xmlns:a16="http://schemas.microsoft.com/office/drawing/2014/main" id="{59DD08DB-B46F-FF5C-CC5A-33E0E5309A29}"/>
              </a:ext>
            </a:extLst>
          </p:cNvPr>
          <p:cNvPicPr>
            <a:picLocks noChangeAspect="1"/>
          </p:cNvPicPr>
          <p:nvPr/>
        </p:nvPicPr>
        <p:blipFill>
          <a:blip r:embed="rId4"/>
          <a:stretch>
            <a:fillRect/>
          </a:stretch>
        </p:blipFill>
        <p:spPr>
          <a:xfrm>
            <a:off x="4170030" y="2396052"/>
            <a:ext cx="3855029" cy="3212524"/>
          </a:xfrm>
          <a:prstGeom prst="rect">
            <a:avLst/>
          </a:prstGeom>
        </p:spPr>
      </p:pic>
      <p:pic>
        <p:nvPicPr>
          <p:cNvPr id="12" name="Picture 11">
            <a:extLst>
              <a:ext uri="{FF2B5EF4-FFF2-40B4-BE49-F238E27FC236}">
                <a16:creationId xmlns:a16="http://schemas.microsoft.com/office/drawing/2014/main" id="{EDE62F50-ED28-72E4-C169-91638D30B027}"/>
              </a:ext>
            </a:extLst>
          </p:cNvPr>
          <p:cNvPicPr>
            <a:picLocks noChangeAspect="1"/>
          </p:cNvPicPr>
          <p:nvPr/>
        </p:nvPicPr>
        <p:blipFill>
          <a:blip r:embed="rId5"/>
          <a:stretch>
            <a:fillRect/>
          </a:stretch>
        </p:blipFill>
        <p:spPr>
          <a:xfrm>
            <a:off x="8070764" y="2396052"/>
            <a:ext cx="3855029" cy="3212524"/>
          </a:xfrm>
          <a:prstGeom prst="rect">
            <a:avLst/>
          </a:prstGeom>
        </p:spPr>
      </p:pic>
    </p:spTree>
    <p:extLst>
      <p:ext uri="{BB962C8B-B14F-4D97-AF65-F5344CB8AC3E}">
        <p14:creationId xmlns:p14="http://schemas.microsoft.com/office/powerpoint/2010/main" val="1457199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4F40E0-834E-402D-66A3-6619C3E7E176}"/>
              </a:ext>
            </a:extLst>
          </p:cNvPr>
          <p:cNvSpPr>
            <a:spLocks noGrp="1"/>
          </p:cNvSpPr>
          <p:nvPr>
            <p:ph type="body" sz="quarter" idx="10"/>
          </p:nvPr>
        </p:nvSpPr>
        <p:spPr/>
        <p:txBody>
          <a:bodyPr/>
          <a:lstStyle/>
          <a:p>
            <a:r>
              <a:rPr lang="en-BE" b="1" dirty="0"/>
              <a:t>Conclusion: same performance trade-offs for each UT as for a SU-MIMO system!</a:t>
            </a:r>
          </a:p>
        </p:txBody>
      </p:sp>
      <p:sp>
        <p:nvSpPr>
          <p:cNvPr id="4" name="Title 3">
            <a:extLst>
              <a:ext uri="{FF2B5EF4-FFF2-40B4-BE49-F238E27FC236}">
                <a16:creationId xmlns:a16="http://schemas.microsoft.com/office/drawing/2014/main" id="{FB5C31C6-A4E2-AAD4-3642-C41DE5DBCE61}"/>
              </a:ext>
            </a:extLst>
          </p:cNvPr>
          <p:cNvSpPr>
            <a:spLocks noGrp="1"/>
          </p:cNvSpPr>
          <p:nvPr>
            <p:ph type="title"/>
          </p:nvPr>
        </p:nvSpPr>
        <p:spPr/>
        <p:txBody>
          <a:bodyPr/>
          <a:lstStyle/>
          <a:p>
            <a:r>
              <a:rPr lang="en-BE" dirty="0"/>
              <a:t>Simulation Results – ZF</a:t>
            </a:r>
          </a:p>
        </p:txBody>
      </p:sp>
      <p:pic>
        <p:nvPicPr>
          <p:cNvPr id="6" name="Picture 5">
            <a:extLst>
              <a:ext uri="{FF2B5EF4-FFF2-40B4-BE49-F238E27FC236}">
                <a16:creationId xmlns:a16="http://schemas.microsoft.com/office/drawing/2014/main" id="{2928B8FB-1142-887E-F36B-9102ECD99899}"/>
              </a:ext>
            </a:extLst>
          </p:cNvPr>
          <p:cNvPicPr>
            <a:picLocks noChangeAspect="1"/>
          </p:cNvPicPr>
          <p:nvPr/>
        </p:nvPicPr>
        <p:blipFill>
          <a:blip r:embed="rId2"/>
          <a:stretch>
            <a:fillRect/>
          </a:stretch>
        </p:blipFill>
        <p:spPr>
          <a:xfrm>
            <a:off x="1905815" y="1893046"/>
            <a:ext cx="8380370" cy="47139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2202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9862-86FB-2406-D732-6EB21CD107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AF823F-720C-A170-DB6C-8101825D25C7}"/>
              </a:ext>
            </a:extLst>
          </p:cNvPr>
          <p:cNvSpPr>
            <a:spLocks noGrp="1"/>
          </p:cNvSpPr>
          <p:nvPr>
            <p:ph type="title"/>
          </p:nvPr>
        </p:nvSpPr>
        <p:spPr/>
        <p:txBody>
          <a:bodyPr/>
          <a:lstStyle/>
          <a:p>
            <a:r>
              <a:rPr lang="en-BE" dirty="0"/>
              <a:t>Precoding Techniques – ZF + LSV</a:t>
            </a:r>
          </a:p>
        </p:txBody>
      </p:sp>
      <p:sp>
        <p:nvSpPr>
          <p:cNvPr id="8" name="TextBox 7">
            <a:extLst>
              <a:ext uri="{FF2B5EF4-FFF2-40B4-BE49-F238E27FC236}">
                <a16:creationId xmlns:a16="http://schemas.microsoft.com/office/drawing/2014/main" id="{B2A7616F-62E4-CAA4-67BF-461EEA8C71C5}"/>
              </a:ext>
            </a:extLst>
          </p:cNvPr>
          <p:cNvSpPr txBox="1"/>
          <p:nvPr/>
        </p:nvSpPr>
        <p:spPr>
          <a:xfrm>
            <a:off x="542609" y="1212248"/>
            <a:ext cx="9073318" cy="646331"/>
          </a:xfrm>
          <a:prstGeom prst="rect">
            <a:avLst/>
          </a:prstGeom>
          <a:noFill/>
        </p:spPr>
        <p:txBody>
          <a:bodyPr wrap="none" rtlCol="0">
            <a:spAutoFit/>
          </a:bodyPr>
          <a:lstStyle/>
          <a:p>
            <a:r>
              <a:rPr lang="en-BE" b="1" dirty="0"/>
              <a:t>GOAL:</a:t>
            </a:r>
            <a:r>
              <a:rPr lang="en-BE" dirty="0"/>
              <a:t> </a:t>
            </a:r>
          </a:p>
          <a:p>
            <a:r>
              <a:rPr lang="en-BE" dirty="0"/>
              <a:t>Cancel all interference (stream and user) and create more favourable circumstances for optimal power allocation</a:t>
            </a:r>
          </a:p>
        </p:txBody>
      </p:sp>
      <p:sp>
        <p:nvSpPr>
          <p:cNvPr id="10" name="TextBox 9">
            <a:extLst>
              <a:ext uri="{FF2B5EF4-FFF2-40B4-BE49-F238E27FC236}">
                <a16:creationId xmlns:a16="http://schemas.microsoft.com/office/drawing/2014/main" id="{728A0586-24DC-4199-5F46-8E226C256BD7}"/>
              </a:ext>
            </a:extLst>
          </p:cNvPr>
          <p:cNvSpPr txBox="1"/>
          <p:nvPr/>
        </p:nvSpPr>
        <p:spPr>
          <a:xfrm>
            <a:off x="542609" y="2037397"/>
            <a:ext cx="6280887" cy="1477328"/>
          </a:xfrm>
          <a:prstGeom prst="rect">
            <a:avLst/>
          </a:prstGeom>
          <a:noFill/>
        </p:spPr>
        <p:txBody>
          <a:bodyPr wrap="none" rtlCol="0">
            <a:spAutoFit/>
          </a:bodyPr>
          <a:lstStyle/>
          <a:p>
            <a:r>
              <a:rPr lang="en-BE" b="1" dirty="0"/>
              <a:t>HOW: </a:t>
            </a:r>
          </a:p>
          <a:p>
            <a:pPr marL="342900" indent="-342900">
              <a:buFont typeface="Arial" panose="020B0604020202020204" pitchFamily="34" charset="0"/>
              <a:buChar char="•"/>
            </a:pPr>
            <a:r>
              <a:rPr lang="en-GB" dirty="0"/>
              <a:t>Choose the heuristic combiners equal to the LSV of the UT channels</a:t>
            </a:r>
          </a:p>
          <a:p>
            <a:pPr marL="342900" indent="-342900">
              <a:buFont typeface="Arial" panose="020B0604020202020204" pitchFamily="34" charset="0"/>
              <a:buChar char="•"/>
            </a:pPr>
            <a:r>
              <a:rPr lang="en-GB" dirty="0"/>
              <a:t>C</a:t>
            </a:r>
            <a:r>
              <a:rPr lang="en-BE" dirty="0"/>
              <a:t>hoose the precoder equal to the psuedo-inverse of the effective channel</a:t>
            </a:r>
          </a:p>
          <a:p>
            <a:pPr marL="342900" indent="-342900">
              <a:buFont typeface="Arial" panose="020B0604020202020204" pitchFamily="34" charset="0"/>
              <a:buChar char="•"/>
            </a:pPr>
            <a:r>
              <a:rPr lang="en-BE" dirty="0"/>
              <a:t>Waterfilling for power allocation</a:t>
            </a:r>
          </a:p>
          <a:p>
            <a:endParaRPr lang="en-BE"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D7CE6E-7A79-1140-AE4C-0AE07A14F178}"/>
                  </a:ext>
                </a:extLst>
              </p:cNvPr>
              <p:cNvSpPr txBox="1"/>
              <p:nvPr/>
            </p:nvSpPr>
            <p:spPr>
              <a:xfrm>
                <a:off x="542609" y="3407421"/>
                <a:ext cx="9080363" cy="2100319"/>
              </a:xfrm>
              <a:prstGeom prst="rect">
                <a:avLst/>
              </a:prstGeom>
              <a:noFill/>
            </p:spPr>
            <p:txBody>
              <a:bodyPr wrap="square" rtlCol="0">
                <a:spAutoFit/>
              </a:bodyPr>
              <a:lstStyle/>
              <a:p>
                <a:r>
                  <a:rPr lang="en-BE" b="1" dirty="0"/>
                  <a:t>EQUATIONS: </a:t>
                </a:r>
              </a:p>
              <a:p>
                <a:pPr marL="742950" lvl="1" indent="-285750">
                  <a:lnSpc>
                    <a:spcPct val="150000"/>
                  </a:lnSpc>
                  <a:buFont typeface="Arial" panose="020B0604020202020204" pitchFamily="34" charset="0"/>
                  <a:buChar char="•"/>
                </a:pPr>
                <a:r>
                  <a:rPr lang="en-GB" dirty="0"/>
                  <a:t>S</a:t>
                </a:r>
                <a:r>
                  <a:rPr lang="en-BE" dirty="0"/>
                  <a:t>ystem equation:     </a:t>
                </a:r>
                <a14:m>
                  <m:oMath xmlns:m="http://schemas.openxmlformats.org/officeDocument/2006/math">
                    <m:r>
                      <a:rPr lang="en-US" b="1" i="0" smtClean="0">
                        <a:latin typeface="Cambria Math" panose="02040503050406030204" pitchFamily="18" charset="0"/>
                      </a:rPr>
                      <m:t>𝐳</m:t>
                    </m:r>
                    <m:r>
                      <a:rPr lang="en-US" b="1" i="0" smtClean="0">
                        <a:latin typeface="Cambria Math" panose="02040503050406030204" pitchFamily="18" charset="0"/>
                      </a:rPr>
                      <m:t> = </m:t>
                    </m:r>
                    <m:r>
                      <a:rPr lang="en-US" b="1" i="0" smtClean="0">
                        <a:latin typeface="Cambria Math" panose="02040503050406030204" pitchFamily="18" charset="0"/>
                      </a:rPr>
                      <m:t>𝐆𝐇𝐅</m:t>
                    </m:r>
                    <m:r>
                      <a:rPr lang="en-US" b="1" i="1" smtClean="0">
                        <a:latin typeface="Cambria Math" panose="02040503050406030204" pitchFamily="18" charset="0"/>
                      </a:rPr>
                      <m:t>⋅</m:t>
                    </m:r>
                    <m:r>
                      <a:rPr lang="en-US" b="1" i="0" smtClean="0">
                        <a:latin typeface="Cambria Math" panose="02040503050406030204" pitchFamily="18" charset="0"/>
                      </a:rPr>
                      <m:t>𝐚</m:t>
                    </m:r>
                    <m:r>
                      <a:rPr lang="en-US" b="1" i="0" smtClean="0">
                        <a:latin typeface="Cambria Math" panose="02040503050406030204" pitchFamily="18" charset="0"/>
                      </a:rPr>
                      <m:t> + </m:t>
                    </m:r>
                    <m:r>
                      <a:rPr lang="en-US" b="1" i="0" smtClean="0">
                        <a:latin typeface="Cambria Math" panose="02040503050406030204" pitchFamily="18" charset="0"/>
                      </a:rPr>
                      <m:t>𝐆</m:t>
                    </m:r>
                    <m:r>
                      <a:rPr lang="en-US" b="1" i="0" smtClean="0">
                        <a:latin typeface="Cambria Math" panose="02040503050406030204" pitchFamily="18" charset="0"/>
                      </a:rPr>
                      <m:t> </m:t>
                    </m:r>
                    <m:r>
                      <a:rPr lang="en-US" b="1" i="0" smtClean="0">
                        <a:latin typeface="Cambria Math" panose="02040503050406030204" pitchFamily="18" charset="0"/>
                      </a:rPr>
                      <m:t>𝐧</m:t>
                    </m:r>
                  </m:oMath>
                </a14:m>
                <a:endParaRPr lang="en-BE" b="1" dirty="0"/>
              </a:p>
              <a:p>
                <a:pPr marL="742950" lvl="1" indent="-285750">
                  <a:lnSpc>
                    <a:spcPct val="150000"/>
                  </a:lnSpc>
                  <a:buFont typeface="Arial" panose="020B0604020202020204" pitchFamily="34" charset="0"/>
                  <a:buChar char="•"/>
                </a:pPr>
                <a:r>
                  <a:rPr lang="en-US" dirty="0"/>
                  <a:t>Combiner Matrix</a:t>
                </a:r>
                <a:r>
                  <a:rPr lang="en-BE" dirty="0"/>
                  <a:t>: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𝐇</m:t>
                        </m:r>
                      </m:e>
                      <m:sub>
                        <m:r>
                          <m:rPr>
                            <m:sty m:val="p"/>
                          </m:rPr>
                          <a:rPr lang="en-US" b="1" i="1" smtClean="0">
                            <a:latin typeface="Cambria Math" panose="02040503050406030204" pitchFamily="18" charset="0"/>
                          </a:rPr>
                          <m:t>k</m:t>
                        </m:r>
                      </m:sub>
                    </m:sSub>
                    <m:r>
                      <a:rPr lang="en-US" b="1">
                        <a:latin typeface="Cambria Math" panose="02040503050406030204" pitchFamily="18" charset="0"/>
                      </a:rPr>
                      <m:t> =</m:t>
                    </m:r>
                    <m:r>
                      <a:rPr lang="en-US" b="1" i="0" smtClean="0">
                        <a:latin typeface="Cambria Math" panose="02040503050406030204" pitchFamily="18" charset="0"/>
                      </a:rPr>
                      <m:t> </m:t>
                    </m:r>
                    <m:sSub>
                      <m:sSubPr>
                        <m:ctrlPr>
                          <a:rPr lang="en-US" b="1" i="1" smtClean="0">
                            <a:latin typeface="Cambria Math" panose="02040503050406030204" pitchFamily="18" charset="0"/>
                          </a:rPr>
                        </m:ctrlPr>
                      </m:sSubPr>
                      <m:e>
                        <m:r>
                          <a:rPr lang="en-US" b="1" i="0" smtClean="0">
                            <a:latin typeface="Cambria Math" panose="02040503050406030204" pitchFamily="18" charset="0"/>
                          </a:rPr>
                          <m:t>𝐔</m:t>
                        </m:r>
                      </m:e>
                      <m:sub>
                        <m:r>
                          <m:rPr>
                            <m:sty m:val="p"/>
                          </m:rPr>
                          <a:rPr lang="en-US" b="1" i="1" smtClean="0">
                            <a:latin typeface="Cambria Math" panose="02040503050406030204" pitchFamily="18" charset="0"/>
                          </a:rPr>
                          <m:t>k</m:t>
                        </m:r>
                      </m:sub>
                    </m:sSub>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0" smtClean="0">
                            <a:latin typeface="Cambria Math" panose="02040503050406030204" pitchFamily="18" charset="0"/>
                          </a:rPr>
                          <m:t>𝚺</m:t>
                        </m:r>
                      </m:e>
                      <m:sub>
                        <m:r>
                          <m:rPr>
                            <m:sty m:val="p"/>
                          </m:rPr>
                          <a:rPr lang="en-US" b="1" i="1" smtClean="0">
                            <a:latin typeface="Cambria Math" panose="02040503050406030204" pitchFamily="18" charset="0"/>
                          </a:rPr>
                          <m:t>k</m:t>
                        </m:r>
                      </m:sub>
                    </m:sSub>
                    <m:sSubSup>
                      <m:sSubSupPr>
                        <m:ctrlPr>
                          <a:rPr lang="en-US" b="1" i="1" smtClean="0">
                            <a:latin typeface="Cambria Math" panose="02040503050406030204" pitchFamily="18" charset="0"/>
                          </a:rPr>
                        </m:ctrlPr>
                      </m:sSubSupPr>
                      <m:e>
                        <m:r>
                          <a:rPr lang="en-US" b="1" i="0" smtClean="0">
                            <a:latin typeface="Cambria Math" panose="02040503050406030204" pitchFamily="18" charset="0"/>
                          </a:rPr>
                          <m:t>𝐕</m:t>
                        </m:r>
                      </m:e>
                      <m:sub>
                        <m:r>
                          <m:rPr>
                            <m:sty m:val="p"/>
                          </m:rPr>
                          <a:rPr lang="en-US" b="1" i="1" smtClean="0">
                            <a:latin typeface="Cambria Math" panose="02040503050406030204" pitchFamily="18" charset="0"/>
                          </a:rPr>
                          <m:t>k</m:t>
                        </m:r>
                      </m:sub>
                      <m:sup>
                        <m:r>
                          <m:rPr>
                            <m:sty m:val="p"/>
                          </m:rPr>
                          <a:rPr lang="en-US" b="1" i="1" smtClean="0">
                            <a:latin typeface="Cambria Math" panose="02040503050406030204" pitchFamily="18" charset="0"/>
                          </a:rPr>
                          <m:t>H</m:t>
                        </m:r>
                      </m:sup>
                    </m:sSubSup>
                    <m:r>
                      <a:rPr lang="en-US" b="1" i="1" smtClean="0">
                        <a:latin typeface="Cambria Math" panose="02040503050406030204" pitchFamily="18" charset="0"/>
                      </a:rPr>
                      <m:t>   ⟺ </m:t>
                    </m:r>
                    <m:sSub>
                      <m:sSubPr>
                        <m:ctrlPr>
                          <a:rPr lang="en-US" b="1" i="1" smtClean="0">
                            <a:latin typeface="Cambria Math" panose="02040503050406030204" pitchFamily="18" charset="0"/>
                          </a:rPr>
                        </m:ctrlPr>
                      </m:sSubPr>
                      <m:e>
                        <m:r>
                          <a:rPr lang="en-US" b="1" i="0" smtClean="0">
                            <a:latin typeface="Cambria Math" panose="02040503050406030204" pitchFamily="18" charset="0"/>
                          </a:rPr>
                          <m:t>𝐆</m:t>
                        </m:r>
                      </m:e>
                      <m:sub>
                        <m:r>
                          <m:rPr>
                            <m:sty m:val="p"/>
                          </m:rPr>
                          <a:rPr lang="en-US" b="1" i="1" smtClean="0">
                            <a:latin typeface="Cambria Math" panose="02040503050406030204" pitchFamily="18" charset="0"/>
                          </a:rPr>
                          <m:t>k</m:t>
                        </m:r>
                      </m:sub>
                    </m:sSub>
                    <m:r>
                      <a:rPr lang="en-US" b="1" i="1" smtClean="0">
                        <a:latin typeface="Cambria Math" panose="02040503050406030204" pitchFamily="18" charset="0"/>
                      </a:rPr>
                      <m:t> = </m:t>
                    </m:r>
                    <m:sSubSup>
                      <m:sSubSupPr>
                        <m:ctrlPr>
                          <a:rPr lang="en-US" b="1" i="1" smtClean="0">
                            <a:latin typeface="Cambria Math" panose="02040503050406030204" pitchFamily="18" charset="0"/>
                          </a:rPr>
                        </m:ctrlPr>
                      </m:sSubSupPr>
                      <m:e>
                        <m:r>
                          <a:rPr lang="en-US" b="1" i="0" smtClean="0">
                            <a:latin typeface="Cambria Math" panose="02040503050406030204" pitchFamily="18" charset="0"/>
                          </a:rPr>
                          <m:t>𝐔</m:t>
                        </m:r>
                      </m:e>
                      <m:sub>
                        <m:r>
                          <m:rPr>
                            <m:sty m:val="p"/>
                          </m:rPr>
                          <a:rPr lang="en-US" b="1" i="1" smtClean="0">
                            <a:latin typeface="Cambria Math" panose="02040503050406030204" pitchFamily="18" charset="0"/>
                          </a:rPr>
                          <m:t>k</m:t>
                        </m:r>
                      </m:sub>
                      <m:sup>
                        <m:r>
                          <m:rPr>
                            <m:sty m:val="p"/>
                          </m:rPr>
                          <a:rPr lang="en-US" b="1" i="1" smtClean="0">
                            <a:latin typeface="Cambria Math" panose="02040503050406030204" pitchFamily="18" charset="0"/>
                          </a:rPr>
                          <m:t>H</m:t>
                        </m:r>
                      </m:sup>
                    </m:sSubSup>
                  </m:oMath>
                </a14:m>
                <a:endParaRPr lang="en-US" b="1" dirty="0"/>
              </a:p>
              <a:p>
                <a:pPr marL="742950" lvl="1" indent="-285750">
                  <a:lnSpc>
                    <a:spcPct val="150000"/>
                  </a:lnSpc>
                  <a:buFont typeface="Arial" panose="020B0604020202020204" pitchFamily="34" charset="0"/>
                  <a:buChar char="•"/>
                </a:pPr>
                <a:r>
                  <a:rPr lang="en-BE" dirty="0"/>
                  <a:t>Precoder Matrix:      </a:t>
                </a:r>
                <a14:m>
                  <m:oMath xmlns:m="http://schemas.openxmlformats.org/officeDocument/2006/math">
                    <m:r>
                      <a:rPr lang="en-US" b="1" i="0" smtClean="0">
                        <a:latin typeface="Cambria Math" panose="02040503050406030204" pitchFamily="18" charset="0"/>
                      </a:rPr>
                      <m:t>𝐓</m:t>
                    </m:r>
                    <m:r>
                      <a:rPr lang="en-US" b="0" i="1" smtClean="0">
                        <a:latin typeface="Cambria Math" panose="02040503050406030204" pitchFamily="18" charset="0"/>
                      </a:rPr>
                      <m:t> = </m:t>
                    </m:r>
                    <m:r>
                      <a:rPr lang="en-US" b="1" i="0" smtClean="0">
                        <a:latin typeface="Cambria Math" panose="02040503050406030204" pitchFamily="18" charset="0"/>
                      </a:rPr>
                      <m:t>𝐆𝐇𝐅</m:t>
                    </m:r>
                    <m:r>
                      <a:rPr lang="en-US" b="0" i="1" smtClean="0">
                        <a:latin typeface="Cambria Math" panose="02040503050406030204" pitchFamily="18" charset="0"/>
                      </a:rPr>
                      <m:t> = </m:t>
                    </m:r>
                    <m:r>
                      <a:rPr lang="en-US" b="1" i="0" smtClean="0">
                        <a:latin typeface="Cambria Math" panose="02040503050406030204" pitchFamily="18" charset="0"/>
                      </a:rPr>
                      <m:t>𝐈</m:t>
                    </m:r>
                    <m:r>
                      <a:rPr lang="en-US" b="1" i="1" smtClean="0">
                        <a:latin typeface="Cambria Math" panose="02040503050406030204" pitchFamily="18" charset="0"/>
                      </a:rPr>
                      <m:t>⋅</m:t>
                    </m:r>
                    <m:r>
                      <a:rPr lang="en-US" b="1" i="0" smtClean="0">
                        <a:latin typeface="Cambria Math" panose="02040503050406030204" pitchFamily="18" charset="0"/>
                      </a:rPr>
                      <m:t>𝐏</m:t>
                    </m:r>
                    <m:r>
                      <a:rPr lang="en-US" b="0" i="1" smtClean="0">
                        <a:latin typeface="Cambria Math" panose="02040503050406030204" pitchFamily="18" charset="0"/>
                      </a:rPr>
                      <m:t> ⟺ </m:t>
                    </m:r>
                    <m:r>
                      <a:rPr lang="en-US" b="1" i="0" smtClean="0">
                        <a:latin typeface="Cambria Math" panose="02040503050406030204" pitchFamily="18" charset="0"/>
                      </a:rPr>
                      <m:t>𝐅</m:t>
                    </m:r>
                    <m:r>
                      <a:rPr lang="en-US" b="0" i="1" smtClean="0">
                        <a:latin typeface="Cambria Math" panose="02040503050406030204" pitchFamily="18" charset="0"/>
                      </a:rPr>
                      <m:t> = </m:t>
                    </m:r>
                    <m:sSup>
                      <m:sSupPr>
                        <m:ctrlPr>
                          <a:rPr lang="en-US" b="0" i="1" smtClean="0">
                            <a:latin typeface="Cambria Math" panose="02040503050406030204" pitchFamily="18" charset="0"/>
                          </a:rPr>
                        </m:ctrlPr>
                      </m:sSupPr>
                      <m:e>
                        <m:r>
                          <a:rPr lang="en-US" b="1" i="0" smtClean="0">
                            <a:latin typeface="Cambria Math" panose="02040503050406030204" pitchFamily="18" charset="0"/>
                          </a:rPr>
                          <m:t>(</m:t>
                        </m:r>
                        <m:r>
                          <a:rPr lang="en-US" b="1" i="0" smtClean="0">
                            <a:latin typeface="Cambria Math" panose="02040503050406030204" pitchFamily="18" charset="0"/>
                          </a:rPr>
                          <m:t>𝐆𝐇</m:t>
                        </m:r>
                        <m:r>
                          <a:rPr lang="en-US" b="1" i="0" smtClean="0">
                            <a:latin typeface="Cambria Math" panose="02040503050406030204" pitchFamily="18" charset="0"/>
                          </a:rPr>
                          <m:t>)</m:t>
                        </m:r>
                      </m:e>
                      <m:sup>
                        <m:r>
                          <m:rPr>
                            <m:sty m:val="p"/>
                          </m:rPr>
                          <a:rPr lang="en-US" b="0" i="1" smtClean="0">
                            <a:latin typeface="Cambria Math" panose="02040503050406030204" pitchFamily="18" charset="0"/>
                          </a:rPr>
                          <m:t>H</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1" i="0" smtClean="0">
                            <a:latin typeface="Cambria Math" panose="02040503050406030204" pitchFamily="18" charset="0"/>
                          </a:rPr>
                          <m:t>(</m:t>
                        </m:r>
                        <m:r>
                          <a:rPr lang="en-US" b="1" i="0" smtClean="0">
                            <a:latin typeface="Cambria Math" panose="02040503050406030204" pitchFamily="18" charset="0"/>
                          </a:rPr>
                          <m:t>𝐆𝐇</m:t>
                        </m:r>
                        <m:r>
                          <a:rPr lang="en-US" b="1" i="0" smtClean="0">
                            <a:latin typeface="Cambria Math" panose="02040503050406030204" pitchFamily="18" charset="0"/>
                          </a:rPr>
                          <m:t>)</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1" i="0" smtClean="0">
                                <a:latin typeface="Cambria Math" panose="02040503050406030204" pitchFamily="18" charset="0"/>
                              </a:rPr>
                              <m:t>(</m:t>
                            </m:r>
                            <m:r>
                              <a:rPr lang="en-US" b="1" i="0" smtClean="0">
                                <a:latin typeface="Cambria Math" panose="02040503050406030204" pitchFamily="18" charset="0"/>
                              </a:rPr>
                              <m:t>𝐆𝐇</m:t>
                            </m:r>
                            <m:r>
                              <a:rPr lang="en-US" b="1" i="0" smtClean="0">
                                <a:latin typeface="Cambria Math" panose="02040503050406030204" pitchFamily="18" charset="0"/>
                              </a:rPr>
                              <m:t>)</m:t>
                            </m:r>
                          </m:e>
                          <m:sup>
                            <m:r>
                              <m:rPr>
                                <m:sty m:val="p"/>
                              </m:rPr>
                              <a:rPr lang="en-US" b="0" i="1" smtClean="0">
                                <a:latin typeface="Cambria Math" panose="02040503050406030204" pitchFamily="18" charset="0"/>
                              </a:rPr>
                              <m:t>H</m:t>
                            </m:r>
                          </m:sup>
                        </m:sSup>
                        <m:r>
                          <a:rPr lang="en-US" b="0" i="1" smtClean="0">
                            <a:latin typeface="Cambria Math" panose="02040503050406030204" pitchFamily="18" charset="0"/>
                          </a:rPr>
                          <m:t>)</m:t>
                        </m:r>
                      </m:e>
                      <m:sup>
                        <m:r>
                          <a:rPr lang="en-US" b="0" i="1" smtClean="0">
                            <a:latin typeface="Cambria Math" panose="02040503050406030204" pitchFamily="18" charset="0"/>
                          </a:rPr>
                          <m:t>−1</m:t>
                        </m:r>
                      </m:sup>
                    </m:sSup>
                    <m:r>
                      <a:rPr lang="en-US" b="0" i="1" smtClean="0">
                        <a:latin typeface="Cambria Math" panose="02040503050406030204" pitchFamily="18" charset="0"/>
                      </a:rPr>
                      <m:t> ⋅ </m:t>
                    </m:r>
                    <m:r>
                      <a:rPr lang="en-US" b="1" i="0" smtClean="0">
                        <a:latin typeface="Cambria Math" panose="02040503050406030204" pitchFamily="18" charset="0"/>
                      </a:rPr>
                      <m:t>𝐏</m:t>
                    </m:r>
                  </m:oMath>
                </a14:m>
                <a:endParaRPr lang="en-BE" b="1" dirty="0"/>
              </a:p>
              <a:p>
                <a:pPr marL="742950" lvl="1" indent="-285750">
                  <a:lnSpc>
                    <a:spcPct val="150000"/>
                  </a:lnSpc>
                  <a:buFont typeface="Arial" panose="020B0604020202020204" pitchFamily="34" charset="0"/>
                  <a:buChar char="•"/>
                </a:pPr>
                <a:r>
                  <a:rPr lang="en-BE" dirty="0"/>
                  <a:t>Result:                       </a:t>
                </a:r>
                <a14:m>
                  <m:oMath xmlns:m="http://schemas.openxmlformats.org/officeDocument/2006/math">
                    <m:r>
                      <a:rPr lang="en-US" b="1">
                        <a:latin typeface="Cambria Math" panose="02040503050406030204" pitchFamily="18" charset="0"/>
                      </a:rPr>
                      <m:t>𝐳</m:t>
                    </m:r>
                    <m:r>
                      <a:rPr lang="en-US" b="1">
                        <a:latin typeface="Cambria Math" panose="02040503050406030204" pitchFamily="18" charset="0"/>
                      </a:rPr>
                      <m:t> = </m:t>
                    </m:r>
                    <m:r>
                      <a:rPr lang="en-US" b="1" i="0" smtClean="0">
                        <a:latin typeface="Cambria Math" panose="02040503050406030204" pitchFamily="18" charset="0"/>
                      </a:rPr>
                      <m:t>𝐏</m:t>
                    </m:r>
                    <m:r>
                      <a:rPr lang="en-US" b="1" i="0" smtClean="0">
                        <a:latin typeface="Cambria Math" panose="02040503050406030204" pitchFamily="18" charset="0"/>
                      </a:rPr>
                      <m:t> </m:t>
                    </m:r>
                    <m:r>
                      <a:rPr lang="en-US" b="1">
                        <a:latin typeface="Cambria Math" panose="02040503050406030204" pitchFamily="18" charset="0"/>
                      </a:rPr>
                      <m:t>𝐚</m:t>
                    </m:r>
                    <m:r>
                      <a:rPr lang="en-US" b="1">
                        <a:latin typeface="Cambria Math" panose="02040503050406030204" pitchFamily="18" charset="0"/>
                      </a:rPr>
                      <m:t> + </m:t>
                    </m:r>
                    <m:r>
                      <a:rPr lang="en-US" b="1">
                        <a:latin typeface="Cambria Math" panose="02040503050406030204" pitchFamily="18" charset="0"/>
                      </a:rPr>
                      <m:t>𝐧</m:t>
                    </m:r>
                  </m:oMath>
                </a14:m>
                <a:endParaRPr lang="en-BE" dirty="0"/>
              </a:p>
            </p:txBody>
          </p:sp>
        </mc:Choice>
        <mc:Fallback xmlns="">
          <p:sp>
            <p:nvSpPr>
              <p:cNvPr id="12" name="TextBox 11">
                <a:extLst>
                  <a:ext uri="{FF2B5EF4-FFF2-40B4-BE49-F238E27FC236}">
                    <a16:creationId xmlns:a16="http://schemas.microsoft.com/office/drawing/2014/main" id="{56D7CE6E-7A79-1140-AE4C-0AE07A14F178}"/>
                  </a:ext>
                </a:extLst>
              </p:cNvPr>
              <p:cNvSpPr txBox="1">
                <a:spLocks noRot="1" noChangeAspect="1" noMove="1" noResize="1" noEditPoints="1" noAdjustHandles="1" noChangeArrowheads="1" noChangeShapeType="1" noTextEdit="1"/>
              </p:cNvSpPr>
              <p:nvPr/>
            </p:nvSpPr>
            <p:spPr>
              <a:xfrm>
                <a:off x="542609" y="3407421"/>
                <a:ext cx="9080363" cy="2100319"/>
              </a:xfrm>
              <a:prstGeom prst="rect">
                <a:avLst/>
              </a:prstGeom>
              <a:blipFill>
                <a:blip r:embed="rId2"/>
                <a:stretch>
                  <a:fillRect l="-559" t="-1205"/>
                </a:stretch>
              </a:blipFill>
            </p:spPr>
            <p:txBody>
              <a:bodyPr/>
              <a:lstStyle/>
              <a:p>
                <a:r>
                  <a:rPr lang="en-BE">
                    <a:noFill/>
                  </a:rPr>
                  <a:t> </a:t>
                </a:r>
              </a:p>
            </p:txBody>
          </p:sp>
        </mc:Fallback>
      </mc:AlternateContent>
    </p:spTree>
    <p:extLst>
      <p:ext uri="{BB962C8B-B14F-4D97-AF65-F5344CB8AC3E}">
        <p14:creationId xmlns:p14="http://schemas.microsoft.com/office/powerpoint/2010/main" val="319498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69DAEA-BCEA-789F-51F2-4E03AEA925D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34F1CAC-86A5-8AFD-AA49-3DC7812451A7}"/>
              </a:ext>
            </a:extLst>
          </p:cNvPr>
          <p:cNvSpPr>
            <a:spLocks noGrp="1"/>
          </p:cNvSpPr>
          <p:nvPr>
            <p:ph type="body" sz="quarter" idx="10"/>
          </p:nvPr>
        </p:nvSpPr>
        <p:spPr/>
        <p:txBody>
          <a:bodyPr/>
          <a:lstStyle/>
          <a:p>
            <a:r>
              <a:rPr lang="en-BE" dirty="0"/>
              <a:t>Fixed Bit Loader (4-QAM)</a:t>
            </a:r>
          </a:p>
        </p:txBody>
      </p:sp>
      <p:sp>
        <p:nvSpPr>
          <p:cNvPr id="4" name="Title 3">
            <a:extLst>
              <a:ext uri="{FF2B5EF4-FFF2-40B4-BE49-F238E27FC236}">
                <a16:creationId xmlns:a16="http://schemas.microsoft.com/office/drawing/2014/main" id="{6AB395A3-3F46-049C-9260-DBC9EEE99B3D}"/>
              </a:ext>
            </a:extLst>
          </p:cNvPr>
          <p:cNvSpPr>
            <a:spLocks noGrp="1"/>
          </p:cNvSpPr>
          <p:nvPr>
            <p:ph type="title"/>
          </p:nvPr>
        </p:nvSpPr>
        <p:spPr/>
        <p:txBody>
          <a:bodyPr/>
          <a:lstStyle/>
          <a:p>
            <a:r>
              <a:rPr lang="en-BE" dirty="0"/>
              <a:t>Simulation Results – ZF + LSV</a:t>
            </a:r>
          </a:p>
        </p:txBody>
      </p:sp>
      <p:sp>
        <p:nvSpPr>
          <p:cNvPr id="12" name="TextBox 11">
            <a:extLst>
              <a:ext uri="{FF2B5EF4-FFF2-40B4-BE49-F238E27FC236}">
                <a16:creationId xmlns:a16="http://schemas.microsoft.com/office/drawing/2014/main" id="{D60A1542-93E6-C962-E874-6D200A1D7C60}"/>
              </a:ext>
            </a:extLst>
          </p:cNvPr>
          <p:cNvSpPr txBox="1"/>
          <p:nvPr/>
        </p:nvSpPr>
        <p:spPr>
          <a:xfrm>
            <a:off x="3006965" y="1937558"/>
            <a:ext cx="859531" cy="369332"/>
          </a:xfrm>
          <a:prstGeom prst="rect">
            <a:avLst/>
          </a:prstGeom>
          <a:noFill/>
        </p:spPr>
        <p:txBody>
          <a:bodyPr wrap="none" rtlCol="0">
            <a:spAutoFit/>
          </a:bodyPr>
          <a:lstStyle/>
          <a:p>
            <a:r>
              <a:rPr lang="en-BE" dirty="0"/>
              <a:t>R vs SNR</a:t>
            </a:r>
          </a:p>
        </p:txBody>
      </p:sp>
      <p:sp>
        <p:nvSpPr>
          <p:cNvPr id="11" name="TextBox 10">
            <a:extLst>
              <a:ext uri="{FF2B5EF4-FFF2-40B4-BE49-F238E27FC236}">
                <a16:creationId xmlns:a16="http://schemas.microsoft.com/office/drawing/2014/main" id="{DCA447EF-17A4-EFE7-6973-9F7FAE7BE68A}"/>
              </a:ext>
            </a:extLst>
          </p:cNvPr>
          <p:cNvSpPr txBox="1"/>
          <p:nvPr/>
        </p:nvSpPr>
        <p:spPr>
          <a:xfrm>
            <a:off x="8225318" y="1937558"/>
            <a:ext cx="1059906" cy="369332"/>
          </a:xfrm>
          <a:prstGeom prst="rect">
            <a:avLst/>
          </a:prstGeom>
          <a:noFill/>
        </p:spPr>
        <p:txBody>
          <a:bodyPr wrap="none" rtlCol="0">
            <a:spAutoFit/>
          </a:bodyPr>
          <a:lstStyle/>
          <a:p>
            <a:r>
              <a:rPr lang="en-BE" dirty="0"/>
              <a:t>BER vs SNR</a:t>
            </a:r>
          </a:p>
        </p:txBody>
      </p:sp>
      <p:pic>
        <p:nvPicPr>
          <p:cNvPr id="5" name="Picture 4">
            <a:extLst>
              <a:ext uri="{FF2B5EF4-FFF2-40B4-BE49-F238E27FC236}">
                <a16:creationId xmlns:a16="http://schemas.microsoft.com/office/drawing/2014/main" id="{32604FF8-07D1-960B-BA9B-1D96F3E22799}"/>
              </a:ext>
            </a:extLst>
          </p:cNvPr>
          <p:cNvPicPr>
            <a:picLocks noChangeAspect="1"/>
          </p:cNvPicPr>
          <p:nvPr/>
        </p:nvPicPr>
        <p:blipFill>
          <a:blip r:embed="rId3"/>
          <a:stretch>
            <a:fillRect/>
          </a:stretch>
        </p:blipFill>
        <p:spPr>
          <a:xfrm>
            <a:off x="6354970" y="2202259"/>
            <a:ext cx="4800600" cy="4000500"/>
          </a:xfrm>
          <a:prstGeom prst="rect">
            <a:avLst/>
          </a:prstGeom>
        </p:spPr>
      </p:pic>
      <p:pic>
        <p:nvPicPr>
          <p:cNvPr id="8" name="Picture 7">
            <a:extLst>
              <a:ext uri="{FF2B5EF4-FFF2-40B4-BE49-F238E27FC236}">
                <a16:creationId xmlns:a16="http://schemas.microsoft.com/office/drawing/2014/main" id="{F381AFA8-245F-EE09-0A91-424BE22EAD32}"/>
              </a:ext>
            </a:extLst>
          </p:cNvPr>
          <p:cNvPicPr>
            <a:picLocks noChangeAspect="1"/>
          </p:cNvPicPr>
          <p:nvPr/>
        </p:nvPicPr>
        <p:blipFill>
          <a:blip r:embed="rId4"/>
          <a:stretch>
            <a:fillRect/>
          </a:stretch>
        </p:blipFill>
        <p:spPr>
          <a:xfrm>
            <a:off x="1036430" y="2202259"/>
            <a:ext cx="4800600" cy="4000500"/>
          </a:xfrm>
          <a:prstGeom prst="rect">
            <a:avLst/>
          </a:prstGeom>
        </p:spPr>
      </p:pic>
    </p:spTree>
    <p:extLst>
      <p:ext uri="{BB962C8B-B14F-4D97-AF65-F5344CB8AC3E}">
        <p14:creationId xmlns:p14="http://schemas.microsoft.com/office/powerpoint/2010/main" val="2123283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9C6CDD-2881-7EB5-DF6D-8219CB0F5E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928C87-C66B-2BA8-A751-761D8AE2E333}"/>
                  </a:ext>
                </a:extLst>
              </p:cNvPr>
              <p:cNvSpPr>
                <a:spLocks noGrp="1"/>
              </p:cNvSpPr>
              <p:nvPr>
                <p:ph type="body" sz="quarter" idx="10"/>
              </p:nvPr>
            </p:nvSpPr>
            <p:spPr/>
            <p:txBody>
              <a:bodyPr/>
              <a:lstStyle/>
              <a:p>
                <a:r>
                  <a:rPr lang="en-BE" dirty="0"/>
                  <a:t>Adaptive Bit Loader (</a:t>
                </a:r>
                <a14:m>
                  <m:oMath xmlns:m="http://schemas.openxmlformats.org/officeDocument/2006/math">
                    <m:r>
                      <a:rPr lang="en-US" i="1">
                        <a:latin typeface="Cambria Math" panose="02040503050406030204" pitchFamily="18" charset="0"/>
                      </a:rPr>
                      <m:t>𝑅</m:t>
                    </m:r>
                  </m:oMath>
                </a14:m>
                <a:r>
                  <a:rPr lang="en-BE" dirty="0"/>
                  <a:t>-QAM)</a:t>
                </a:r>
              </a:p>
            </p:txBody>
          </p:sp>
        </mc:Choice>
        <mc:Fallback xmlns="">
          <p:sp>
            <p:nvSpPr>
              <p:cNvPr id="3" name="Text Placeholder 2">
                <a:extLst>
                  <a:ext uri="{FF2B5EF4-FFF2-40B4-BE49-F238E27FC236}">
                    <a16:creationId xmlns:a16="http://schemas.microsoft.com/office/drawing/2014/main" id="{29928C87-C66B-2BA8-A751-761D8AE2E333}"/>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1164" t="-15909" b="-20455"/>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ABEEAE60-32A8-6A60-F9E3-CE81804872E5}"/>
              </a:ext>
            </a:extLst>
          </p:cNvPr>
          <p:cNvSpPr>
            <a:spLocks noGrp="1"/>
          </p:cNvSpPr>
          <p:nvPr>
            <p:ph type="title"/>
          </p:nvPr>
        </p:nvSpPr>
        <p:spPr/>
        <p:txBody>
          <a:bodyPr/>
          <a:lstStyle/>
          <a:p>
            <a:r>
              <a:rPr lang="en-BE" dirty="0"/>
              <a:t>Simulation Results – ZF + LSV</a:t>
            </a:r>
          </a:p>
        </p:txBody>
      </p:sp>
      <p:sp>
        <p:nvSpPr>
          <p:cNvPr id="6" name="TextBox 5">
            <a:extLst>
              <a:ext uri="{FF2B5EF4-FFF2-40B4-BE49-F238E27FC236}">
                <a16:creationId xmlns:a16="http://schemas.microsoft.com/office/drawing/2014/main" id="{D29F54CE-0EC5-E8F9-C235-A1ED78D52FAD}"/>
              </a:ext>
            </a:extLst>
          </p:cNvPr>
          <p:cNvSpPr txBox="1"/>
          <p:nvPr/>
        </p:nvSpPr>
        <p:spPr>
          <a:xfrm>
            <a:off x="1474977" y="2213754"/>
            <a:ext cx="787395" cy="338554"/>
          </a:xfrm>
          <a:prstGeom prst="rect">
            <a:avLst/>
          </a:prstGeom>
          <a:noFill/>
        </p:spPr>
        <p:txBody>
          <a:bodyPr wrap="none" rtlCol="0">
            <a:spAutoFit/>
          </a:bodyPr>
          <a:lstStyle/>
          <a:p>
            <a:r>
              <a:rPr lang="en-BE" sz="1600" dirty="0"/>
              <a:t>R vs SNR</a:t>
            </a:r>
          </a:p>
        </p:txBody>
      </p:sp>
      <p:sp>
        <p:nvSpPr>
          <p:cNvPr id="7" name="TextBox 6">
            <a:extLst>
              <a:ext uri="{FF2B5EF4-FFF2-40B4-BE49-F238E27FC236}">
                <a16:creationId xmlns:a16="http://schemas.microsoft.com/office/drawing/2014/main" id="{F92D0F12-8FAD-83FA-AD5A-B746C89F18AD}"/>
              </a:ext>
            </a:extLst>
          </p:cNvPr>
          <p:cNvSpPr txBox="1"/>
          <p:nvPr/>
        </p:nvSpPr>
        <p:spPr>
          <a:xfrm>
            <a:off x="5643039" y="2225256"/>
            <a:ext cx="928459" cy="338554"/>
          </a:xfrm>
          <a:prstGeom prst="rect">
            <a:avLst/>
          </a:prstGeom>
          <a:noFill/>
        </p:spPr>
        <p:txBody>
          <a:bodyPr wrap="none" rtlCol="0">
            <a:spAutoFit/>
          </a:bodyPr>
          <a:lstStyle/>
          <a:p>
            <a:r>
              <a:rPr lang="en-BE" sz="1600" dirty="0"/>
              <a:t>IBR vs SNR</a:t>
            </a:r>
          </a:p>
        </p:txBody>
      </p:sp>
      <p:sp>
        <p:nvSpPr>
          <p:cNvPr id="8" name="TextBox 7">
            <a:extLst>
              <a:ext uri="{FF2B5EF4-FFF2-40B4-BE49-F238E27FC236}">
                <a16:creationId xmlns:a16="http://schemas.microsoft.com/office/drawing/2014/main" id="{54FA6BBE-E041-2F41-F24F-982C982BFA92}"/>
              </a:ext>
            </a:extLst>
          </p:cNvPr>
          <p:cNvSpPr txBox="1"/>
          <p:nvPr/>
        </p:nvSpPr>
        <p:spPr>
          <a:xfrm>
            <a:off x="9952165" y="2248260"/>
            <a:ext cx="966931" cy="338554"/>
          </a:xfrm>
          <a:prstGeom prst="rect">
            <a:avLst/>
          </a:prstGeom>
          <a:noFill/>
        </p:spPr>
        <p:txBody>
          <a:bodyPr wrap="none" rtlCol="0">
            <a:spAutoFit/>
          </a:bodyPr>
          <a:lstStyle/>
          <a:p>
            <a:r>
              <a:rPr lang="en-BE" sz="1600" dirty="0"/>
              <a:t>BER vs SNR</a:t>
            </a:r>
          </a:p>
        </p:txBody>
      </p:sp>
      <p:pic>
        <p:nvPicPr>
          <p:cNvPr id="9" name="Picture 8">
            <a:extLst>
              <a:ext uri="{FF2B5EF4-FFF2-40B4-BE49-F238E27FC236}">
                <a16:creationId xmlns:a16="http://schemas.microsoft.com/office/drawing/2014/main" id="{BDDE2F3F-B57E-909F-D1B5-D227C35BBB8F}"/>
              </a:ext>
            </a:extLst>
          </p:cNvPr>
          <p:cNvPicPr>
            <a:picLocks noChangeAspect="1"/>
          </p:cNvPicPr>
          <p:nvPr/>
        </p:nvPicPr>
        <p:blipFill>
          <a:blip r:embed="rId3"/>
          <a:stretch>
            <a:fillRect/>
          </a:stretch>
        </p:blipFill>
        <p:spPr>
          <a:xfrm>
            <a:off x="8309514" y="2531281"/>
            <a:ext cx="3882486" cy="3235405"/>
          </a:xfrm>
          <a:prstGeom prst="rect">
            <a:avLst/>
          </a:prstGeom>
        </p:spPr>
      </p:pic>
      <p:pic>
        <p:nvPicPr>
          <p:cNvPr id="12" name="Picture 11">
            <a:extLst>
              <a:ext uri="{FF2B5EF4-FFF2-40B4-BE49-F238E27FC236}">
                <a16:creationId xmlns:a16="http://schemas.microsoft.com/office/drawing/2014/main" id="{A3B2B792-252C-FDD2-E92A-ADF9749A4E8A}"/>
              </a:ext>
            </a:extLst>
          </p:cNvPr>
          <p:cNvPicPr>
            <a:picLocks noChangeAspect="1"/>
          </p:cNvPicPr>
          <p:nvPr/>
        </p:nvPicPr>
        <p:blipFill>
          <a:blip r:embed="rId4"/>
          <a:stretch>
            <a:fillRect/>
          </a:stretch>
        </p:blipFill>
        <p:spPr>
          <a:xfrm>
            <a:off x="4145330" y="2531280"/>
            <a:ext cx="3882486" cy="3235405"/>
          </a:xfrm>
          <a:prstGeom prst="rect">
            <a:avLst/>
          </a:prstGeom>
        </p:spPr>
      </p:pic>
      <p:pic>
        <p:nvPicPr>
          <p:cNvPr id="14" name="Picture 13">
            <a:extLst>
              <a:ext uri="{FF2B5EF4-FFF2-40B4-BE49-F238E27FC236}">
                <a16:creationId xmlns:a16="http://schemas.microsoft.com/office/drawing/2014/main" id="{03C04AC6-C9A7-7337-3555-FC28C51D1AD3}"/>
              </a:ext>
            </a:extLst>
          </p:cNvPr>
          <p:cNvPicPr>
            <a:picLocks noChangeAspect="1"/>
          </p:cNvPicPr>
          <p:nvPr/>
        </p:nvPicPr>
        <p:blipFill>
          <a:blip r:embed="rId5"/>
          <a:stretch>
            <a:fillRect/>
          </a:stretch>
        </p:blipFill>
        <p:spPr>
          <a:xfrm>
            <a:off x="22536" y="2531280"/>
            <a:ext cx="3882486" cy="3235405"/>
          </a:xfrm>
          <a:prstGeom prst="rect">
            <a:avLst/>
          </a:prstGeom>
        </p:spPr>
      </p:pic>
    </p:spTree>
    <p:extLst>
      <p:ext uri="{BB962C8B-B14F-4D97-AF65-F5344CB8AC3E}">
        <p14:creationId xmlns:p14="http://schemas.microsoft.com/office/powerpoint/2010/main" val="2867545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12063C-1C09-1928-C0CE-33996718E53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04188C-19AC-F96F-6471-FDE16121F09C}"/>
              </a:ext>
            </a:extLst>
          </p:cNvPr>
          <p:cNvSpPr>
            <a:spLocks noGrp="1"/>
          </p:cNvSpPr>
          <p:nvPr>
            <p:ph type="body" sz="quarter" idx="10"/>
          </p:nvPr>
        </p:nvSpPr>
        <p:spPr/>
        <p:txBody>
          <a:bodyPr/>
          <a:lstStyle/>
          <a:p>
            <a:r>
              <a:rPr lang="en-BE" dirty="0"/>
              <a:t>Fixed Bit Loader (QAM ), Underloaded System</a:t>
            </a:r>
          </a:p>
        </p:txBody>
      </p:sp>
      <p:sp>
        <p:nvSpPr>
          <p:cNvPr id="4" name="Title 3">
            <a:extLst>
              <a:ext uri="{FF2B5EF4-FFF2-40B4-BE49-F238E27FC236}">
                <a16:creationId xmlns:a16="http://schemas.microsoft.com/office/drawing/2014/main" id="{7F78090D-B4DC-75D5-7CDA-3516F70E9775}"/>
              </a:ext>
            </a:extLst>
          </p:cNvPr>
          <p:cNvSpPr>
            <a:spLocks noGrp="1"/>
          </p:cNvSpPr>
          <p:nvPr>
            <p:ph type="title"/>
          </p:nvPr>
        </p:nvSpPr>
        <p:spPr/>
        <p:txBody>
          <a:bodyPr/>
          <a:lstStyle/>
          <a:p>
            <a:r>
              <a:rPr lang="en-BE" dirty="0"/>
              <a:t>Simulation Results – ZF + LSV</a:t>
            </a:r>
          </a:p>
        </p:txBody>
      </p:sp>
      <p:sp>
        <p:nvSpPr>
          <p:cNvPr id="11" name="TextBox 10">
            <a:extLst>
              <a:ext uri="{FF2B5EF4-FFF2-40B4-BE49-F238E27FC236}">
                <a16:creationId xmlns:a16="http://schemas.microsoft.com/office/drawing/2014/main" id="{C460033A-BB2D-334D-9F6D-9C9F14C32EE8}"/>
              </a:ext>
            </a:extLst>
          </p:cNvPr>
          <p:cNvSpPr txBox="1"/>
          <p:nvPr/>
        </p:nvSpPr>
        <p:spPr>
          <a:xfrm>
            <a:off x="8559539" y="1937558"/>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4E16943E-3C36-448E-B48A-17AB01C8648A}"/>
              </a:ext>
            </a:extLst>
          </p:cNvPr>
          <p:cNvSpPr txBox="1"/>
          <p:nvPr/>
        </p:nvSpPr>
        <p:spPr>
          <a:xfrm>
            <a:off x="3180209" y="1937558"/>
            <a:ext cx="859531" cy="369332"/>
          </a:xfrm>
          <a:prstGeom prst="rect">
            <a:avLst/>
          </a:prstGeom>
          <a:noFill/>
        </p:spPr>
        <p:txBody>
          <a:bodyPr wrap="none" rtlCol="0">
            <a:spAutoFit/>
          </a:bodyPr>
          <a:lstStyle/>
          <a:p>
            <a:r>
              <a:rPr lang="en-BE" dirty="0"/>
              <a:t>R vs SNR</a:t>
            </a:r>
          </a:p>
        </p:txBody>
      </p:sp>
      <p:pic>
        <p:nvPicPr>
          <p:cNvPr id="6" name="Picture 5">
            <a:extLst>
              <a:ext uri="{FF2B5EF4-FFF2-40B4-BE49-F238E27FC236}">
                <a16:creationId xmlns:a16="http://schemas.microsoft.com/office/drawing/2014/main" id="{24B4E2BC-EBB4-6C32-C993-E9E753E3DA14}"/>
              </a:ext>
            </a:extLst>
          </p:cNvPr>
          <p:cNvPicPr>
            <a:picLocks noChangeAspect="1"/>
          </p:cNvPicPr>
          <p:nvPr/>
        </p:nvPicPr>
        <p:blipFill>
          <a:blip r:embed="rId3"/>
          <a:stretch>
            <a:fillRect/>
          </a:stretch>
        </p:blipFill>
        <p:spPr>
          <a:xfrm>
            <a:off x="1123950" y="2265111"/>
            <a:ext cx="4972050" cy="4143375"/>
          </a:xfrm>
          <a:prstGeom prst="rect">
            <a:avLst/>
          </a:prstGeom>
        </p:spPr>
      </p:pic>
      <p:pic>
        <p:nvPicPr>
          <p:cNvPr id="9" name="Picture 8">
            <a:extLst>
              <a:ext uri="{FF2B5EF4-FFF2-40B4-BE49-F238E27FC236}">
                <a16:creationId xmlns:a16="http://schemas.microsoft.com/office/drawing/2014/main" id="{6E25BEEF-6AF8-3AA0-7A47-A3C80ABB6B19}"/>
              </a:ext>
            </a:extLst>
          </p:cNvPr>
          <p:cNvPicPr>
            <a:picLocks noChangeAspect="1"/>
          </p:cNvPicPr>
          <p:nvPr/>
        </p:nvPicPr>
        <p:blipFill>
          <a:blip r:embed="rId4"/>
          <a:stretch>
            <a:fillRect/>
          </a:stretch>
        </p:blipFill>
        <p:spPr>
          <a:xfrm>
            <a:off x="6603467" y="2265110"/>
            <a:ext cx="4972050" cy="4143375"/>
          </a:xfrm>
          <a:prstGeom prst="rect">
            <a:avLst/>
          </a:prstGeom>
        </p:spPr>
      </p:pic>
    </p:spTree>
    <p:extLst>
      <p:ext uri="{BB962C8B-B14F-4D97-AF65-F5344CB8AC3E}">
        <p14:creationId xmlns:p14="http://schemas.microsoft.com/office/powerpoint/2010/main" val="48730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3E30C65-4C37-7B43-D8AA-6F4AADEBE8B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F10DCCC-3FA1-54C3-6E96-41009932FA11}"/>
              </a:ext>
            </a:extLst>
          </p:cNvPr>
          <p:cNvSpPr>
            <a:spLocks noGrp="1"/>
          </p:cNvSpPr>
          <p:nvPr>
            <p:ph type="body" sz="quarter" idx="10"/>
          </p:nvPr>
        </p:nvSpPr>
        <p:spPr>
          <a:xfrm>
            <a:off x="542925" y="1150143"/>
            <a:ext cx="10893106" cy="574962"/>
          </a:xfrm>
        </p:spPr>
        <p:txBody>
          <a:bodyPr>
            <a:normAutofit/>
          </a:bodyPr>
          <a:lstStyle/>
          <a:p>
            <a:r>
              <a:rPr lang="en-BE" dirty="0"/>
              <a:t>Adaptive Bit Loader (QAM), Fully loaded System (4 U</a:t>
            </a:r>
            <a:r>
              <a:rPr lang="en-GB" dirty="0"/>
              <a:t>T</a:t>
            </a:r>
            <a:r>
              <a:rPr lang="en-BE" dirty="0"/>
              <a:t>s)</a:t>
            </a:r>
          </a:p>
        </p:txBody>
      </p:sp>
      <p:sp>
        <p:nvSpPr>
          <p:cNvPr id="4" name="Title 3">
            <a:extLst>
              <a:ext uri="{FF2B5EF4-FFF2-40B4-BE49-F238E27FC236}">
                <a16:creationId xmlns:a16="http://schemas.microsoft.com/office/drawing/2014/main" id="{F0D97E98-8BCE-955F-03E0-DAD6D6F2025B}"/>
              </a:ext>
            </a:extLst>
          </p:cNvPr>
          <p:cNvSpPr>
            <a:spLocks noGrp="1"/>
          </p:cNvSpPr>
          <p:nvPr>
            <p:ph type="title"/>
          </p:nvPr>
        </p:nvSpPr>
        <p:spPr/>
        <p:txBody>
          <a:bodyPr/>
          <a:lstStyle/>
          <a:p>
            <a:r>
              <a:rPr lang="en-BE" dirty="0"/>
              <a:t>Simulation Results – ZF + LSV</a:t>
            </a:r>
          </a:p>
        </p:txBody>
      </p:sp>
      <p:sp>
        <p:nvSpPr>
          <p:cNvPr id="15" name="TextBox 14">
            <a:extLst>
              <a:ext uri="{FF2B5EF4-FFF2-40B4-BE49-F238E27FC236}">
                <a16:creationId xmlns:a16="http://schemas.microsoft.com/office/drawing/2014/main" id="{B009063C-EC00-0D2C-D1D9-EAB8764163C5}"/>
              </a:ext>
            </a:extLst>
          </p:cNvPr>
          <p:cNvSpPr txBox="1"/>
          <p:nvPr/>
        </p:nvSpPr>
        <p:spPr>
          <a:xfrm>
            <a:off x="1607214" y="2236919"/>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B0DF3EF6-FF5C-D0D3-6116-573989A9FAE3}"/>
              </a:ext>
            </a:extLst>
          </p:cNvPr>
          <p:cNvSpPr txBox="1"/>
          <p:nvPr/>
        </p:nvSpPr>
        <p:spPr>
          <a:xfrm>
            <a:off x="5631770" y="2236919"/>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B48CAE5D-C9E8-76F4-D7E0-8D5810605B19}"/>
              </a:ext>
            </a:extLst>
          </p:cNvPr>
          <p:cNvSpPr txBox="1"/>
          <p:nvPr/>
        </p:nvSpPr>
        <p:spPr>
          <a:xfrm>
            <a:off x="9614105" y="2236919"/>
            <a:ext cx="966931" cy="338554"/>
          </a:xfrm>
          <a:prstGeom prst="rect">
            <a:avLst/>
          </a:prstGeom>
          <a:noFill/>
        </p:spPr>
        <p:txBody>
          <a:bodyPr wrap="none" rtlCol="0">
            <a:spAutoFit/>
          </a:bodyPr>
          <a:lstStyle/>
          <a:p>
            <a:r>
              <a:rPr lang="en-BE" sz="1600" dirty="0"/>
              <a:t>BER vs SNR</a:t>
            </a:r>
          </a:p>
        </p:txBody>
      </p:sp>
      <p:pic>
        <p:nvPicPr>
          <p:cNvPr id="6" name="Picture 5">
            <a:extLst>
              <a:ext uri="{FF2B5EF4-FFF2-40B4-BE49-F238E27FC236}">
                <a16:creationId xmlns:a16="http://schemas.microsoft.com/office/drawing/2014/main" id="{6B332495-A21B-BE53-DEBF-0E3F7CC27F01}"/>
              </a:ext>
            </a:extLst>
          </p:cNvPr>
          <p:cNvPicPr>
            <a:picLocks noChangeAspect="1"/>
          </p:cNvPicPr>
          <p:nvPr/>
        </p:nvPicPr>
        <p:blipFill>
          <a:blip r:embed="rId2"/>
          <a:stretch>
            <a:fillRect/>
          </a:stretch>
        </p:blipFill>
        <p:spPr>
          <a:xfrm>
            <a:off x="120869" y="2536995"/>
            <a:ext cx="3760083" cy="3133403"/>
          </a:xfrm>
          <a:prstGeom prst="rect">
            <a:avLst/>
          </a:prstGeom>
        </p:spPr>
      </p:pic>
      <p:pic>
        <p:nvPicPr>
          <p:cNvPr id="10" name="Picture 9">
            <a:extLst>
              <a:ext uri="{FF2B5EF4-FFF2-40B4-BE49-F238E27FC236}">
                <a16:creationId xmlns:a16="http://schemas.microsoft.com/office/drawing/2014/main" id="{7CCE348C-687B-AFA4-6084-BBE20256344C}"/>
              </a:ext>
            </a:extLst>
          </p:cNvPr>
          <p:cNvPicPr>
            <a:picLocks noChangeAspect="1"/>
          </p:cNvPicPr>
          <p:nvPr/>
        </p:nvPicPr>
        <p:blipFill>
          <a:blip r:embed="rId3"/>
          <a:stretch>
            <a:fillRect/>
          </a:stretch>
        </p:blipFill>
        <p:spPr>
          <a:xfrm>
            <a:off x="4103203" y="2536995"/>
            <a:ext cx="3760084" cy="3133403"/>
          </a:xfrm>
          <a:prstGeom prst="rect">
            <a:avLst/>
          </a:prstGeom>
        </p:spPr>
      </p:pic>
      <p:pic>
        <p:nvPicPr>
          <p:cNvPr id="12" name="Picture 11">
            <a:extLst>
              <a:ext uri="{FF2B5EF4-FFF2-40B4-BE49-F238E27FC236}">
                <a16:creationId xmlns:a16="http://schemas.microsoft.com/office/drawing/2014/main" id="{480E6E18-4931-9418-13B6-99E9AAE87311}"/>
              </a:ext>
            </a:extLst>
          </p:cNvPr>
          <p:cNvPicPr>
            <a:picLocks noChangeAspect="1"/>
          </p:cNvPicPr>
          <p:nvPr/>
        </p:nvPicPr>
        <p:blipFill>
          <a:blip r:embed="rId4"/>
          <a:stretch>
            <a:fillRect/>
          </a:stretch>
        </p:blipFill>
        <p:spPr>
          <a:xfrm>
            <a:off x="8088798" y="2574454"/>
            <a:ext cx="3760084" cy="3133403"/>
          </a:xfrm>
          <a:prstGeom prst="rect">
            <a:avLst/>
          </a:prstGeom>
        </p:spPr>
      </p:pic>
    </p:spTree>
    <p:extLst>
      <p:ext uri="{BB962C8B-B14F-4D97-AF65-F5344CB8AC3E}">
        <p14:creationId xmlns:p14="http://schemas.microsoft.com/office/powerpoint/2010/main" val="3773820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C2FF7-5BCB-11C9-4C7F-08218C74A3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A3E50E-C54F-D906-2733-D132AA1D8558}"/>
              </a:ext>
            </a:extLst>
          </p:cNvPr>
          <p:cNvSpPr>
            <a:spLocks noGrp="1"/>
          </p:cNvSpPr>
          <p:nvPr>
            <p:ph type="title"/>
          </p:nvPr>
        </p:nvSpPr>
        <p:spPr/>
        <p:txBody>
          <a:bodyPr/>
          <a:lstStyle/>
          <a:p>
            <a:r>
              <a:rPr lang="en-BE" dirty="0"/>
              <a:t>Precoding Techniques –  BD</a:t>
            </a:r>
          </a:p>
        </p:txBody>
      </p:sp>
      <p:sp>
        <p:nvSpPr>
          <p:cNvPr id="8" name="TextBox 7">
            <a:extLst>
              <a:ext uri="{FF2B5EF4-FFF2-40B4-BE49-F238E27FC236}">
                <a16:creationId xmlns:a16="http://schemas.microsoft.com/office/drawing/2014/main" id="{6C34B0B9-61CE-63B2-9909-F61D523088BD}"/>
              </a:ext>
            </a:extLst>
          </p:cNvPr>
          <p:cNvSpPr txBox="1"/>
          <p:nvPr/>
        </p:nvSpPr>
        <p:spPr>
          <a:xfrm>
            <a:off x="542609" y="1144651"/>
            <a:ext cx="10893422" cy="646331"/>
          </a:xfrm>
          <a:prstGeom prst="rect">
            <a:avLst/>
          </a:prstGeom>
          <a:noFill/>
        </p:spPr>
        <p:txBody>
          <a:bodyPr wrap="square" rtlCol="0">
            <a:spAutoFit/>
          </a:bodyPr>
          <a:lstStyle/>
          <a:p>
            <a:r>
              <a:rPr lang="en-BE" b="1" dirty="0"/>
              <a:t>GOAL:</a:t>
            </a:r>
            <a:r>
              <a:rPr lang="en-BE" dirty="0"/>
              <a:t> </a:t>
            </a:r>
          </a:p>
          <a:p>
            <a:r>
              <a:rPr lang="en-BE" dirty="0"/>
              <a:t>Cancel all inter-user interference</a:t>
            </a:r>
          </a:p>
        </p:txBody>
      </p:sp>
      <p:sp>
        <p:nvSpPr>
          <p:cNvPr id="10" name="TextBox 9">
            <a:extLst>
              <a:ext uri="{FF2B5EF4-FFF2-40B4-BE49-F238E27FC236}">
                <a16:creationId xmlns:a16="http://schemas.microsoft.com/office/drawing/2014/main" id="{36829DA9-768F-E30E-E0C8-8FFA2B55646D}"/>
              </a:ext>
            </a:extLst>
          </p:cNvPr>
          <p:cNvSpPr txBox="1"/>
          <p:nvPr/>
        </p:nvSpPr>
        <p:spPr>
          <a:xfrm>
            <a:off x="542609" y="1883927"/>
            <a:ext cx="10893422" cy="923330"/>
          </a:xfrm>
          <a:prstGeom prst="rect">
            <a:avLst/>
          </a:prstGeom>
          <a:noFill/>
        </p:spPr>
        <p:txBody>
          <a:bodyPr wrap="square" rtlCol="0">
            <a:spAutoFit/>
          </a:bodyPr>
          <a:lstStyle/>
          <a:p>
            <a:r>
              <a:rPr lang="en-BE" b="1" dirty="0"/>
              <a:t>HOW: </a:t>
            </a:r>
          </a:p>
          <a:p>
            <a:pPr marL="342900" indent="-342900">
              <a:buFont typeface="Arial" panose="020B0604020202020204" pitchFamily="34" charset="0"/>
              <a:buChar char="•"/>
            </a:pPr>
            <a:r>
              <a:rPr lang="en-GB" dirty="0"/>
              <a:t>Choose the MU-precoder of each UT such that it spans the null space of the the interfering channel</a:t>
            </a:r>
          </a:p>
          <a:p>
            <a:pPr marL="342900" indent="-342900">
              <a:buFont typeface="Arial" panose="020B0604020202020204" pitchFamily="34" charset="0"/>
              <a:buChar char="•"/>
            </a:pPr>
            <a:r>
              <a:rPr lang="en-GB" dirty="0"/>
              <a:t>SVD Beamforming for each resulting SU-MIMO system.</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04D9C6A-267C-3AD3-FE9E-B9D10A701BB4}"/>
                  </a:ext>
                </a:extLst>
              </p:cNvPr>
              <p:cNvSpPr txBox="1"/>
              <p:nvPr/>
            </p:nvSpPr>
            <p:spPr>
              <a:xfrm>
                <a:off x="542608" y="2900202"/>
                <a:ext cx="10893422" cy="2806409"/>
              </a:xfrm>
              <a:prstGeom prst="rect">
                <a:avLst/>
              </a:prstGeom>
              <a:noFill/>
            </p:spPr>
            <p:txBody>
              <a:bodyPr wrap="square" rtlCol="0">
                <a:spAutoFit/>
              </a:bodyPr>
              <a:lstStyle/>
              <a:p>
                <a:r>
                  <a:rPr lang="en-BE" b="1" dirty="0"/>
                  <a:t>EQUATIONS:  </a:t>
                </a:r>
              </a:p>
              <a:p>
                <a:pPr marL="742950" lvl="1" indent="-285750">
                  <a:lnSpc>
                    <a:spcPct val="150000"/>
                  </a:lnSpc>
                  <a:buFont typeface="Arial" panose="020B0604020202020204" pitchFamily="34" charset="0"/>
                  <a:buChar char="•"/>
                </a:pPr>
                <a:r>
                  <a:rPr lang="en-GB" dirty="0"/>
                  <a:t>S</a:t>
                </a:r>
                <a:r>
                  <a:rPr lang="en-BE" dirty="0"/>
                  <a:t>ystem equation:          </a:t>
                </a:r>
                <a14:m>
                  <m:oMath xmlns:m="http://schemas.openxmlformats.org/officeDocument/2006/math">
                    <m:r>
                      <a:rPr lang="en-US" b="1" i="0" smtClean="0">
                        <a:latin typeface="Cambria Math" panose="02040503050406030204" pitchFamily="18" charset="0"/>
                      </a:rPr>
                      <m:t>𝐳</m:t>
                    </m:r>
                    <m:r>
                      <a:rPr lang="en-US" b="1" i="0" smtClean="0">
                        <a:latin typeface="Cambria Math" panose="02040503050406030204" pitchFamily="18" charset="0"/>
                      </a:rPr>
                      <m:t> = </m:t>
                    </m:r>
                    <m:r>
                      <a:rPr lang="en-US" b="1" i="0" smtClean="0">
                        <a:latin typeface="Cambria Math" panose="02040503050406030204" pitchFamily="18" charset="0"/>
                      </a:rPr>
                      <m:t>𝐆𝐇𝐅</m:t>
                    </m:r>
                    <m:r>
                      <a:rPr lang="en-US" b="1" i="1" smtClean="0">
                        <a:latin typeface="Cambria Math" panose="02040503050406030204" pitchFamily="18" charset="0"/>
                      </a:rPr>
                      <m:t>⋅</m:t>
                    </m:r>
                    <m:r>
                      <a:rPr lang="en-US" b="1" i="0" smtClean="0">
                        <a:latin typeface="Cambria Math" panose="02040503050406030204" pitchFamily="18" charset="0"/>
                      </a:rPr>
                      <m:t>𝐚</m:t>
                    </m:r>
                    <m:r>
                      <a:rPr lang="en-US" b="1" i="0" smtClean="0">
                        <a:latin typeface="Cambria Math" panose="02040503050406030204" pitchFamily="18" charset="0"/>
                      </a:rPr>
                      <m:t> + </m:t>
                    </m:r>
                    <m:r>
                      <a:rPr lang="en-US" b="1" i="0" smtClean="0">
                        <a:latin typeface="Cambria Math" panose="02040503050406030204" pitchFamily="18" charset="0"/>
                      </a:rPr>
                      <m:t>𝐆</m:t>
                    </m:r>
                    <m:r>
                      <a:rPr lang="en-US" b="1" i="0" smtClean="0">
                        <a:latin typeface="Cambria Math" panose="02040503050406030204" pitchFamily="18" charset="0"/>
                      </a:rPr>
                      <m:t> </m:t>
                    </m:r>
                    <m:r>
                      <a:rPr lang="en-US" b="1" i="0" smtClean="0">
                        <a:latin typeface="Cambria Math" panose="02040503050406030204" pitchFamily="18" charset="0"/>
                      </a:rPr>
                      <m:t>𝐧</m:t>
                    </m:r>
                    <m:r>
                      <a:rPr lang="en-US" b="1" i="0" smtClean="0">
                        <a:latin typeface="Cambria Math" panose="02040503050406030204" pitchFamily="18" charset="0"/>
                      </a:rPr>
                      <m:t>=</m:t>
                    </m:r>
                    <m:r>
                      <a:rPr lang="en-US" b="1">
                        <a:latin typeface="Cambria Math" panose="02040503050406030204" pitchFamily="18" charset="0"/>
                      </a:rPr>
                      <m:t>𝐆</m:t>
                    </m:r>
                    <m:r>
                      <a:rPr lang="en-US" b="1" i="1" smtClean="0">
                        <a:latin typeface="Cambria Math" panose="02040503050406030204" pitchFamily="18" charset="0"/>
                      </a:rPr>
                      <m:t>⋅</m:t>
                    </m:r>
                    <m:r>
                      <a:rPr lang="en-US" b="1">
                        <a:latin typeface="Cambria Math" panose="02040503050406030204" pitchFamily="18" charset="0"/>
                      </a:rPr>
                      <m:t>𝐇</m:t>
                    </m:r>
                    <m:sSup>
                      <m:sSupPr>
                        <m:ctrlPr>
                          <a:rPr lang="en-US" b="1" i="1">
                            <a:latin typeface="Cambria Math" panose="02040503050406030204" pitchFamily="18" charset="0"/>
                          </a:rPr>
                        </m:ctrlPr>
                      </m:sSupPr>
                      <m:e>
                        <m:r>
                          <a:rPr lang="en-US" b="1">
                            <a:latin typeface="Cambria Math" panose="02040503050406030204" pitchFamily="18" charset="0"/>
                          </a:rPr>
                          <m:t>𝐅</m:t>
                        </m:r>
                      </m:e>
                      <m:sup>
                        <m:d>
                          <m:dPr>
                            <m:begChr m:val="["/>
                            <m:endChr m:val="]"/>
                            <m:ctrlPr>
                              <a:rPr lang="en-US" b="1" i="1">
                                <a:latin typeface="Cambria Math" panose="02040503050406030204" pitchFamily="18" charset="0"/>
                              </a:rPr>
                            </m:ctrlPr>
                          </m:dPr>
                          <m:e>
                            <m:r>
                              <m:rPr>
                                <m:sty m:val="p"/>
                              </m:rPr>
                              <a:rPr lang="en-US" b="1" i="1">
                                <a:latin typeface="Cambria Math" panose="02040503050406030204" pitchFamily="18" charset="0"/>
                              </a:rPr>
                              <m:t>MU</m:t>
                            </m:r>
                          </m:e>
                        </m:d>
                      </m:sup>
                    </m:sSup>
                    <m:r>
                      <a:rPr lang="en-US" b="1"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 </m:t>
                        </m:r>
                        <m:r>
                          <a:rPr lang="en-US" b="1">
                            <a:latin typeface="Cambria Math" panose="02040503050406030204" pitchFamily="18" charset="0"/>
                          </a:rPr>
                          <m:t>𝐅</m:t>
                        </m:r>
                      </m:e>
                      <m:sup>
                        <m:d>
                          <m:dPr>
                            <m:begChr m:val="["/>
                            <m:endChr m:val="]"/>
                            <m:ctrlPr>
                              <a:rPr lang="en-US" b="1" i="1">
                                <a:latin typeface="Cambria Math" panose="02040503050406030204" pitchFamily="18" charset="0"/>
                              </a:rPr>
                            </m:ctrlPr>
                          </m:dPr>
                          <m:e>
                            <m:r>
                              <m:rPr>
                                <m:sty m:val="p"/>
                              </m:rPr>
                              <a:rPr lang="en-US" b="1" i="1" smtClean="0">
                                <a:latin typeface="Cambria Math" panose="02040503050406030204" pitchFamily="18" charset="0"/>
                              </a:rPr>
                              <m:t>S</m:t>
                            </m:r>
                            <m:r>
                              <m:rPr>
                                <m:sty m:val="p"/>
                              </m:rPr>
                              <a:rPr lang="en-US" b="1" i="1">
                                <a:latin typeface="Cambria Math" panose="02040503050406030204" pitchFamily="18" charset="0"/>
                              </a:rPr>
                              <m:t>U</m:t>
                            </m:r>
                          </m:e>
                        </m:d>
                      </m:sup>
                    </m:sSup>
                    <m:r>
                      <a:rPr lang="en-US" b="1" i="1" smtClean="0">
                        <a:latin typeface="Cambria Math" panose="02040503050406030204" pitchFamily="18" charset="0"/>
                      </a:rPr>
                      <m:t>  </m:t>
                    </m:r>
                    <m:r>
                      <a:rPr lang="en-US" b="1" i="1">
                        <a:latin typeface="Cambria Math" panose="02040503050406030204" pitchFamily="18" charset="0"/>
                      </a:rPr>
                      <m:t>⋅</m:t>
                    </m:r>
                    <m:r>
                      <a:rPr lang="en-US" b="1">
                        <a:latin typeface="Cambria Math" panose="02040503050406030204" pitchFamily="18" charset="0"/>
                      </a:rPr>
                      <m:t>𝐚</m:t>
                    </m:r>
                    <m:r>
                      <a:rPr lang="en-US" b="1">
                        <a:latin typeface="Cambria Math" panose="02040503050406030204" pitchFamily="18" charset="0"/>
                      </a:rPr>
                      <m:t> + </m:t>
                    </m:r>
                    <m:r>
                      <a:rPr lang="en-US" b="1">
                        <a:latin typeface="Cambria Math" panose="02040503050406030204" pitchFamily="18" charset="0"/>
                      </a:rPr>
                      <m:t>𝐆</m:t>
                    </m:r>
                    <m:r>
                      <a:rPr lang="en-US" b="1">
                        <a:latin typeface="Cambria Math" panose="02040503050406030204" pitchFamily="18" charset="0"/>
                      </a:rPr>
                      <m:t> </m:t>
                    </m:r>
                    <m:r>
                      <a:rPr lang="en-US" b="1">
                        <a:latin typeface="Cambria Math" panose="02040503050406030204" pitchFamily="18" charset="0"/>
                      </a:rPr>
                      <m:t>𝐧</m:t>
                    </m:r>
                  </m:oMath>
                </a14:m>
                <a:endParaRPr lang="en-BE" b="1" dirty="0"/>
              </a:p>
              <a:p>
                <a:pPr marL="742950" lvl="1" indent="-285750">
                  <a:lnSpc>
                    <a:spcPct val="150000"/>
                  </a:lnSpc>
                  <a:buFont typeface="Arial" panose="020B0604020202020204" pitchFamily="34" charset="0"/>
                  <a:buChar char="•"/>
                </a:pPr>
                <a:r>
                  <a:rPr lang="en-US" dirty="0"/>
                  <a:t>MU-Precoder Matrix</a:t>
                </a:r>
                <a:r>
                  <a:rPr lang="en-BE" dirty="0"/>
                  <a:t>:    </a:t>
                </a:r>
                <a14:m>
                  <m:oMath xmlns:m="http://schemas.openxmlformats.org/officeDocument/2006/math">
                    <m:sSubSup>
                      <m:sSubSupPr>
                        <m:ctrlPr>
                          <a:rPr lang="en-BE" sz="1600" i="1" smtClean="0">
                            <a:latin typeface="Cambria Math" panose="02040503050406030204" pitchFamily="18" charset="0"/>
                          </a:rPr>
                        </m:ctrlPr>
                      </m:sSubSupPr>
                      <m:e>
                        <m:r>
                          <a:rPr lang="en-US" sz="1600" b="1" i="0" smtClean="0">
                            <a:latin typeface="Cambria Math" panose="02040503050406030204" pitchFamily="18" charset="0"/>
                          </a:rPr>
                          <m:t>𝐅</m:t>
                        </m:r>
                      </m:e>
                      <m:sub>
                        <m:r>
                          <m:rPr>
                            <m:sty m:val="p"/>
                          </m:rPr>
                          <a:rPr lang="en-US" sz="1600" b="0" i="1" smtClean="0">
                            <a:latin typeface="Cambria Math" panose="02040503050406030204" pitchFamily="18" charset="0"/>
                          </a:rPr>
                          <m:t>k</m:t>
                        </m:r>
                      </m:sub>
                      <m:sup>
                        <m:d>
                          <m:dPr>
                            <m:begChr m:val="["/>
                            <m:endChr m:val="]"/>
                            <m:ctrlPr>
                              <a:rPr lang="en-BE" sz="1600" i="1" smtClean="0">
                                <a:latin typeface="Cambria Math" panose="02040503050406030204" pitchFamily="18" charset="0"/>
                              </a:rPr>
                            </m:ctrlPr>
                          </m:dPr>
                          <m:e>
                            <m:r>
                              <m:rPr>
                                <m:sty m:val="p"/>
                              </m:rPr>
                              <a:rPr lang="en-US" sz="1600" b="0" i="1" smtClean="0">
                                <a:latin typeface="Cambria Math" panose="02040503050406030204" pitchFamily="18" charset="0"/>
                              </a:rPr>
                              <m:t>MU</m:t>
                            </m:r>
                          </m:e>
                        </m:d>
                      </m:sup>
                    </m:sSubSup>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3"/>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1" i="0" smtClean="0">
                                          <a:latin typeface="Cambria Math" panose="02040503050406030204" pitchFamily="18" charset="0"/>
                                        </a:rPr>
                                        <m:t>𝐯</m:t>
                                      </m:r>
                                    </m:e>
                                  </m:acc>
                                </m:e>
                                <m:sub>
                                  <m:r>
                                    <m:rPr>
                                      <m:sty m:val="p"/>
                                    </m:rPr>
                                    <a:rPr lang="en-US" sz="1600" b="0" i="1" smtClean="0">
                                      <a:latin typeface="Cambria Math" panose="02040503050406030204" pitchFamily="18" charset="0"/>
                                    </a:rPr>
                                    <m:t>k</m:t>
                                  </m:r>
                                  <m:r>
                                    <a:rPr lang="en-US" sz="1600" b="0" i="1" smtClean="0">
                                      <a:latin typeface="Cambria Math" panose="02040503050406030204" pitchFamily="18" charset="0"/>
                                    </a:rPr>
                                    <m:t>,  </m:t>
                                  </m:r>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 </m:t>
                                      </m:r>
                                      <m:r>
                                        <m:rPr>
                                          <m:sty m:val="p"/>
                                        </m:rPr>
                                        <a:rPr lang="en-US" sz="1600" b="0" i="1" smtClean="0">
                                          <a:latin typeface="Cambria Math" panose="02040503050406030204" pitchFamily="18" charset="0"/>
                                        </a:rPr>
                                        <m:t>r</m:t>
                                      </m:r>
                                    </m:e>
                                  </m:acc>
                                  <m:r>
                                    <a:rPr lang="en-US" sz="1600" b="0" i="1" smtClean="0">
                                      <a:latin typeface="Cambria Math" panose="02040503050406030204" pitchFamily="18" charset="0"/>
                                    </a:rPr>
                                    <m:t>+1</m:t>
                                  </m:r>
                                </m:sub>
                              </m:sSub>
                            </m:e>
                            <m:e>
                              <m:r>
                                <a:rPr lang="en-US" sz="1600" b="0" i="1" smtClean="0">
                                  <a:latin typeface="Cambria Math" panose="02040503050406030204" pitchFamily="18" charset="0"/>
                                </a:rPr>
                                <m:t>⋯</m:t>
                              </m:r>
                            </m:e>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b="1">
                                          <a:latin typeface="Cambria Math" panose="02040503050406030204" pitchFamily="18" charset="0"/>
                                        </a:rPr>
                                        <m:t>𝐯</m:t>
                                      </m:r>
                                    </m:e>
                                  </m:acc>
                                </m:e>
                                <m:sub>
                                  <m:r>
                                    <m:rPr>
                                      <m:sty m:val="p"/>
                                    </m:rPr>
                                    <a:rPr lang="en-US" sz="1600" i="1">
                                      <a:latin typeface="Cambria Math" panose="02040503050406030204" pitchFamily="18" charset="0"/>
                                    </a:rPr>
                                    <m:t>k</m:t>
                                  </m:r>
                                  <m:r>
                                    <a:rPr lang="en-US" sz="1600" i="1">
                                      <a:latin typeface="Cambria Math" panose="02040503050406030204" pitchFamily="18" charset="0"/>
                                    </a:rPr>
                                    <m:t>,  </m:t>
                                  </m:r>
                                  <m:r>
                                    <m:rPr>
                                      <m:sty m:val="p"/>
                                    </m:rPr>
                                    <a:rPr lang="en-US" sz="1600" b="0" i="1" smtClean="0">
                                      <a:latin typeface="Cambria Math" panose="02040503050406030204" pitchFamily="18" charset="0"/>
                                    </a:rPr>
                                    <m:t>Nt</m:t>
                                  </m:r>
                                </m:sub>
                              </m:sSub>
                            </m:e>
                          </m:mr>
                        </m:m>
                      </m:e>
                    </m:d>
                    <m:r>
                      <a:rPr lang="en-US" sz="1600" b="0" i="1" smtClean="0">
                        <a:latin typeface="Cambria Math" panose="02040503050406030204" pitchFamily="18" charset="0"/>
                      </a:rPr>
                      <m:t>,     </m:t>
                    </m:r>
                    <m:r>
                      <m:rPr>
                        <m:sty m:val="p"/>
                      </m:rPr>
                      <a:rPr lang="en-US" sz="1600" b="0" i="1" smtClean="0">
                        <a:latin typeface="Cambria Math" panose="02040503050406030204" pitchFamily="18" charset="0"/>
                      </a:rPr>
                      <m:t>with</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acc>
                          <m:accPr>
                            <m:chr m:val="̈"/>
                            <m:ctrlPr>
                              <a:rPr lang="en-US" sz="1600" b="0" i="1" smtClean="0">
                                <a:latin typeface="Cambria Math" panose="02040503050406030204" pitchFamily="18" charset="0"/>
                              </a:rPr>
                            </m:ctrlPr>
                          </m:accPr>
                          <m:e>
                            <m:r>
                              <a:rPr lang="en-US" sz="1600" b="1" i="0" smtClean="0">
                                <a:latin typeface="Cambria Math" panose="02040503050406030204" pitchFamily="18" charset="0"/>
                              </a:rPr>
                              <m:t>𝐇</m:t>
                            </m:r>
                          </m:e>
                        </m:acc>
                      </m:e>
                      <m:sub>
                        <m:r>
                          <m:rPr>
                            <m:sty m:val="p"/>
                          </m:rPr>
                          <a:rPr lang="en-US" sz="1600" b="0" i="1" smtClean="0">
                            <a:latin typeface="Cambria Math" panose="02040503050406030204" pitchFamily="18" charset="0"/>
                          </a:rPr>
                          <m:t>k</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acc>
                          <m:accPr>
                            <m:chr m:val="̈"/>
                            <m:ctrlPr>
                              <a:rPr lang="en-US" sz="1600" b="1" i="1" smtClean="0">
                                <a:latin typeface="Cambria Math" panose="02040503050406030204" pitchFamily="18" charset="0"/>
                              </a:rPr>
                            </m:ctrlPr>
                          </m:accPr>
                          <m:e>
                            <m:r>
                              <a:rPr lang="en-US" sz="1600" b="1" i="0" smtClean="0">
                                <a:latin typeface="Cambria Math" panose="02040503050406030204" pitchFamily="18" charset="0"/>
                              </a:rPr>
                              <m:t>𝐔</m:t>
                            </m:r>
                          </m:e>
                        </m:acc>
                      </m:e>
                      <m:sub>
                        <m:r>
                          <m:rPr>
                            <m:sty m:val="p"/>
                          </m:rPr>
                          <a:rPr lang="en-US" sz="1600" b="0" i="1" smtClean="0">
                            <a:latin typeface="Cambria Math" panose="02040503050406030204" pitchFamily="18" charset="0"/>
                          </a:rPr>
                          <m:t>k</m:t>
                        </m:r>
                      </m:sub>
                    </m:sSub>
                    <m:sSub>
                      <m:sSubPr>
                        <m:ctrlPr>
                          <a:rPr lang="en-US" sz="1600" b="0" i="1" smtClean="0">
                            <a:latin typeface="Cambria Math" panose="02040503050406030204" pitchFamily="18" charset="0"/>
                          </a:rPr>
                        </m:ctrlPr>
                      </m:sSubPr>
                      <m:e>
                        <m:acc>
                          <m:accPr>
                            <m:chr m:val="̈"/>
                            <m:ctrlPr>
                              <a:rPr lang="en-US" sz="1600" b="1" i="1" smtClean="0">
                                <a:latin typeface="Cambria Math" panose="02040503050406030204" pitchFamily="18" charset="0"/>
                              </a:rPr>
                            </m:ctrlPr>
                          </m:accPr>
                          <m:e>
                            <m:r>
                              <a:rPr lang="en-US" sz="1600" b="1" i="0" smtClean="0">
                                <a:latin typeface="Cambria Math" panose="02040503050406030204" pitchFamily="18" charset="0"/>
                              </a:rPr>
                              <m:t>𝚺</m:t>
                            </m:r>
                          </m:e>
                        </m:acc>
                      </m:e>
                      <m:sub>
                        <m:r>
                          <m:rPr>
                            <m:sty m:val="p"/>
                          </m:rPr>
                          <a:rPr lang="en-US" sz="1600" b="0" i="1" smtClean="0">
                            <a:latin typeface="Cambria Math" panose="02040503050406030204" pitchFamily="18" charset="0"/>
                          </a:rPr>
                          <m:t>k</m:t>
                        </m:r>
                      </m:sub>
                    </m:sSub>
                    <m:sSubSup>
                      <m:sSubSupPr>
                        <m:ctrlPr>
                          <a:rPr lang="en-US" sz="1600" b="0" i="1" smtClean="0">
                            <a:latin typeface="Cambria Math" panose="02040503050406030204" pitchFamily="18" charset="0"/>
                          </a:rPr>
                        </m:ctrlPr>
                      </m:sSubSupPr>
                      <m:e>
                        <m:acc>
                          <m:accPr>
                            <m:chr m:val="̈"/>
                            <m:ctrlPr>
                              <a:rPr lang="en-US" sz="1600" b="0" i="1" smtClean="0">
                                <a:latin typeface="Cambria Math" panose="02040503050406030204" pitchFamily="18" charset="0"/>
                              </a:rPr>
                            </m:ctrlPr>
                          </m:accPr>
                          <m:e>
                            <m:r>
                              <a:rPr lang="en-US" sz="1600" b="1" i="0" smtClean="0">
                                <a:latin typeface="Cambria Math" panose="02040503050406030204" pitchFamily="18" charset="0"/>
                              </a:rPr>
                              <m:t>𝐕</m:t>
                            </m:r>
                          </m:e>
                        </m:acc>
                      </m:e>
                      <m:sub>
                        <m:r>
                          <m:rPr>
                            <m:sty m:val="p"/>
                          </m:rPr>
                          <a:rPr lang="en-US" sz="1600" b="0" i="1" smtClean="0">
                            <a:latin typeface="Cambria Math" panose="02040503050406030204" pitchFamily="18" charset="0"/>
                          </a:rPr>
                          <m:t>k</m:t>
                        </m:r>
                      </m:sub>
                      <m:sup>
                        <m:r>
                          <m:rPr>
                            <m:sty m:val="p"/>
                          </m:rPr>
                          <a:rPr lang="en-US" sz="1600" b="0" i="1" smtClean="0">
                            <a:latin typeface="Cambria Math" panose="02040503050406030204" pitchFamily="18" charset="0"/>
                          </a:rPr>
                          <m:t>H</m:t>
                        </m:r>
                      </m:sup>
                    </m:sSub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m>
                              <m:mPr>
                                <m:mcs>
                                  <m:mc>
                                    <m:mcPr>
                                      <m:count m:val="2"/>
                                      <m:mcJc m:val="center"/>
                                    </m:mcPr>
                                  </m:mc>
                                </m:mcs>
                                <m:ctrlPr>
                                  <a:rPr lang="en-US" sz="1600" b="0" i="1" smtClean="0">
                                    <a:latin typeface="Cambria Math" panose="02040503050406030204" pitchFamily="18" charset="0"/>
                                  </a:rPr>
                                </m:ctrlPr>
                              </m:mPr>
                              <m:mr>
                                <m:e>
                                  <m:m>
                                    <m:mPr>
                                      <m:mcs>
                                        <m:mc>
                                          <m:mcPr>
                                            <m:count m:val="2"/>
                                            <m:mcJc m:val="center"/>
                                          </m:mcPr>
                                        </m:mc>
                                      </m:mcs>
                                      <m:ctrlPr>
                                        <a:rPr lang="en-US" sz="1600" b="0" i="1" smtClean="0">
                                          <a:latin typeface="Cambria Math" panose="02040503050406030204" pitchFamily="18" charset="0"/>
                                        </a:rPr>
                                      </m:ctrlPr>
                                    </m:mPr>
                                    <m:mr>
                                      <m:e>
                                        <m:sSubSup>
                                          <m:sSubSupPr>
                                            <m:ctrlPr>
                                              <a:rPr lang="en-US" sz="1600" b="0" i="1" smtClean="0">
                                                <a:latin typeface="Cambria Math" panose="02040503050406030204" pitchFamily="18" charset="0"/>
                                              </a:rPr>
                                            </m:ctrlPr>
                                          </m:sSubSupPr>
                                          <m:e>
                                            <m:r>
                                              <a:rPr lang="en-US" sz="1600" b="1" i="0" smtClean="0">
                                                <a:latin typeface="Cambria Math" panose="02040503050406030204" pitchFamily="18" charset="0"/>
                                              </a:rPr>
                                              <m:t>𝐇</m:t>
                                            </m:r>
                                          </m:e>
                                          <m:sub>
                                            <m:r>
                                              <a:rPr lang="en-US" sz="1600" b="0" i="1" smtClean="0">
                                                <a:latin typeface="Cambria Math" panose="02040503050406030204" pitchFamily="18" charset="0"/>
                                              </a:rPr>
                                              <m:t>1</m:t>
                                            </m:r>
                                          </m:sub>
                                          <m:sup>
                                            <m:r>
                                              <m:rPr>
                                                <m:sty m:val="p"/>
                                              </m:rPr>
                                              <a:rPr lang="en-US" sz="1600" b="0" i="1" smtClean="0">
                                                <a:latin typeface="Cambria Math" panose="02040503050406030204" pitchFamily="18" charset="0"/>
                                              </a:rPr>
                                              <m:t>H</m:t>
                                            </m:r>
                                          </m:sup>
                                        </m:sSubSup>
                                      </m:e>
                                      <m:e>
                                        <m:m>
                                          <m:mPr>
                                            <m:mcs>
                                              <m:mc>
                                                <m:mcPr>
                                                  <m:count m:val="2"/>
                                                  <m:mcJc m:val="center"/>
                                                </m:mcPr>
                                              </m:mc>
                                            </m:mcs>
                                            <m:ctrlPr>
                                              <a:rPr lang="en-US" sz="1600" b="0" i="1" smtClean="0">
                                                <a:latin typeface="Cambria Math" panose="02040503050406030204" pitchFamily="18" charset="0"/>
                                              </a:rPr>
                                            </m:ctrlPr>
                                          </m:mPr>
                                          <m:mr>
                                            <m:e>
                                              <m:r>
                                                <m:rPr>
                                                  <m:brk m:alnAt="7"/>
                                                </m:rPr>
                                                <a:rPr lang="en-US" sz="1600" b="0" i="1" smtClean="0">
                                                  <a:latin typeface="Cambria Math" panose="02040503050406030204" pitchFamily="18" charset="0"/>
                                                </a:rPr>
                                                <m:t>…</m:t>
                                              </m:r>
                                            </m:e>
                                            <m:e>
                                              <m:m>
                                                <m:mPr>
                                                  <m:mcs>
                                                    <m:mc>
                                                      <m:mcPr>
                                                        <m:count m:val="2"/>
                                                        <m:mcJc m:val="center"/>
                                                      </m:mcPr>
                                                    </m:mc>
                                                  </m:mcs>
                                                  <m:ctrlPr>
                                                    <a:rPr lang="en-US" sz="1600" b="0" i="1" smtClean="0">
                                                      <a:latin typeface="Cambria Math" panose="02040503050406030204" pitchFamily="18" charset="0"/>
                                                    </a:rPr>
                                                  </m:ctrlPr>
                                                </m:mPr>
                                                <m:mr>
                                                  <m:e>
                                                    <m:sSubSup>
                                                      <m:sSubSupPr>
                                                        <m:ctrlPr>
                                                          <a:rPr lang="en-US" sz="1600" i="1">
                                                            <a:latin typeface="Cambria Math" panose="02040503050406030204" pitchFamily="18" charset="0"/>
                                                          </a:rPr>
                                                        </m:ctrlPr>
                                                      </m:sSubSupPr>
                                                      <m:e>
                                                        <m:r>
                                                          <a:rPr lang="en-US" sz="1600" b="1">
                                                            <a:latin typeface="Cambria Math" panose="02040503050406030204" pitchFamily="18" charset="0"/>
                                                          </a:rPr>
                                                          <m:t>𝐇</m:t>
                                                        </m:r>
                                                      </m:e>
                                                      <m:sub>
                                                        <m:r>
                                                          <m:rPr>
                                                            <m:sty m:val="p"/>
                                                          </m:rPr>
                                                          <a:rPr lang="en-US" sz="1600" b="0" i="1" smtClean="0">
                                                            <a:latin typeface="Cambria Math" panose="02040503050406030204" pitchFamily="18" charset="0"/>
                                                          </a:rPr>
                                                          <m:t>k</m:t>
                                                        </m:r>
                                                        <m:r>
                                                          <a:rPr lang="en-US" sz="1600" b="0" i="1" smtClean="0">
                                                            <a:latin typeface="Cambria Math" panose="02040503050406030204" pitchFamily="18" charset="0"/>
                                                          </a:rPr>
                                                          <m:t>−1</m:t>
                                                        </m:r>
                                                      </m:sub>
                                                      <m:sup>
                                                        <m:r>
                                                          <m:rPr>
                                                            <m:sty m:val="p"/>
                                                          </m:rPr>
                                                          <a:rPr lang="en-US" sz="1600" i="1">
                                                            <a:latin typeface="Cambria Math" panose="02040503050406030204" pitchFamily="18" charset="0"/>
                                                          </a:rPr>
                                                          <m:t>H</m:t>
                                                        </m:r>
                                                      </m:sup>
                                                    </m:sSubSup>
                                                  </m:e>
                                                  <m:e>
                                                    <m:sSubSup>
                                                      <m:sSubSupPr>
                                                        <m:ctrlPr>
                                                          <a:rPr lang="en-US" sz="1600" i="1">
                                                            <a:latin typeface="Cambria Math" panose="02040503050406030204" pitchFamily="18" charset="0"/>
                                                          </a:rPr>
                                                        </m:ctrlPr>
                                                      </m:sSubSupPr>
                                                      <m:e>
                                                        <m:r>
                                                          <a:rPr lang="en-US" sz="1600" b="1">
                                                            <a:latin typeface="Cambria Math" panose="02040503050406030204" pitchFamily="18" charset="0"/>
                                                          </a:rPr>
                                                          <m:t>𝐇</m:t>
                                                        </m:r>
                                                      </m:e>
                                                      <m:sub>
                                                        <m:r>
                                                          <m:rPr>
                                                            <m:sty m:val="p"/>
                                                          </m:rPr>
                                                          <a:rPr lang="en-US" sz="1600" b="0" i="1" smtClean="0">
                                                            <a:latin typeface="Cambria Math" panose="02040503050406030204" pitchFamily="18" charset="0"/>
                                                          </a:rPr>
                                                          <m:t>k</m:t>
                                                        </m:r>
                                                        <m:r>
                                                          <a:rPr lang="en-US" sz="1600" b="0" i="1" smtClean="0">
                                                            <a:latin typeface="Cambria Math" panose="02040503050406030204" pitchFamily="18" charset="0"/>
                                                          </a:rPr>
                                                          <m:t>+1</m:t>
                                                        </m:r>
                                                      </m:sub>
                                                      <m:sup>
                                                        <m:r>
                                                          <m:rPr>
                                                            <m:sty m:val="p"/>
                                                          </m:rPr>
                                                          <a:rPr lang="en-US" sz="1600" i="1">
                                                            <a:latin typeface="Cambria Math" panose="02040503050406030204" pitchFamily="18" charset="0"/>
                                                          </a:rPr>
                                                          <m:t>H</m:t>
                                                        </m:r>
                                                      </m:sup>
                                                    </m:sSubSup>
                                                  </m:e>
                                                </m:mr>
                                              </m:m>
                                            </m:e>
                                          </m:mr>
                                        </m:m>
                                      </m:e>
                                    </m:mr>
                                  </m:m>
                                </m:e>
                                <m:e>
                                  <m:m>
                                    <m:mPr>
                                      <m:mcs>
                                        <m:mc>
                                          <m:mcPr>
                                            <m:count m:val="2"/>
                                            <m:mcJc m:val="center"/>
                                          </m:mcPr>
                                        </m:mc>
                                      </m:mcs>
                                      <m:ctrlPr>
                                        <a:rPr lang="en-US" sz="1600" b="0" i="1" smtClean="0">
                                          <a:latin typeface="Cambria Math" panose="02040503050406030204" pitchFamily="18" charset="0"/>
                                        </a:rPr>
                                      </m:ctrlPr>
                                    </m:mPr>
                                    <m:mr>
                                      <m:e>
                                        <m:r>
                                          <m:rPr>
                                            <m:brk m:alnAt="7"/>
                                          </m:rPr>
                                          <a:rPr lang="en-US" sz="1600" b="0" i="1" smtClean="0">
                                            <a:latin typeface="Cambria Math" panose="02040503050406030204" pitchFamily="18" charset="0"/>
                                          </a:rPr>
                                          <m:t>…</m:t>
                                        </m:r>
                                      </m:e>
                                      <m:e>
                                        <m:sSubSup>
                                          <m:sSubSupPr>
                                            <m:ctrlPr>
                                              <a:rPr lang="en-US" sz="1600" i="1">
                                                <a:latin typeface="Cambria Math" panose="02040503050406030204" pitchFamily="18" charset="0"/>
                                              </a:rPr>
                                            </m:ctrlPr>
                                          </m:sSubSupPr>
                                          <m:e>
                                            <m:r>
                                              <a:rPr lang="en-US" sz="1600" b="1">
                                                <a:latin typeface="Cambria Math" panose="02040503050406030204" pitchFamily="18" charset="0"/>
                                              </a:rPr>
                                              <m:t>𝐇</m:t>
                                            </m:r>
                                          </m:e>
                                          <m:sub>
                                            <m:r>
                                              <m:rPr>
                                                <m:sty m:val="p"/>
                                              </m:rPr>
                                              <a:rPr lang="en-US" sz="1600" b="0" i="1" smtClean="0">
                                                <a:latin typeface="Cambria Math" panose="02040503050406030204" pitchFamily="18" charset="0"/>
                                              </a:rPr>
                                              <m:t>K</m:t>
                                            </m:r>
                                          </m:sub>
                                          <m:sup>
                                            <m:r>
                                              <m:rPr>
                                                <m:sty m:val="p"/>
                                              </m:rPr>
                                              <a:rPr lang="en-US" sz="1600" i="1">
                                                <a:latin typeface="Cambria Math" panose="02040503050406030204" pitchFamily="18" charset="0"/>
                                              </a:rPr>
                                              <m:t>H</m:t>
                                            </m:r>
                                          </m:sup>
                                        </m:sSubSup>
                                      </m:e>
                                    </m:mr>
                                  </m:m>
                                </m:e>
                              </m:mr>
                            </m:m>
                          </m:e>
                        </m:d>
                      </m:e>
                      <m:sup>
                        <m:r>
                          <m:rPr>
                            <m:sty m:val="p"/>
                          </m:rPr>
                          <a:rPr lang="en-US" sz="1600" b="0" i="1" smtClean="0">
                            <a:latin typeface="Cambria Math" panose="02040503050406030204" pitchFamily="18" charset="0"/>
                          </a:rPr>
                          <m:t>H</m:t>
                        </m:r>
                      </m:sup>
                    </m:sSup>
                  </m:oMath>
                </a14:m>
                <a:endParaRPr lang="en-BE" dirty="0"/>
              </a:p>
              <a:p>
                <a:pPr marL="742950" lvl="1" indent="-285750">
                  <a:lnSpc>
                    <a:spcPct val="150000"/>
                  </a:lnSpc>
                  <a:buFont typeface="Arial" panose="020B0604020202020204" pitchFamily="34" charset="0"/>
                  <a:buChar char="•"/>
                </a:pPr>
                <a:r>
                  <a:rPr lang="en-BE" dirty="0"/>
                  <a:t>SU-Precoder Matrix:     </a:t>
                </a:r>
                <a14:m>
                  <m:oMath xmlns:m="http://schemas.openxmlformats.org/officeDocument/2006/math">
                    <m:sSubSup>
                      <m:sSubSupPr>
                        <m:ctrlPr>
                          <a:rPr lang="en-BE" i="1">
                            <a:latin typeface="Cambria Math" panose="02040503050406030204" pitchFamily="18" charset="0"/>
                          </a:rPr>
                        </m:ctrlPr>
                      </m:sSubSupPr>
                      <m:e>
                        <m:r>
                          <a:rPr lang="en-US" b="1">
                            <a:latin typeface="Cambria Math" panose="02040503050406030204" pitchFamily="18" charset="0"/>
                          </a:rPr>
                          <m:t>𝐅</m:t>
                        </m:r>
                      </m:e>
                      <m:sub>
                        <m:r>
                          <m:rPr>
                            <m:sty m:val="p"/>
                          </m:rPr>
                          <a:rPr lang="en-US" i="1">
                            <a:latin typeface="Cambria Math" panose="02040503050406030204" pitchFamily="18" charset="0"/>
                          </a:rPr>
                          <m:t>k</m:t>
                        </m:r>
                      </m:sub>
                      <m:sup>
                        <m:d>
                          <m:dPr>
                            <m:begChr m:val="["/>
                            <m:endChr m:val="]"/>
                            <m:ctrlPr>
                              <a:rPr lang="en-BE" i="1">
                                <a:latin typeface="Cambria Math" panose="02040503050406030204" pitchFamily="18" charset="0"/>
                              </a:rPr>
                            </m:ctrlPr>
                          </m:dPr>
                          <m:e>
                            <m:r>
                              <m:rPr>
                                <m:sty m:val="p"/>
                              </m:rPr>
                              <a:rPr lang="en-US" b="0" i="1" smtClean="0">
                                <a:latin typeface="Cambria Math" panose="02040503050406030204" pitchFamily="18" charset="0"/>
                              </a:rPr>
                              <m:t>S</m:t>
                            </m:r>
                            <m:r>
                              <m:rPr>
                                <m:sty m:val="p"/>
                              </m:rPr>
                              <a:rPr lang="en-US" i="1">
                                <a:latin typeface="Cambria Math" panose="02040503050406030204" pitchFamily="18" charset="0"/>
                              </a:rPr>
                              <m:t>U</m:t>
                            </m:r>
                          </m:e>
                        </m:d>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𝐕</m:t>
                            </m:r>
                          </m:e>
                        </m:acc>
                      </m:e>
                      <m:sub>
                        <m:r>
                          <m:rPr>
                            <m:sty m:val="p"/>
                          </m:rPr>
                          <a:rPr lang="en-US" b="0" i="1" smtClean="0">
                            <a:latin typeface="Cambria Math" panose="02040503050406030204" pitchFamily="18" charset="0"/>
                          </a:rPr>
                          <m:t>k</m:t>
                        </m:r>
                      </m:sub>
                    </m:sSub>
                    <m:r>
                      <a:rPr lang="en-US" i="1">
                        <a:latin typeface="Cambria Math" panose="02040503050406030204" pitchFamily="18" charset="0"/>
                      </a:rPr>
                      <m:t>,    </m:t>
                    </m:r>
                    <m:r>
                      <m:rPr>
                        <m:sty m:val="p"/>
                      </m:rPr>
                      <a:rPr lang="en-US" i="1">
                        <a:latin typeface="Cambria Math" panose="02040503050406030204" pitchFamily="18" charset="0"/>
                      </a:rPr>
                      <m:t>with</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0" smtClean="0">
                            <a:latin typeface="Cambria Math" panose="02040503050406030204" pitchFamily="18" charset="0"/>
                          </a:rPr>
                          <m:t>𝐇</m:t>
                        </m:r>
                      </m:e>
                      <m:sub>
                        <m:r>
                          <m:rPr>
                            <m:sty m:val="p"/>
                          </m:rPr>
                          <a:rPr lang="en-US" b="0" i="1" smtClean="0">
                            <a:latin typeface="Cambria Math" panose="02040503050406030204" pitchFamily="18" charset="0"/>
                          </a:rPr>
                          <m:t>k</m:t>
                        </m:r>
                      </m:sub>
                    </m:sSub>
                    <m:sSubSup>
                      <m:sSubSupPr>
                        <m:ctrlPr>
                          <a:rPr lang="en-BE" i="1">
                            <a:latin typeface="Cambria Math" panose="02040503050406030204" pitchFamily="18" charset="0"/>
                          </a:rPr>
                        </m:ctrlPr>
                      </m:sSubSupPr>
                      <m:e>
                        <m:r>
                          <a:rPr lang="en-US" b="1">
                            <a:latin typeface="Cambria Math" panose="02040503050406030204" pitchFamily="18" charset="0"/>
                          </a:rPr>
                          <m:t>𝐅</m:t>
                        </m:r>
                      </m:e>
                      <m:sub>
                        <m:r>
                          <m:rPr>
                            <m:sty m:val="p"/>
                          </m:rPr>
                          <a:rPr lang="en-US" i="1">
                            <a:latin typeface="Cambria Math" panose="02040503050406030204" pitchFamily="18" charset="0"/>
                          </a:rPr>
                          <m:t>k</m:t>
                        </m:r>
                      </m:sub>
                      <m:sup>
                        <m:d>
                          <m:dPr>
                            <m:begChr m:val="["/>
                            <m:endChr m:val="]"/>
                            <m:ctrlPr>
                              <a:rPr lang="en-BE" i="1">
                                <a:latin typeface="Cambria Math" panose="02040503050406030204" pitchFamily="18" charset="0"/>
                              </a:rPr>
                            </m:ctrlPr>
                          </m:dPr>
                          <m:e>
                            <m:r>
                              <m:rPr>
                                <m:sty m:val="p"/>
                              </m:rPr>
                              <a:rPr lang="en-US" i="1">
                                <a:latin typeface="Cambria Math" panose="02040503050406030204" pitchFamily="18" charset="0"/>
                              </a:rPr>
                              <m:t>MU</m:t>
                            </m:r>
                          </m:e>
                        </m:d>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𝐇</m:t>
                            </m:r>
                          </m:e>
                        </m:acc>
                      </m:e>
                      <m:sub>
                        <m:r>
                          <m:rPr>
                            <m:sty m:val="p"/>
                          </m:rPr>
                          <a:rPr lang="en-US" b="0" i="1" smtClean="0">
                            <a:latin typeface="Cambria Math" panose="02040503050406030204" pitchFamily="18" charset="0"/>
                          </a:rPr>
                          <m:t>k</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𝐔</m:t>
                            </m:r>
                          </m:e>
                        </m:acc>
                      </m:e>
                      <m:sub>
                        <m:r>
                          <m:rPr>
                            <m:sty m:val="p"/>
                          </m:rPr>
                          <a:rPr lang="en-US" b="0" i="1" smtClean="0">
                            <a:latin typeface="Cambria Math" panose="02040503050406030204" pitchFamily="18" charset="0"/>
                          </a:rPr>
                          <m:t>k</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𝚺</m:t>
                            </m:r>
                          </m:e>
                        </m:acc>
                      </m:e>
                      <m:sub>
                        <m:r>
                          <m:rPr>
                            <m:sty m:val="p"/>
                          </m:rPr>
                          <a:rPr lang="en-US" b="0" i="1" smtClean="0">
                            <a:latin typeface="Cambria Math" panose="02040503050406030204" pitchFamily="18" charset="0"/>
                          </a:rPr>
                          <m:t>k</m:t>
                        </m:r>
                      </m:sub>
                    </m:sSub>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𝐕</m:t>
                            </m:r>
                          </m:e>
                        </m:acc>
                      </m:e>
                      <m:sub>
                        <m:r>
                          <m:rPr>
                            <m:sty m:val="p"/>
                          </m:rPr>
                          <a:rPr lang="en-US" b="0" i="1" smtClean="0">
                            <a:latin typeface="Cambria Math" panose="02040503050406030204" pitchFamily="18" charset="0"/>
                          </a:rPr>
                          <m:t>k</m:t>
                        </m:r>
                      </m:sub>
                      <m:sup>
                        <m:r>
                          <m:rPr>
                            <m:sty m:val="p"/>
                          </m:rPr>
                          <a:rPr lang="en-US" b="0" i="1" smtClean="0">
                            <a:latin typeface="Cambria Math" panose="02040503050406030204" pitchFamily="18" charset="0"/>
                          </a:rPr>
                          <m:t>H</m:t>
                        </m:r>
                      </m:sup>
                    </m:sSubSup>
                  </m:oMath>
                </a14:m>
                <a:endParaRPr lang="en-BE" dirty="0"/>
              </a:p>
              <a:p>
                <a:pPr marL="742950" lvl="1" indent="-285750">
                  <a:lnSpc>
                    <a:spcPct val="150000"/>
                  </a:lnSpc>
                  <a:buFont typeface="Arial" panose="020B0604020202020204" pitchFamily="34" charset="0"/>
                  <a:buChar char="•"/>
                </a:pPr>
                <a:r>
                  <a:rPr lang="en-BE" dirty="0"/>
                  <a:t>Combiner Matrix:          </a:t>
                </a:r>
                <a14:m>
                  <m:oMath xmlns:m="http://schemas.openxmlformats.org/officeDocument/2006/math">
                    <m:sSub>
                      <m:sSubPr>
                        <m:ctrlPr>
                          <a:rPr lang="en-US" i="1" smtClean="0">
                            <a:latin typeface="Cambria Math" panose="02040503050406030204" pitchFamily="18" charset="0"/>
                          </a:rPr>
                        </m:ctrlPr>
                      </m:sSubPr>
                      <m:e>
                        <m:r>
                          <a:rPr lang="en-US" b="1" i="0" smtClean="0">
                            <a:latin typeface="Cambria Math" panose="02040503050406030204" pitchFamily="18" charset="0"/>
                          </a:rPr>
                          <m:t>𝐆</m:t>
                        </m:r>
                      </m:e>
                      <m:sub>
                        <m:r>
                          <m:rPr>
                            <m:sty m:val="p"/>
                          </m:rPr>
                          <a:rPr lang="en-US" b="0" i="1" smtClean="0">
                            <a:latin typeface="Cambria Math" panose="02040503050406030204" pitchFamily="18" charset="0"/>
                          </a:rPr>
                          <m:t>k</m:t>
                        </m:r>
                      </m:sub>
                    </m:sSub>
                    <m:r>
                      <a:rPr lang="en-US" i="1">
                        <a:latin typeface="Cambria Math" panose="02040503050406030204" pitchFamily="18" charset="0"/>
                      </a:rPr>
                      <m:t>=</m:t>
                    </m:r>
                    <m:sSubSup>
                      <m:sSubSupPr>
                        <m:ctrlPr>
                          <a:rPr lang="en-US" i="1">
                            <a:latin typeface="Cambria Math" panose="02040503050406030204" pitchFamily="18" charset="0"/>
                          </a:rPr>
                        </m:ctrlPr>
                      </m:sSubSupPr>
                      <m:e>
                        <m:acc>
                          <m:accPr>
                            <m:chr m:val="⃛"/>
                            <m:ctrlPr>
                              <a:rPr lang="en-US" b="1" i="1">
                                <a:latin typeface="Cambria Math" panose="02040503050406030204" pitchFamily="18" charset="0"/>
                              </a:rPr>
                            </m:ctrlPr>
                          </m:accPr>
                          <m:e>
                            <m:r>
                              <a:rPr lang="en-US" b="1" i="0" smtClean="0">
                                <a:latin typeface="Cambria Math" panose="02040503050406030204" pitchFamily="18" charset="0"/>
                              </a:rPr>
                              <m:t>𝐔</m:t>
                            </m:r>
                          </m:e>
                        </m:acc>
                      </m:e>
                      <m:sub>
                        <m:r>
                          <m:rPr>
                            <m:sty m:val="p"/>
                          </m:rPr>
                          <a:rPr lang="en-US" i="1">
                            <a:latin typeface="Cambria Math" panose="02040503050406030204" pitchFamily="18" charset="0"/>
                          </a:rPr>
                          <m:t>k</m:t>
                        </m:r>
                      </m:sub>
                      <m:sup>
                        <m:r>
                          <m:rPr>
                            <m:sty m:val="p"/>
                          </m:rPr>
                          <a:rPr lang="en-US" i="1">
                            <a:latin typeface="Cambria Math" panose="02040503050406030204" pitchFamily="18" charset="0"/>
                          </a:rPr>
                          <m:t>H</m:t>
                        </m:r>
                      </m:sup>
                    </m:sSubSup>
                    <m:r>
                      <a:rPr lang="en-US" i="1">
                        <a:latin typeface="Cambria Math" panose="02040503050406030204" pitchFamily="18" charset="0"/>
                      </a:rPr>
                      <m:t>,    </m:t>
                    </m:r>
                    <m:r>
                      <a:rPr lang="en-US" b="0" i="1" smtClean="0">
                        <a:latin typeface="Cambria Math" panose="02040503050406030204" pitchFamily="18" charset="0"/>
                      </a:rPr>
                      <m:t>   </m:t>
                    </m:r>
                    <m:r>
                      <m:rPr>
                        <m:sty m:val="p"/>
                      </m:rPr>
                      <a:rPr lang="en-US" i="1">
                        <a:latin typeface="Cambria Math" panose="02040503050406030204" pitchFamily="18" charset="0"/>
                      </a:rPr>
                      <m:t>with</m:t>
                    </m:r>
                    <m:r>
                      <a:rPr lang="en-US" i="1">
                        <a:latin typeface="Cambria Math" panose="02040503050406030204" pitchFamily="18" charset="0"/>
                      </a:rPr>
                      <m:t>  </m:t>
                    </m:r>
                    <m:sSub>
                      <m:sSubPr>
                        <m:ctrlPr>
                          <a:rPr lang="en-US" i="1">
                            <a:latin typeface="Cambria Math" panose="02040503050406030204" pitchFamily="18" charset="0"/>
                          </a:rPr>
                        </m:ctrlPr>
                      </m:sSubPr>
                      <m:e>
                        <m:r>
                          <a:rPr lang="en-US" b="1">
                            <a:latin typeface="Cambria Math" panose="02040503050406030204" pitchFamily="18" charset="0"/>
                          </a:rPr>
                          <m:t>𝐇</m:t>
                        </m:r>
                      </m:e>
                      <m:sub>
                        <m:r>
                          <m:rPr>
                            <m:sty m:val="p"/>
                          </m:rPr>
                          <a:rPr lang="en-US" i="1">
                            <a:latin typeface="Cambria Math" panose="02040503050406030204" pitchFamily="18" charset="0"/>
                          </a:rPr>
                          <m:t>k</m:t>
                        </m:r>
                      </m:sub>
                    </m:sSub>
                    <m:sSubSup>
                      <m:sSubSupPr>
                        <m:ctrlPr>
                          <a:rPr lang="en-BE" i="1">
                            <a:latin typeface="Cambria Math" panose="02040503050406030204" pitchFamily="18" charset="0"/>
                          </a:rPr>
                        </m:ctrlPr>
                      </m:sSubSupPr>
                      <m:e>
                        <m:r>
                          <a:rPr lang="en-US" b="1">
                            <a:latin typeface="Cambria Math" panose="02040503050406030204" pitchFamily="18" charset="0"/>
                          </a:rPr>
                          <m:t>𝐅</m:t>
                        </m:r>
                      </m:e>
                      <m:sub>
                        <m:r>
                          <m:rPr>
                            <m:sty m:val="p"/>
                          </m:rPr>
                          <a:rPr lang="en-US" i="1">
                            <a:latin typeface="Cambria Math" panose="02040503050406030204" pitchFamily="18" charset="0"/>
                          </a:rPr>
                          <m:t>k</m:t>
                        </m:r>
                      </m:sub>
                      <m:sup>
                        <m:d>
                          <m:dPr>
                            <m:begChr m:val="["/>
                            <m:endChr m:val="]"/>
                            <m:ctrlPr>
                              <a:rPr lang="en-BE" i="1">
                                <a:latin typeface="Cambria Math" panose="02040503050406030204" pitchFamily="18" charset="0"/>
                              </a:rPr>
                            </m:ctrlPr>
                          </m:dPr>
                          <m:e>
                            <m:r>
                              <m:rPr>
                                <m:sty m:val="p"/>
                              </m:rPr>
                              <a:rPr lang="en-US" i="1">
                                <a:latin typeface="Cambria Math" panose="02040503050406030204" pitchFamily="18" charset="0"/>
                              </a:rPr>
                              <m:t>MU</m:t>
                            </m:r>
                          </m:e>
                        </m:d>
                      </m:sup>
                    </m:sSubSup>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a:latin typeface="Cambria Math" panose="02040503050406030204" pitchFamily="18" charset="0"/>
                              </a:rPr>
                              <m:t>𝐇</m:t>
                            </m:r>
                          </m:e>
                        </m:acc>
                      </m:e>
                      <m:sub>
                        <m:r>
                          <m:rPr>
                            <m:sty m:val="p"/>
                          </m:rPr>
                          <a:rPr lang="en-US" i="1">
                            <a:latin typeface="Cambria Math" panose="02040503050406030204" pitchFamily="18" charset="0"/>
                          </a:rPr>
                          <m:t>k</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a:latin typeface="Cambria Math" panose="02040503050406030204" pitchFamily="18" charset="0"/>
                              </a:rPr>
                              <m:t>𝐔</m:t>
                            </m:r>
                          </m:e>
                        </m:acc>
                      </m:e>
                      <m:sub>
                        <m:r>
                          <m:rPr>
                            <m:sty m:val="p"/>
                          </m:rPr>
                          <a:rPr lang="en-US" i="1">
                            <a:latin typeface="Cambria Math" panose="02040503050406030204" pitchFamily="18" charset="0"/>
                          </a:rPr>
                          <m:t>k</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1">
                                <a:latin typeface="Cambria Math" panose="02040503050406030204" pitchFamily="18" charset="0"/>
                              </a:rPr>
                              <m:t>𝚺</m:t>
                            </m:r>
                          </m:e>
                        </m:acc>
                      </m:e>
                      <m:sub>
                        <m:r>
                          <m:rPr>
                            <m:sty m:val="p"/>
                          </m:rPr>
                          <a:rPr lang="en-US" i="1">
                            <a:latin typeface="Cambria Math" panose="02040503050406030204" pitchFamily="18" charset="0"/>
                          </a:rPr>
                          <m:t>k</m:t>
                        </m:r>
                      </m:sub>
                    </m:sSub>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b="1">
                                <a:latin typeface="Cambria Math" panose="02040503050406030204" pitchFamily="18" charset="0"/>
                              </a:rPr>
                              <m:t>𝐕</m:t>
                            </m:r>
                          </m:e>
                        </m:acc>
                      </m:e>
                      <m:sub>
                        <m:r>
                          <m:rPr>
                            <m:sty m:val="p"/>
                          </m:rPr>
                          <a:rPr lang="en-US" i="1">
                            <a:latin typeface="Cambria Math" panose="02040503050406030204" pitchFamily="18" charset="0"/>
                          </a:rPr>
                          <m:t>k</m:t>
                        </m:r>
                      </m:sub>
                      <m:sup>
                        <m:r>
                          <m:rPr>
                            <m:sty m:val="p"/>
                          </m:rPr>
                          <a:rPr lang="en-US" i="1">
                            <a:latin typeface="Cambria Math" panose="02040503050406030204" pitchFamily="18" charset="0"/>
                          </a:rPr>
                          <m:t>H</m:t>
                        </m:r>
                      </m:sup>
                    </m:sSubSup>
                  </m:oMath>
                </a14:m>
                <a:endParaRPr lang="en-BE" dirty="0"/>
              </a:p>
              <a:p>
                <a:pPr marL="742950" lvl="1" indent="-285750">
                  <a:lnSpc>
                    <a:spcPct val="150000"/>
                  </a:lnSpc>
                  <a:buFont typeface="Arial" panose="020B0604020202020204" pitchFamily="34" charset="0"/>
                  <a:buChar char="•"/>
                </a:pPr>
                <a:r>
                  <a:rPr lang="en-BE" dirty="0"/>
                  <a:t>Result:                            </a:t>
                </a:r>
                <a14:m>
                  <m:oMath xmlns:m="http://schemas.openxmlformats.org/officeDocument/2006/math">
                    <m:r>
                      <a:rPr lang="en-US" b="1">
                        <a:latin typeface="Cambria Math" panose="02040503050406030204" pitchFamily="18" charset="0"/>
                      </a:rPr>
                      <m:t>𝐳</m:t>
                    </m:r>
                    <m:r>
                      <a:rPr lang="en-US" b="1">
                        <a:latin typeface="Cambria Math" panose="02040503050406030204" pitchFamily="18" charset="0"/>
                      </a:rPr>
                      <m:t> = </m:t>
                    </m:r>
                    <m:r>
                      <a:rPr lang="en-US" b="1">
                        <a:latin typeface="Cambria Math" panose="02040503050406030204" pitchFamily="18" charset="0"/>
                      </a:rPr>
                      <m:t>𝐏</m:t>
                    </m:r>
                    <m:r>
                      <a:rPr lang="en-US" b="1">
                        <a:latin typeface="Cambria Math" panose="02040503050406030204" pitchFamily="18" charset="0"/>
                      </a:rPr>
                      <m:t> </m:t>
                    </m:r>
                    <m:r>
                      <a:rPr lang="en-US" b="1">
                        <a:latin typeface="Cambria Math" panose="02040503050406030204" pitchFamily="18" charset="0"/>
                      </a:rPr>
                      <m:t>𝐚</m:t>
                    </m:r>
                    <m:r>
                      <a:rPr lang="en-US" b="1">
                        <a:latin typeface="Cambria Math" panose="02040503050406030204" pitchFamily="18" charset="0"/>
                      </a:rPr>
                      <m:t> + </m:t>
                    </m:r>
                    <m:r>
                      <a:rPr lang="en-US" b="1">
                        <a:latin typeface="Cambria Math" panose="02040503050406030204" pitchFamily="18" charset="0"/>
                      </a:rPr>
                      <m:t>𝐧</m:t>
                    </m:r>
                  </m:oMath>
                </a14:m>
                <a:endParaRPr lang="en-BE" dirty="0"/>
              </a:p>
            </p:txBody>
          </p:sp>
        </mc:Choice>
        <mc:Fallback xmlns="">
          <p:sp>
            <p:nvSpPr>
              <p:cNvPr id="11" name="TextBox 10">
                <a:extLst>
                  <a:ext uri="{FF2B5EF4-FFF2-40B4-BE49-F238E27FC236}">
                    <a16:creationId xmlns:a16="http://schemas.microsoft.com/office/drawing/2014/main" id="{904D9C6A-267C-3AD3-FE9E-B9D10A701BB4}"/>
                  </a:ext>
                </a:extLst>
              </p:cNvPr>
              <p:cNvSpPr txBox="1">
                <a:spLocks noRot="1" noChangeAspect="1" noMove="1" noResize="1" noEditPoints="1" noAdjustHandles="1" noChangeArrowheads="1" noChangeShapeType="1" noTextEdit="1"/>
              </p:cNvSpPr>
              <p:nvPr/>
            </p:nvSpPr>
            <p:spPr>
              <a:xfrm>
                <a:off x="542608" y="2900202"/>
                <a:ext cx="10893422" cy="2806409"/>
              </a:xfrm>
              <a:prstGeom prst="rect">
                <a:avLst/>
              </a:prstGeom>
              <a:blipFill>
                <a:blip r:embed="rId2"/>
                <a:stretch>
                  <a:fillRect l="-466" t="-901"/>
                </a:stretch>
              </a:blipFill>
            </p:spPr>
            <p:txBody>
              <a:bodyPr/>
              <a:lstStyle/>
              <a:p>
                <a:r>
                  <a:rPr lang="en-BE">
                    <a:noFill/>
                  </a:rPr>
                  <a:t> </a:t>
                </a:r>
              </a:p>
            </p:txBody>
          </p:sp>
        </mc:Fallback>
      </mc:AlternateContent>
    </p:spTree>
    <p:extLst>
      <p:ext uri="{BB962C8B-B14F-4D97-AF65-F5344CB8AC3E}">
        <p14:creationId xmlns:p14="http://schemas.microsoft.com/office/powerpoint/2010/main" val="374460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C64E36-AD90-6B8E-A05A-8A3028F4B7B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977DF11-9A40-30A0-7824-02ED84AA8951}"/>
              </a:ext>
            </a:extLst>
          </p:cNvPr>
          <p:cNvSpPr>
            <a:spLocks noGrp="1"/>
          </p:cNvSpPr>
          <p:nvPr>
            <p:ph type="body" sz="quarter" idx="10"/>
          </p:nvPr>
        </p:nvSpPr>
        <p:spPr/>
        <p:txBody>
          <a:bodyPr/>
          <a:lstStyle/>
          <a:p>
            <a:r>
              <a:rPr lang="en-BE" dirty="0"/>
              <a:t>Fixed Bit Loader (4-QAM)</a:t>
            </a:r>
          </a:p>
        </p:txBody>
      </p:sp>
      <p:sp>
        <p:nvSpPr>
          <p:cNvPr id="4" name="Title 3">
            <a:extLst>
              <a:ext uri="{FF2B5EF4-FFF2-40B4-BE49-F238E27FC236}">
                <a16:creationId xmlns:a16="http://schemas.microsoft.com/office/drawing/2014/main" id="{CB0395D2-8E2F-AEDF-A0FD-BED2AFD4F8DF}"/>
              </a:ext>
            </a:extLst>
          </p:cNvPr>
          <p:cNvSpPr>
            <a:spLocks noGrp="1"/>
          </p:cNvSpPr>
          <p:nvPr>
            <p:ph type="title"/>
          </p:nvPr>
        </p:nvSpPr>
        <p:spPr/>
        <p:txBody>
          <a:bodyPr/>
          <a:lstStyle/>
          <a:p>
            <a:r>
              <a:rPr lang="en-BE" dirty="0"/>
              <a:t>Simulation Results – BD</a:t>
            </a:r>
          </a:p>
        </p:txBody>
      </p:sp>
      <p:sp>
        <p:nvSpPr>
          <p:cNvPr id="11" name="TextBox 10">
            <a:extLst>
              <a:ext uri="{FF2B5EF4-FFF2-40B4-BE49-F238E27FC236}">
                <a16:creationId xmlns:a16="http://schemas.microsoft.com/office/drawing/2014/main" id="{552001DA-C3C9-D084-9465-3B64185B068E}"/>
              </a:ext>
            </a:extLst>
          </p:cNvPr>
          <p:cNvSpPr txBox="1"/>
          <p:nvPr/>
        </p:nvSpPr>
        <p:spPr>
          <a:xfrm>
            <a:off x="8513092" y="2013758"/>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5FC3FB27-93EF-1F92-9292-192A4C90C024}"/>
              </a:ext>
            </a:extLst>
          </p:cNvPr>
          <p:cNvSpPr txBox="1"/>
          <p:nvPr/>
        </p:nvSpPr>
        <p:spPr>
          <a:xfrm>
            <a:off x="2948789" y="2013758"/>
            <a:ext cx="859531" cy="369332"/>
          </a:xfrm>
          <a:prstGeom prst="rect">
            <a:avLst/>
          </a:prstGeom>
          <a:noFill/>
        </p:spPr>
        <p:txBody>
          <a:bodyPr wrap="none" rtlCol="0">
            <a:spAutoFit/>
          </a:bodyPr>
          <a:lstStyle/>
          <a:p>
            <a:r>
              <a:rPr lang="en-BE" dirty="0"/>
              <a:t>R vs SNR</a:t>
            </a:r>
          </a:p>
        </p:txBody>
      </p:sp>
      <p:pic>
        <p:nvPicPr>
          <p:cNvPr id="5" name="Picture 4">
            <a:extLst>
              <a:ext uri="{FF2B5EF4-FFF2-40B4-BE49-F238E27FC236}">
                <a16:creationId xmlns:a16="http://schemas.microsoft.com/office/drawing/2014/main" id="{D60F8E93-12CA-40A3-0651-BB0AD6F3D348}"/>
              </a:ext>
            </a:extLst>
          </p:cNvPr>
          <p:cNvPicPr>
            <a:picLocks noChangeAspect="1"/>
          </p:cNvPicPr>
          <p:nvPr/>
        </p:nvPicPr>
        <p:blipFill>
          <a:blip r:embed="rId3"/>
          <a:stretch>
            <a:fillRect/>
          </a:stretch>
        </p:blipFill>
        <p:spPr>
          <a:xfrm>
            <a:off x="6553386" y="2306890"/>
            <a:ext cx="4845967" cy="4038306"/>
          </a:xfrm>
          <a:prstGeom prst="rect">
            <a:avLst/>
          </a:prstGeom>
        </p:spPr>
      </p:pic>
      <p:pic>
        <p:nvPicPr>
          <p:cNvPr id="13" name="Picture 12">
            <a:extLst>
              <a:ext uri="{FF2B5EF4-FFF2-40B4-BE49-F238E27FC236}">
                <a16:creationId xmlns:a16="http://schemas.microsoft.com/office/drawing/2014/main" id="{E73E81D6-99BD-DC77-0C16-B654813EFAD2}"/>
              </a:ext>
            </a:extLst>
          </p:cNvPr>
          <p:cNvPicPr>
            <a:picLocks noChangeAspect="1"/>
          </p:cNvPicPr>
          <p:nvPr/>
        </p:nvPicPr>
        <p:blipFill>
          <a:blip r:embed="rId4"/>
          <a:stretch>
            <a:fillRect/>
          </a:stretch>
        </p:blipFill>
        <p:spPr>
          <a:xfrm>
            <a:off x="802464" y="2306890"/>
            <a:ext cx="4845967" cy="4038306"/>
          </a:xfrm>
          <a:prstGeom prst="rect">
            <a:avLst/>
          </a:prstGeom>
        </p:spPr>
      </p:pic>
    </p:spTree>
    <p:extLst>
      <p:ext uri="{BB962C8B-B14F-4D97-AF65-F5344CB8AC3E}">
        <p14:creationId xmlns:p14="http://schemas.microsoft.com/office/powerpoint/2010/main" val="3996153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B41F46-5A4F-B3E0-A0C9-8E5411A2BB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4A8B978-81B0-CD12-DCF7-CF9F7745ADC6}"/>
                  </a:ext>
                </a:extLst>
              </p:cNvPr>
              <p:cNvSpPr>
                <a:spLocks noGrp="1"/>
              </p:cNvSpPr>
              <p:nvPr>
                <p:ph type="body" sz="quarter" idx="10"/>
              </p:nvPr>
            </p:nvSpPr>
            <p:spPr/>
            <p:txBody>
              <a:bodyPr/>
              <a:lstStyle/>
              <a:p>
                <a:r>
                  <a:rPr lang="en-BE" dirty="0"/>
                  <a:t>Adaptive Bit Loader (</a:t>
                </a:r>
                <a14:m>
                  <m:oMath xmlns:m="http://schemas.openxmlformats.org/officeDocument/2006/math">
                    <m:r>
                      <a:rPr lang="en-US" i="1">
                        <a:latin typeface="Cambria Math" panose="02040503050406030204" pitchFamily="18" charset="0"/>
                      </a:rPr>
                      <m:t>𝑅</m:t>
                    </m:r>
                  </m:oMath>
                </a14:m>
                <a:r>
                  <a:rPr lang="en-BE" dirty="0"/>
                  <a:t>-QAM)</a:t>
                </a:r>
              </a:p>
            </p:txBody>
          </p:sp>
        </mc:Choice>
        <mc:Fallback xmlns="">
          <p:sp>
            <p:nvSpPr>
              <p:cNvPr id="3" name="Text Placeholder 2">
                <a:extLst>
                  <a:ext uri="{FF2B5EF4-FFF2-40B4-BE49-F238E27FC236}">
                    <a16:creationId xmlns:a16="http://schemas.microsoft.com/office/drawing/2014/main" id="{84A8B978-81B0-CD12-DCF7-CF9F7745ADC6}"/>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164" t="-15909" b="-20455"/>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3FDEDB2C-0B78-EED9-1F00-B9EBDB41B9F5}"/>
              </a:ext>
            </a:extLst>
          </p:cNvPr>
          <p:cNvSpPr>
            <a:spLocks noGrp="1"/>
          </p:cNvSpPr>
          <p:nvPr>
            <p:ph type="title"/>
          </p:nvPr>
        </p:nvSpPr>
        <p:spPr/>
        <p:txBody>
          <a:bodyPr/>
          <a:lstStyle/>
          <a:p>
            <a:r>
              <a:rPr lang="en-BE" dirty="0"/>
              <a:t>Simulation Results – BD</a:t>
            </a:r>
          </a:p>
        </p:txBody>
      </p:sp>
      <p:sp>
        <p:nvSpPr>
          <p:cNvPr id="6" name="TextBox 5">
            <a:extLst>
              <a:ext uri="{FF2B5EF4-FFF2-40B4-BE49-F238E27FC236}">
                <a16:creationId xmlns:a16="http://schemas.microsoft.com/office/drawing/2014/main" id="{3CBE1523-EE77-D1D5-90DB-07B378FA0D29}"/>
              </a:ext>
            </a:extLst>
          </p:cNvPr>
          <p:cNvSpPr txBox="1"/>
          <p:nvPr/>
        </p:nvSpPr>
        <p:spPr>
          <a:xfrm>
            <a:off x="1709934" y="2164447"/>
            <a:ext cx="787395" cy="338554"/>
          </a:xfrm>
          <a:prstGeom prst="rect">
            <a:avLst/>
          </a:prstGeom>
          <a:noFill/>
        </p:spPr>
        <p:txBody>
          <a:bodyPr wrap="none" rtlCol="0">
            <a:spAutoFit/>
          </a:bodyPr>
          <a:lstStyle/>
          <a:p>
            <a:r>
              <a:rPr lang="en-BE" sz="1600" dirty="0"/>
              <a:t>R vs SNR</a:t>
            </a:r>
          </a:p>
        </p:txBody>
      </p:sp>
      <p:sp>
        <p:nvSpPr>
          <p:cNvPr id="7" name="TextBox 6">
            <a:extLst>
              <a:ext uri="{FF2B5EF4-FFF2-40B4-BE49-F238E27FC236}">
                <a16:creationId xmlns:a16="http://schemas.microsoft.com/office/drawing/2014/main" id="{3AA6262C-F34D-106A-38A2-6BB8AA8A2709}"/>
              </a:ext>
            </a:extLst>
          </p:cNvPr>
          <p:cNvSpPr txBox="1"/>
          <p:nvPr/>
        </p:nvSpPr>
        <p:spPr>
          <a:xfrm>
            <a:off x="5462088" y="2164447"/>
            <a:ext cx="928459" cy="338554"/>
          </a:xfrm>
          <a:prstGeom prst="rect">
            <a:avLst/>
          </a:prstGeom>
          <a:noFill/>
        </p:spPr>
        <p:txBody>
          <a:bodyPr wrap="none" rtlCol="0">
            <a:spAutoFit/>
          </a:bodyPr>
          <a:lstStyle/>
          <a:p>
            <a:r>
              <a:rPr lang="en-BE" sz="1600" dirty="0"/>
              <a:t>IBR vs SNR</a:t>
            </a:r>
          </a:p>
        </p:txBody>
      </p:sp>
      <p:sp>
        <p:nvSpPr>
          <p:cNvPr id="8" name="TextBox 7">
            <a:extLst>
              <a:ext uri="{FF2B5EF4-FFF2-40B4-BE49-F238E27FC236}">
                <a16:creationId xmlns:a16="http://schemas.microsoft.com/office/drawing/2014/main" id="{9DEB0A57-1AD1-0095-6741-B7DC3574F401}"/>
              </a:ext>
            </a:extLst>
          </p:cNvPr>
          <p:cNvSpPr txBox="1"/>
          <p:nvPr/>
        </p:nvSpPr>
        <p:spPr>
          <a:xfrm>
            <a:off x="9750518" y="2164447"/>
            <a:ext cx="966931" cy="338554"/>
          </a:xfrm>
          <a:prstGeom prst="rect">
            <a:avLst/>
          </a:prstGeom>
          <a:noFill/>
        </p:spPr>
        <p:txBody>
          <a:bodyPr wrap="none" rtlCol="0">
            <a:spAutoFit/>
          </a:bodyPr>
          <a:lstStyle/>
          <a:p>
            <a:r>
              <a:rPr lang="en-BE" sz="1600" dirty="0"/>
              <a:t>BER vs SNR</a:t>
            </a:r>
          </a:p>
        </p:txBody>
      </p:sp>
      <p:pic>
        <p:nvPicPr>
          <p:cNvPr id="9" name="Picture 8">
            <a:extLst>
              <a:ext uri="{FF2B5EF4-FFF2-40B4-BE49-F238E27FC236}">
                <a16:creationId xmlns:a16="http://schemas.microsoft.com/office/drawing/2014/main" id="{C6DD054A-2E5F-51C6-B79E-1BECB3521322}"/>
              </a:ext>
            </a:extLst>
          </p:cNvPr>
          <p:cNvPicPr>
            <a:picLocks noChangeAspect="1"/>
          </p:cNvPicPr>
          <p:nvPr/>
        </p:nvPicPr>
        <p:blipFill>
          <a:blip r:embed="rId4"/>
          <a:stretch>
            <a:fillRect/>
          </a:stretch>
        </p:blipFill>
        <p:spPr>
          <a:xfrm>
            <a:off x="7971352" y="2503000"/>
            <a:ext cx="3964064" cy="3303387"/>
          </a:xfrm>
          <a:prstGeom prst="rect">
            <a:avLst/>
          </a:prstGeom>
        </p:spPr>
      </p:pic>
      <p:pic>
        <p:nvPicPr>
          <p:cNvPr id="12" name="Picture 11">
            <a:extLst>
              <a:ext uri="{FF2B5EF4-FFF2-40B4-BE49-F238E27FC236}">
                <a16:creationId xmlns:a16="http://schemas.microsoft.com/office/drawing/2014/main" id="{4415A1DF-6DC4-D960-A46F-83222C5FEA61}"/>
              </a:ext>
            </a:extLst>
          </p:cNvPr>
          <p:cNvPicPr>
            <a:picLocks noChangeAspect="1"/>
          </p:cNvPicPr>
          <p:nvPr/>
        </p:nvPicPr>
        <p:blipFill>
          <a:blip r:embed="rId5"/>
          <a:stretch>
            <a:fillRect/>
          </a:stretch>
        </p:blipFill>
        <p:spPr>
          <a:xfrm>
            <a:off x="4007288" y="2503001"/>
            <a:ext cx="3964064" cy="3303387"/>
          </a:xfrm>
          <a:prstGeom prst="rect">
            <a:avLst/>
          </a:prstGeom>
        </p:spPr>
      </p:pic>
      <p:pic>
        <p:nvPicPr>
          <p:cNvPr id="14" name="Picture 13">
            <a:extLst>
              <a:ext uri="{FF2B5EF4-FFF2-40B4-BE49-F238E27FC236}">
                <a16:creationId xmlns:a16="http://schemas.microsoft.com/office/drawing/2014/main" id="{843FB7E8-8FB3-C5EB-D1E6-B0118DACCBF7}"/>
              </a:ext>
            </a:extLst>
          </p:cNvPr>
          <p:cNvPicPr>
            <a:picLocks noChangeAspect="1"/>
          </p:cNvPicPr>
          <p:nvPr/>
        </p:nvPicPr>
        <p:blipFill>
          <a:blip r:embed="rId6"/>
          <a:stretch>
            <a:fillRect/>
          </a:stretch>
        </p:blipFill>
        <p:spPr>
          <a:xfrm>
            <a:off x="120085" y="2503000"/>
            <a:ext cx="3964064" cy="3303387"/>
          </a:xfrm>
          <a:prstGeom prst="rect">
            <a:avLst/>
          </a:prstGeom>
        </p:spPr>
      </p:pic>
    </p:spTree>
    <p:extLst>
      <p:ext uri="{BB962C8B-B14F-4D97-AF65-F5344CB8AC3E}">
        <p14:creationId xmlns:p14="http://schemas.microsoft.com/office/powerpoint/2010/main" val="2491135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6E9877-CF68-74C7-7CA2-673A22A814B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A3D09B-D2F4-0756-A7EE-CA2DD2D43076}"/>
              </a:ext>
            </a:extLst>
          </p:cNvPr>
          <p:cNvSpPr>
            <a:spLocks noGrp="1"/>
          </p:cNvSpPr>
          <p:nvPr>
            <p:ph type="body" sz="quarter" idx="10"/>
          </p:nvPr>
        </p:nvSpPr>
        <p:spPr/>
        <p:txBody>
          <a:bodyPr/>
          <a:lstStyle/>
          <a:p>
            <a:r>
              <a:rPr lang="en-BE" dirty="0"/>
              <a:t>Fixed Bit Loader (QAM ), Underloaded System</a:t>
            </a:r>
          </a:p>
        </p:txBody>
      </p:sp>
      <p:sp>
        <p:nvSpPr>
          <p:cNvPr id="4" name="Title 3">
            <a:extLst>
              <a:ext uri="{FF2B5EF4-FFF2-40B4-BE49-F238E27FC236}">
                <a16:creationId xmlns:a16="http://schemas.microsoft.com/office/drawing/2014/main" id="{0D138665-398B-B41F-CA20-1737EE064999}"/>
              </a:ext>
            </a:extLst>
          </p:cNvPr>
          <p:cNvSpPr>
            <a:spLocks noGrp="1"/>
          </p:cNvSpPr>
          <p:nvPr>
            <p:ph type="title"/>
          </p:nvPr>
        </p:nvSpPr>
        <p:spPr/>
        <p:txBody>
          <a:bodyPr/>
          <a:lstStyle/>
          <a:p>
            <a:r>
              <a:rPr lang="en-BE" dirty="0"/>
              <a:t>Simulation Results – BD</a:t>
            </a:r>
          </a:p>
        </p:txBody>
      </p:sp>
      <p:sp>
        <p:nvSpPr>
          <p:cNvPr id="11" name="TextBox 10">
            <a:extLst>
              <a:ext uri="{FF2B5EF4-FFF2-40B4-BE49-F238E27FC236}">
                <a16:creationId xmlns:a16="http://schemas.microsoft.com/office/drawing/2014/main" id="{F53192FD-33B7-84C1-7C71-B75CB10CC0D3}"/>
              </a:ext>
            </a:extLst>
          </p:cNvPr>
          <p:cNvSpPr txBox="1"/>
          <p:nvPr/>
        </p:nvSpPr>
        <p:spPr>
          <a:xfrm>
            <a:off x="8309019" y="1937558"/>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145D2069-8A91-53E1-D2D2-01A80C815DF1}"/>
              </a:ext>
            </a:extLst>
          </p:cNvPr>
          <p:cNvSpPr txBox="1"/>
          <p:nvPr/>
        </p:nvSpPr>
        <p:spPr>
          <a:xfrm>
            <a:off x="3132633" y="1937558"/>
            <a:ext cx="859531" cy="369332"/>
          </a:xfrm>
          <a:prstGeom prst="rect">
            <a:avLst/>
          </a:prstGeom>
          <a:noFill/>
        </p:spPr>
        <p:txBody>
          <a:bodyPr wrap="none" rtlCol="0">
            <a:spAutoFit/>
          </a:bodyPr>
          <a:lstStyle/>
          <a:p>
            <a:r>
              <a:rPr lang="en-BE" dirty="0"/>
              <a:t>R vs SNR</a:t>
            </a:r>
          </a:p>
        </p:txBody>
      </p:sp>
      <p:pic>
        <p:nvPicPr>
          <p:cNvPr id="5" name="Picture 4">
            <a:extLst>
              <a:ext uri="{FF2B5EF4-FFF2-40B4-BE49-F238E27FC236}">
                <a16:creationId xmlns:a16="http://schemas.microsoft.com/office/drawing/2014/main" id="{712BEDCA-5B5E-EF1F-1938-4C2835972D27}"/>
              </a:ext>
            </a:extLst>
          </p:cNvPr>
          <p:cNvPicPr>
            <a:picLocks noChangeAspect="1"/>
          </p:cNvPicPr>
          <p:nvPr/>
        </p:nvPicPr>
        <p:blipFill>
          <a:blip r:embed="rId3"/>
          <a:stretch>
            <a:fillRect/>
          </a:stretch>
        </p:blipFill>
        <p:spPr>
          <a:xfrm>
            <a:off x="1257043" y="2306890"/>
            <a:ext cx="4416661" cy="3680551"/>
          </a:xfrm>
          <a:prstGeom prst="rect">
            <a:avLst/>
          </a:prstGeom>
        </p:spPr>
      </p:pic>
      <p:pic>
        <p:nvPicPr>
          <p:cNvPr id="8" name="Picture 7">
            <a:extLst>
              <a:ext uri="{FF2B5EF4-FFF2-40B4-BE49-F238E27FC236}">
                <a16:creationId xmlns:a16="http://schemas.microsoft.com/office/drawing/2014/main" id="{6622E3CA-1EBB-4125-6E2D-2AABD807BA2D}"/>
              </a:ext>
            </a:extLst>
          </p:cNvPr>
          <p:cNvPicPr>
            <a:picLocks noChangeAspect="1"/>
          </p:cNvPicPr>
          <p:nvPr/>
        </p:nvPicPr>
        <p:blipFill>
          <a:blip r:embed="rId4"/>
          <a:stretch>
            <a:fillRect/>
          </a:stretch>
        </p:blipFill>
        <p:spPr>
          <a:xfrm>
            <a:off x="6518296" y="2306889"/>
            <a:ext cx="4416661" cy="3680551"/>
          </a:xfrm>
          <a:prstGeom prst="rect">
            <a:avLst/>
          </a:prstGeom>
        </p:spPr>
      </p:pic>
    </p:spTree>
    <p:extLst>
      <p:ext uri="{BB962C8B-B14F-4D97-AF65-F5344CB8AC3E}">
        <p14:creationId xmlns:p14="http://schemas.microsoft.com/office/powerpoint/2010/main" val="993857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1359DB-6946-F5FA-EB23-C6DDFE4869C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6077362-BE2A-3EF2-B12E-613A9172BD2B}"/>
              </a:ext>
            </a:extLst>
          </p:cNvPr>
          <p:cNvSpPr>
            <a:spLocks noGrp="1"/>
          </p:cNvSpPr>
          <p:nvPr>
            <p:ph type="body" sz="quarter" idx="10"/>
          </p:nvPr>
        </p:nvSpPr>
        <p:spPr>
          <a:xfrm>
            <a:off x="542925" y="1150143"/>
            <a:ext cx="10893106" cy="574962"/>
          </a:xfrm>
        </p:spPr>
        <p:txBody>
          <a:bodyPr>
            <a:normAutofit/>
          </a:bodyPr>
          <a:lstStyle/>
          <a:p>
            <a:r>
              <a:rPr lang="en-BE" dirty="0"/>
              <a:t>Adaptive Bit Loader (QAM),  Fully Loaded System (4 U</a:t>
            </a:r>
            <a:r>
              <a:rPr lang="en-GB" dirty="0"/>
              <a:t>T</a:t>
            </a:r>
            <a:r>
              <a:rPr lang="en-BE" dirty="0"/>
              <a:t>s)</a:t>
            </a:r>
          </a:p>
        </p:txBody>
      </p:sp>
      <p:sp>
        <p:nvSpPr>
          <p:cNvPr id="4" name="Title 3">
            <a:extLst>
              <a:ext uri="{FF2B5EF4-FFF2-40B4-BE49-F238E27FC236}">
                <a16:creationId xmlns:a16="http://schemas.microsoft.com/office/drawing/2014/main" id="{24F06303-2659-319D-3EB3-9646F0A9262B}"/>
              </a:ext>
            </a:extLst>
          </p:cNvPr>
          <p:cNvSpPr>
            <a:spLocks noGrp="1"/>
          </p:cNvSpPr>
          <p:nvPr>
            <p:ph type="title"/>
          </p:nvPr>
        </p:nvSpPr>
        <p:spPr/>
        <p:txBody>
          <a:bodyPr/>
          <a:lstStyle/>
          <a:p>
            <a:r>
              <a:rPr lang="en-BE" dirty="0"/>
              <a:t>Simulation Results – BD</a:t>
            </a:r>
          </a:p>
        </p:txBody>
      </p:sp>
      <p:sp>
        <p:nvSpPr>
          <p:cNvPr id="15" name="TextBox 14">
            <a:extLst>
              <a:ext uri="{FF2B5EF4-FFF2-40B4-BE49-F238E27FC236}">
                <a16:creationId xmlns:a16="http://schemas.microsoft.com/office/drawing/2014/main" id="{EC8B3BE6-D19A-32A8-35DF-F583E88FF9EC}"/>
              </a:ext>
            </a:extLst>
          </p:cNvPr>
          <p:cNvSpPr txBox="1"/>
          <p:nvPr/>
        </p:nvSpPr>
        <p:spPr>
          <a:xfrm>
            <a:off x="1735619" y="2312075"/>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A6881B6C-A36C-45DD-CD5A-CD37037BB175}"/>
              </a:ext>
            </a:extLst>
          </p:cNvPr>
          <p:cNvSpPr txBox="1"/>
          <p:nvPr/>
        </p:nvSpPr>
        <p:spPr>
          <a:xfrm>
            <a:off x="5725915" y="2312075"/>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86D328F6-DE05-FBB7-DC34-928A442C9FFB}"/>
              </a:ext>
            </a:extLst>
          </p:cNvPr>
          <p:cNvSpPr txBox="1"/>
          <p:nvPr/>
        </p:nvSpPr>
        <p:spPr>
          <a:xfrm>
            <a:off x="9698455" y="2312075"/>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B471709B-A4FC-BD8E-130D-6388BA935BEC}"/>
              </a:ext>
            </a:extLst>
          </p:cNvPr>
          <p:cNvPicPr>
            <a:picLocks noChangeAspect="1"/>
          </p:cNvPicPr>
          <p:nvPr/>
        </p:nvPicPr>
        <p:blipFill>
          <a:blip r:embed="rId2"/>
          <a:stretch>
            <a:fillRect/>
          </a:stretch>
        </p:blipFill>
        <p:spPr>
          <a:xfrm>
            <a:off x="165105" y="2570528"/>
            <a:ext cx="3928424" cy="3273687"/>
          </a:xfrm>
          <a:prstGeom prst="rect">
            <a:avLst/>
          </a:prstGeom>
        </p:spPr>
      </p:pic>
      <p:pic>
        <p:nvPicPr>
          <p:cNvPr id="7" name="Picture 6">
            <a:extLst>
              <a:ext uri="{FF2B5EF4-FFF2-40B4-BE49-F238E27FC236}">
                <a16:creationId xmlns:a16="http://schemas.microsoft.com/office/drawing/2014/main" id="{E412C48E-3AB9-2BB7-221E-0EBA2D3F0DA7}"/>
              </a:ext>
            </a:extLst>
          </p:cNvPr>
          <p:cNvPicPr>
            <a:picLocks noChangeAspect="1"/>
          </p:cNvPicPr>
          <p:nvPr/>
        </p:nvPicPr>
        <p:blipFill>
          <a:blip r:embed="rId3"/>
          <a:stretch>
            <a:fillRect/>
          </a:stretch>
        </p:blipFill>
        <p:spPr>
          <a:xfrm>
            <a:off x="4137645" y="2570528"/>
            <a:ext cx="3928424" cy="3273687"/>
          </a:xfrm>
          <a:prstGeom prst="rect">
            <a:avLst/>
          </a:prstGeom>
        </p:spPr>
      </p:pic>
      <p:pic>
        <p:nvPicPr>
          <p:cNvPr id="9" name="Picture 8">
            <a:extLst>
              <a:ext uri="{FF2B5EF4-FFF2-40B4-BE49-F238E27FC236}">
                <a16:creationId xmlns:a16="http://schemas.microsoft.com/office/drawing/2014/main" id="{02D9CA6C-79D3-8722-C078-E5ECBBAE96C6}"/>
              </a:ext>
            </a:extLst>
          </p:cNvPr>
          <p:cNvPicPr>
            <a:picLocks noChangeAspect="1"/>
          </p:cNvPicPr>
          <p:nvPr/>
        </p:nvPicPr>
        <p:blipFill>
          <a:blip r:embed="rId4"/>
          <a:stretch>
            <a:fillRect/>
          </a:stretch>
        </p:blipFill>
        <p:spPr>
          <a:xfrm>
            <a:off x="8098471" y="2570528"/>
            <a:ext cx="3928424" cy="3273687"/>
          </a:xfrm>
          <a:prstGeom prst="rect">
            <a:avLst/>
          </a:prstGeom>
        </p:spPr>
      </p:pic>
    </p:spTree>
    <p:extLst>
      <p:ext uri="{BB962C8B-B14F-4D97-AF65-F5344CB8AC3E}">
        <p14:creationId xmlns:p14="http://schemas.microsoft.com/office/powerpoint/2010/main" val="2264863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52C5-E1EA-1D52-CC90-3689F2B6B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BBB195-E6FE-8B60-3E03-C0530A93C63F}"/>
              </a:ext>
            </a:extLst>
          </p:cNvPr>
          <p:cNvSpPr>
            <a:spLocks noGrp="1"/>
          </p:cNvSpPr>
          <p:nvPr>
            <p:ph type="title"/>
          </p:nvPr>
        </p:nvSpPr>
        <p:spPr/>
        <p:txBody>
          <a:bodyPr/>
          <a:lstStyle/>
          <a:p>
            <a:r>
              <a:rPr lang="en-BE" dirty="0"/>
              <a:t>Precoding Techniques –  WMMSE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BC6C9A2-8D74-1A1D-04A9-D9CECAAD94BE}"/>
                  </a:ext>
                </a:extLst>
              </p:cNvPr>
              <p:cNvSpPr txBox="1"/>
              <p:nvPr/>
            </p:nvSpPr>
            <p:spPr>
              <a:xfrm>
                <a:off x="542609" y="1221773"/>
                <a:ext cx="4832861" cy="707886"/>
              </a:xfrm>
              <a:prstGeom prst="rect">
                <a:avLst/>
              </a:prstGeom>
              <a:noFill/>
            </p:spPr>
            <p:txBody>
              <a:bodyPr wrap="none" rtlCol="0">
                <a:spAutoFit/>
              </a:bodyPr>
              <a:lstStyle/>
              <a:p>
                <a:r>
                  <a:rPr lang="en-BE" sz="2000" b="1" dirty="0"/>
                  <a:t>GOAL:</a:t>
                </a:r>
                <a:r>
                  <a:rPr lang="en-BE" sz="2000" dirty="0"/>
                  <a:t> </a:t>
                </a:r>
              </a:p>
              <a:p>
                <a:r>
                  <a:rPr lang="en-BE" sz="2000" dirty="0"/>
                  <a:t>Maximize the weighted achievable sum-rate (WSR) </a:t>
                </a:r>
                <a14:m>
                  <m:oMath xmlns:m="http://schemas.openxmlformats.org/officeDocument/2006/math">
                    <m:r>
                      <a:rPr lang="en-US" sz="2000" b="0" i="1" smtClean="0">
                        <a:latin typeface="Cambria Math" panose="02040503050406030204" pitchFamily="18" charset="0"/>
                      </a:rPr>
                      <m:t>𝑅</m:t>
                    </m:r>
                  </m:oMath>
                </a14:m>
                <a:endParaRPr lang="en-BE" sz="2000" i="1" dirty="0"/>
              </a:p>
            </p:txBody>
          </p:sp>
        </mc:Choice>
        <mc:Fallback xmlns="">
          <p:sp>
            <p:nvSpPr>
              <p:cNvPr id="2" name="TextBox 1">
                <a:extLst>
                  <a:ext uri="{FF2B5EF4-FFF2-40B4-BE49-F238E27FC236}">
                    <a16:creationId xmlns:a16="http://schemas.microsoft.com/office/drawing/2014/main" id="{2BC6C9A2-8D74-1A1D-04A9-D9CECAAD94BE}"/>
                  </a:ext>
                </a:extLst>
              </p:cNvPr>
              <p:cNvSpPr txBox="1">
                <a:spLocks noRot="1" noChangeAspect="1" noMove="1" noResize="1" noEditPoints="1" noAdjustHandles="1" noChangeArrowheads="1" noChangeShapeType="1" noTextEdit="1"/>
              </p:cNvSpPr>
              <p:nvPr/>
            </p:nvSpPr>
            <p:spPr>
              <a:xfrm>
                <a:off x="542609" y="1221773"/>
                <a:ext cx="4832861" cy="707886"/>
              </a:xfrm>
              <a:prstGeom prst="rect">
                <a:avLst/>
              </a:prstGeom>
              <a:blipFill>
                <a:blip r:embed="rId2"/>
                <a:stretch>
                  <a:fillRect l="-1309" t="-5263" b="-12281"/>
                </a:stretch>
              </a:blipFill>
            </p:spPr>
            <p:txBody>
              <a:bodyPr/>
              <a:lstStyle/>
              <a:p>
                <a:r>
                  <a:rPr lang="en-BE">
                    <a:noFill/>
                  </a:rPr>
                  <a:t> </a:t>
                </a:r>
              </a:p>
            </p:txBody>
          </p:sp>
        </mc:Fallback>
      </mc:AlternateContent>
      <p:sp>
        <p:nvSpPr>
          <p:cNvPr id="3" name="TextBox 2">
            <a:extLst>
              <a:ext uri="{FF2B5EF4-FFF2-40B4-BE49-F238E27FC236}">
                <a16:creationId xmlns:a16="http://schemas.microsoft.com/office/drawing/2014/main" id="{45CAAC9C-2AD6-85B9-BC55-4699AF2F4736}"/>
              </a:ext>
            </a:extLst>
          </p:cNvPr>
          <p:cNvSpPr txBox="1"/>
          <p:nvPr/>
        </p:nvSpPr>
        <p:spPr>
          <a:xfrm>
            <a:off x="542609" y="2131243"/>
            <a:ext cx="9366667" cy="1015663"/>
          </a:xfrm>
          <a:prstGeom prst="rect">
            <a:avLst/>
          </a:prstGeom>
          <a:noFill/>
        </p:spPr>
        <p:txBody>
          <a:bodyPr wrap="none" rtlCol="0">
            <a:spAutoFit/>
          </a:bodyPr>
          <a:lstStyle/>
          <a:p>
            <a:r>
              <a:rPr lang="en-BE" sz="2000" b="1" dirty="0"/>
              <a:t>HOW: </a:t>
            </a:r>
          </a:p>
          <a:p>
            <a:pPr marL="342900" indent="-342900">
              <a:buFont typeface="Arial" panose="020B0604020202020204" pitchFamily="34" charset="0"/>
              <a:buChar char="•"/>
            </a:pPr>
            <a:r>
              <a:rPr lang="en-BE" sz="2000" dirty="0"/>
              <a:t>Establish a relationship between the WSR and the WMMSE</a:t>
            </a:r>
          </a:p>
          <a:p>
            <a:pPr marL="342900" indent="-342900">
              <a:buFont typeface="Arial" panose="020B0604020202020204" pitchFamily="34" charset="0"/>
              <a:buChar char="•"/>
            </a:pPr>
            <a:r>
              <a:rPr lang="en-BE" sz="2000" dirty="0"/>
              <a:t>Algorithm that alternates between WMMSE optimization of the precoders and the MSE-weight update.</a:t>
            </a:r>
          </a:p>
        </p:txBody>
      </p:sp>
      <p:sp>
        <p:nvSpPr>
          <p:cNvPr id="5" name="TextBox 4">
            <a:extLst>
              <a:ext uri="{FF2B5EF4-FFF2-40B4-BE49-F238E27FC236}">
                <a16:creationId xmlns:a16="http://schemas.microsoft.com/office/drawing/2014/main" id="{A130CEDA-6A90-D053-B6C8-D7323BBD80E8}"/>
              </a:ext>
            </a:extLst>
          </p:cNvPr>
          <p:cNvSpPr txBox="1"/>
          <p:nvPr/>
        </p:nvSpPr>
        <p:spPr>
          <a:xfrm>
            <a:off x="542609" y="3424083"/>
            <a:ext cx="9080363" cy="1015663"/>
          </a:xfrm>
          <a:prstGeom prst="rect">
            <a:avLst/>
          </a:prstGeom>
          <a:noFill/>
        </p:spPr>
        <p:txBody>
          <a:bodyPr wrap="square" rtlCol="0">
            <a:spAutoFit/>
          </a:bodyPr>
          <a:lstStyle/>
          <a:p>
            <a:r>
              <a:rPr lang="en-BE" sz="2000" b="1" dirty="0"/>
              <a:t>EQUATIONS:</a:t>
            </a:r>
          </a:p>
          <a:p>
            <a:pPr marL="800100" lvl="1" indent="-342900">
              <a:buFont typeface="Arial" panose="020B0604020202020204" pitchFamily="34" charset="0"/>
              <a:buChar char="•"/>
            </a:pPr>
            <a:r>
              <a:rPr lang="en-GB" sz="2000" dirty="0"/>
              <a:t>See paper.</a:t>
            </a:r>
            <a:endParaRPr lang="en-BE" sz="2000" dirty="0"/>
          </a:p>
          <a:p>
            <a:endParaRPr lang="en-BE" sz="2000" dirty="0"/>
          </a:p>
        </p:txBody>
      </p:sp>
    </p:spTree>
    <p:extLst>
      <p:ext uri="{BB962C8B-B14F-4D97-AF65-F5344CB8AC3E}">
        <p14:creationId xmlns:p14="http://schemas.microsoft.com/office/powerpoint/2010/main" val="2617605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9D2462-6D01-898D-C77E-8A47E128E30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8E9959-9AE1-E9EF-88AD-21E0363DCF44}"/>
              </a:ext>
            </a:extLst>
          </p:cNvPr>
          <p:cNvSpPr>
            <a:spLocks noGrp="1"/>
          </p:cNvSpPr>
          <p:nvPr>
            <p:ph type="body" sz="quarter" idx="10"/>
          </p:nvPr>
        </p:nvSpPr>
        <p:spPr/>
        <p:txBody>
          <a:bodyPr/>
          <a:lstStyle/>
          <a:p>
            <a:r>
              <a:rPr lang="en-BE" dirty="0"/>
              <a:t>Fixed Bit Loader (4-QAM)</a:t>
            </a:r>
          </a:p>
        </p:txBody>
      </p:sp>
      <p:sp>
        <p:nvSpPr>
          <p:cNvPr id="4" name="Title 3">
            <a:extLst>
              <a:ext uri="{FF2B5EF4-FFF2-40B4-BE49-F238E27FC236}">
                <a16:creationId xmlns:a16="http://schemas.microsoft.com/office/drawing/2014/main" id="{D65D413F-3B91-4AD3-23F3-AF0ED1EE91E6}"/>
              </a:ext>
            </a:extLst>
          </p:cNvPr>
          <p:cNvSpPr>
            <a:spLocks noGrp="1"/>
          </p:cNvSpPr>
          <p:nvPr>
            <p:ph type="title"/>
          </p:nvPr>
        </p:nvSpPr>
        <p:spPr/>
        <p:txBody>
          <a:bodyPr/>
          <a:lstStyle/>
          <a:p>
            <a:r>
              <a:rPr lang="en-BE" dirty="0"/>
              <a:t>Simulation Results – WMMSE</a:t>
            </a:r>
          </a:p>
        </p:txBody>
      </p:sp>
      <p:sp>
        <p:nvSpPr>
          <p:cNvPr id="11" name="TextBox 10">
            <a:extLst>
              <a:ext uri="{FF2B5EF4-FFF2-40B4-BE49-F238E27FC236}">
                <a16:creationId xmlns:a16="http://schemas.microsoft.com/office/drawing/2014/main" id="{BA3AABB6-1524-67EA-2D02-86EA127910D1}"/>
              </a:ext>
            </a:extLst>
          </p:cNvPr>
          <p:cNvSpPr txBox="1"/>
          <p:nvPr/>
        </p:nvSpPr>
        <p:spPr>
          <a:xfrm>
            <a:off x="8608342" y="1951066"/>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BD7C89EA-9171-18F9-5201-475DB47E0B51}"/>
              </a:ext>
            </a:extLst>
          </p:cNvPr>
          <p:cNvSpPr txBox="1"/>
          <p:nvPr/>
        </p:nvSpPr>
        <p:spPr>
          <a:xfrm>
            <a:off x="2882114" y="1937558"/>
            <a:ext cx="859531" cy="369332"/>
          </a:xfrm>
          <a:prstGeom prst="rect">
            <a:avLst/>
          </a:prstGeom>
          <a:noFill/>
        </p:spPr>
        <p:txBody>
          <a:bodyPr wrap="none" rtlCol="0">
            <a:spAutoFit/>
          </a:bodyPr>
          <a:lstStyle/>
          <a:p>
            <a:r>
              <a:rPr lang="en-BE" dirty="0"/>
              <a:t>R vs SNR</a:t>
            </a:r>
          </a:p>
        </p:txBody>
      </p:sp>
      <p:pic>
        <p:nvPicPr>
          <p:cNvPr id="6" name="Picture 5">
            <a:extLst>
              <a:ext uri="{FF2B5EF4-FFF2-40B4-BE49-F238E27FC236}">
                <a16:creationId xmlns:a16="http://schemas.microsoft.com/office/drawing/2014/main" id="{CF941B46-DCF1-7047-CF03-75FB929C3EC0}"/>
              </a:ext>
            </a:extLst>
          </p:cNvPr>
          <p:cNvPicPr>
            <a:picLocks noChangeAspect="1"/>
          </p:cNvPicPr>
          <p:nvPr/>
        </p:nvPicPr>
        <p:blipFill>
          <a:blip r:embed="rId3"/>
          <a:stretch>
            <a:fillRect/>
          </a:stretch>
        </p:blipFill>
        <p:spPr>
          <a:xfrm>
            <a:off x="6440806" y="2262016"/>
            <a:ext cx="4951095" cy="4125913"/>
          </a:xfrm>
          <a:prstGeom prst="rect">
            <a:avLst/>
          </a:prstGeom>
        </p:spPr>
      </p:pic>
      <p:pic>
        <p:nvPicPr>
          <p:cNvPr id="9" name="Picture 8">
            <a:extLst>
              <a:ext uri="{FF2B5EF4-FFF2-40B4-BE49-F238E27FC236}">
                <a16:creationId xmlns:a16="http://schemas.microsoft.com/office/drawing/2014/main" id="{E9EC49FD-2664-EBFC-C0B8-05F19FD47365}"/>
              </a:ext>
            </a:extLst>
          </p:cNvPr>
          <p:cNvPicPr>
            <a:picLocks noChangeAspect="1"/>
          </p:cNvPicPr>
          <p:nvPr/>
        </p:nvPicPr>
        <p:blipFill>
          <a:blip r:embed="rId4"/>
          <a:stretch>
            <a:fillRect/>
          </a:stretch>
        </p:blipFill>
        <p:spPr>
          <a:xfrm>
            <a:off x="800099" y="2262017"/>
            <a:ext cx="4951095" cy="4125913"/>
          </a:xfrm>
          <a:prstGeom prst="rect">
            <a:avLst/>
          </a:prstGeom>
        </p:spPr>
      </p:pic>
    </p:spTree>
    <p:extLst>
      <p:ext uri="{BB962C8B-B14F-4D97-AF65-F5344CB8AC3E}">
        <p14:creationId xmlns:p14="http://schemas.microsoft.com/office/powerpoint/2010/main" val="4054598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3352AA-DBB3-5FA5-6679-18A9B05CDF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ADC372A-D67D-8AB3-9756-0616BFE72495}"/>
                  </a:ext>
                </a:extLst>
              </p:cNvPr>
              <p:cNvSpPr>
                <a:spLocks noGrp="1"/>
              </p:cNvSpPr>
              <p:nvPr>
                <p:ph type="body" sz="quarter" idx="10"/>
              </p:nvPr>
            </p:nvSpPr>
            <p:spPr/>
            <p:txBody>
              <a:bodyPr/>
              <a:lstStyle/>
              <a:p>
                <a:r>
                  <a:rPr lang="en-BE" dirty="0"/>
                  <a:t>Adaptive Bit Loader (</a:t>
                </a:r>
                <a14:m>
                  <m:oMath xmlns:m="http://schemas.openxmlformats.org/officeDocument/2006/math">
                    <m:r>
                      <a:rPr lang="en-US" i="1">
                        <a:latin typeface="Cambria Math" panose="02040503050406030204" pitchFamily="18" charset="0"/>
                      </a:rPr>
                      <m:t>𝑅</m:t>
                    </m:r>
                  </m:oMath>
                </a14:m>
                <a:r>
                  <a:rPr lang="en-BE" dirty="0"/>
                  <a:t>-QAM)</a:t>
                </a:r>
              </a:p>
            </p:txBody>
          </p:sp>
        </mc:Choice>
        <mc:Fallback xmlns="">
          <p:sp>
            <p:nvSpPr>
              <p:cNvPr id="3" name="Text Placeholder 2">
                <a:extLst>
                  <a:ext uri="{FF2B5EF4-FFF2-40B4-BE49-F238E27FC236}">
                    <a16:creationId xmlns:a16="http://schemas.microsoft.com/office/drawing/2014/main" id="{84A8B978-81B0-CD12-DCF7-CF9F7745ADC6}"/>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164" t="-15909" b="-20455"/>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692ACC20-0624-5D31-8247-A9E7812B1511}"/>
              </a:ext>
            </a:extLst>
          </p:cNvPr>
          <p:cNvSpPr>
            <a:spLocks noGrp="1"/>
          </p:cNvSpPr>
          <p:nvPr>
            <p:ph type="title"/>
          </p:nvPr>
        </p:nvSpPr>
        <p:spPr/>
        <p:txBody>
          <a:bodyPr/>
          <a:lstStyle/>
          <a:p>
            <a:r>
              <a:rPr lang="en-BE" dirty="0"/>
              <a:t>Simulation Results – WMMSE</a:t>
            </a:r>
          </a:p>
        </p:txBody>
      </p:sp>
      <p:sp>
        <p:nvSpPr>
          <p:cNvPr id="6" name="TextBox 5">
            <a:extLst>
              <a:ext uri="{FF2B5EF4-FFF2-40B4-BE49-F238E27FC236}">
                <a16:creationId xmlns:a16="http://schemas.microsoft.com/office/drawing/2014/main" id="{A4F4EC56-3C3D-3068-CB73-0C029C98BCFC}"/>
              </a:ext>
            </a:extLst>
          </p:cNvPr>
          <p:cNvSpPr txBox="1"/>
          <p:nvPr/>
        </p:nvSpPr>
        <p:spPr>
          <a:xfrm>
            <a:off x="1709934" y="2164447"/>
            <a:ext cx="787395" cy="338554"/>
          </a:xfrm>
          <a:prstGeom prst="rect">
            <a:avLst/>
          </a:prstGeom>
          <a:noFill/>
        </p:spPr>
        <p:txBody>
          <a:bodyPr wrap="none" rtlCol="0">
            <a:spAutoFit/>
          </a:bodyPr>
          <a:lstStyle/>
          <a:p>
            <a:r>
              <a:rPr lang="en-BE" sz="1600" dirty="0"/>
              <a:t>R vs SNR</a:t>
            </a:r>
          </a:p>
        </p:txBody>
      </p:sp>
      <p:sp>
        <p:nvSpPr>
          <p:cNvPr id="7" name="TextBox 6">
            <a:extLst>
              <a:ext uri="{FF2B5EF4-FFF2-40B4-BE49-F238E27FC236}">
                <a16:creationId xmlns:a16="http://schemas.microsoft.com/office/drawing/2014/main" id="{592B2800-3CAF-AB9D-633D-7F992181391A}"/>
              </a:ext>
            </a:extLst>
          </p:cNvPr>
          <p:cNvSpPr txBox="1"/>
          <p:nvPr/>
        </p:nvSpPr>
        <p:spPr>
          <a:xfrm>
            <a:off x="5525090" y="2166719"/>
            <a:ext cx="928459" cy="338554"/>
          </a:xfrm>
          <a:prstGeom prst="rect">
            <a:avLst/>
          </a:prstGeom>
          <a:noFill/>
        </p:spPr>
        <p:txBody>
          <a:bodyPr wrap="none" rtlCol="0">
            <a:spAutoFit/>
          </a:bodyPr>
          <a:lstStyle/>
          <a:p>
            <a:r>
              <a:rPr lang="en-BE" sz="1600" dirty="0"/>
              <a:t>IBR vs SNR</a:t>
            </a:r>
          </a:p>
        </p:txBody>
      </p:sp>
      <p:sp>
        <p:nvSpPr>
          <p:cNvPr id="8" name="TextBox 7">
            <a:extLst>
              <a:ext uri="{FF2B5EF4-FFF2-40B4-BE49-F238E27FC236}">
                <a16:creationId xmlns:a16="http://schemas.microsoft.com/office/drawing/2014/main" id="{B407664D-F87C-190A-5DF9-42E617DB8FC2}"/>
              </a:ext>
            </a:extLst>
          </p:cNvPr>
          <p:cNvSpPr txBox="1"/>
          <p:nvPr/>
        </p:nvSpPr>
        <p:spPr>
          <a:xfrm>
            <a:off x="9750518" y="2164447"/>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AF3DC82E-0152-8DAC-4A05-BE25B7B48A72}"/>
              </a:ext>
            </a:extLst>
          </p:cNvPr>
          <p:cNvPicPr>
            <a:picLocks noChangeAspect="1"/>
          </p:cNvPicPr>
          <p:nvPr/>
        </p:nvPicPr>
        <p:blipFill>
          <a:blip r:embed="rId4"/>
          <a:stretch>
            <a:fillRect/>
          </a:stretch>
        </p:blipFill>
        <p:spPr>
          <a:xfrm>
            <a:off x="8042874" y="2503001"/>
            <a:ext cx="3964066" cy="3303388"/>
          </a:xfrm>
          <a:prstGeom prst="rect">
            <a:avLst/>
          </a:prstGeom>
        </p:spPr>
      </p:pic>
      <p:pic>
        <p:nvPicPr>
          <p:cNvPr id="11" name="Picture 10">
            <a:extLst>
              <a:ext uri="{FF2B5EF4-FFF2-40B4-BE49-F238E27FC236}">
                <a16:creationId xmlns:a16="http://schemas.microsoft.com/office/drawing/2014/main" id="{FFF51D0A-D626-FF76-6D84-EE15F83FF70F}"/>
              </a:ext>
            </a:extLst>
          </p:cNvPr>
          <p:cNvPicPr>
            <a:picLocks noChangeAspect="1"/>
          </p:cNvPicPr>
          <p:nvPr/>
        </p:nvPicPr>
        <p:blipFill>
          <a:blip r:embed="rId5"/>
          <a:stretch>
            <a:fillRect/>
          </a:stretch>
        </p:blipFill>
        <p:spPr>
          <a:xfrm>
            <a:off x="4021437" y="2503001"/>
            <a:ext cx="3964066" cy="3303388"/>
          </a:xfrm>
          <a:prstGeom prst="rect">
            <a:avLst/>
          </a:prstGeom>
        </p:spPr>
      </p:pic>
      <p:pic>
        <p:nvPicPr>
          <p:cNvPr id="15" name="Picture 14">
            <a:extLst>
              <a:ext uri="{FF2B5EF4-FFF2-40B4-BE49-F238E27FC236}">
                <a16:creationId xmlns:a16="http://schemas.microsoft.com/office/drawing/2014/main" id="{1E057479-ED7D-620D-1174-AA02A997331D}"/>
              </a:ext>
            </a:extLst>
          </p:cNvPr>
          <p:cNvPicPr>
            <a:picLocks noChangeAspect="1"/>
          </p:cNvPicPr>
          <p:nvPr/>
        </p:nvPicPr>
        <p:blipFill>
          <a:blip r:embed="rId6"/>
          <a:stretch>
            <a:fillRect/>
          </a:stretch>
        </p:blipFill>
        <p:spPr>
          <a:xfrm>
            <a:off x="0" y="2503001"/>
            <a:ext cx="3964066" cy="3303388"/>
          </a:xfrm>
          <a:prstGeom prst="rect">
            <a:avLst/>
          </a:prstGeom>
        </p:spPr>
      </p:pic>
    </p:spTree>
    <p:extLst>
      <p:ext uri="{BB962C8B-B14F-4D97-AF65-F5344CB8AC3E}">
        <p14:creationId xmlns:p14="http://schemas.microsoft.com/office/powerpoint/2010/main" val="1054948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128437-BB18-2774-037C-54DB8E1332E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7528201-360C-AD3D-635E-72818D5AF5A4}"/>
              </a:ext>
            </a:extLst>
          </p:cNvPr>
          <p:cNvSpPr>
            <a:spLocks noGrp="1"/>
          </p:cNvSpPr>
          <p:nvPr>
            <p:ph type="body" sz="quarter" idx="10"/>
          </p:nvPr>
        </p:nvSpPr>
        <p:spPr/>
        <p:txBody>
          <a:bodyPr/>
          <a:lstStyle/>
          <a:p>
            <a:r>
              <a:rPr lang="en-BE" dirty="0"/>
              <a:t>Fixed Bit Loader (QAM),  Underloaded System</a:t>
            </a:r>
          </a:p>
        </p:txBody>
      </p:sp>
      <p:sp>
        <p:nvSpPr>
          <p:cNvPr id="4" name="Title 3">
            <a:extLst>
              <a:ext uri="{FF2B5EF4-FFF2-40B4-BE49-F238E27FC236}">
                <a16:creationId xmlns:a16="http://schemas.microsoft.com/office/drawing/2014/main" id="{AF10599D-620F-27BB-B753-83BD4C0097D0}"/>
              </a:ext>
            </a:extLst>
          </p:cNvPr>
          <p:cNvSpPr>
            <a:spLocks noGrp="1"/>
          </p:cNvSpPr>
          <p:nvPr>
            <p:ph type="title"/>
          </p:nvPr>
        </p:nvSpPr>
        <p:spPr/>
        <p:txBody>
          <a:bodyPr/>
          <a:lstStyle/>
          <a:p>
            <a:r>
              <a:rPr lang="en-BE" dirty="0"/>
              <a:t>Simulation Results – WMMSE</a:t>
            </a:r>
          </a:p>
        </p:txBody>
      </p:sp>
      <p:sp>
        <p:nvSpPr>
          <p:cNvPr id="11" name="TextBox 10">
            <a:extLst>
              <a:ext uri="{FF2B5EF4-FFF2-40B4-BE49-F238E27FC236}">
                <a16:creationId xmlns:a16="http://schemas.microsoft.com/office/drawing/2014/main" id="{D848707B-F037-801F-8258-C94E195ED347}"/>
              </a:ext>
            </a:extLst>
          </p:cNvPr>
          <p:cNvSpPr txBox="1"/>
          <p:nvPr/>
        </p:nvSpPr>
        <p:spPr>
          <a:xfrm>
            <a:off x="8309019" y="1937558"/>
            <a:ext cx="1059906" cy="369332"/>
          </a:xfrm>
          <a:prstGeom prst="rect">
            <a:avLst/>
          </a:prstGeom>
          <a:noFill/>
        </p:spPr>
        <p:txBody>
          <a:bodyPr wrap="none" rtlCol="0">
            <a:spAutoFit/>
          </a:bodyPr>
          <a:lstStyle/>
          <a:p>
            <a:r>
              <a:rPr lang="en-BE" dirty="0"/>
              <a:t>BER vs SNR</a:t>
            </a:r>
          </a:p>
        </p:txBody>
      </p:sp>
      <p:sp>
        <p:nvSpPr>
          <p:cNvPr id="12" name="TextBox 11">
            <a:extLst>
              <a:ext uri="{FF2B5EF4-FFF2-40B4-BE49-F238E27FC236}">
                <a16:creationId xmlns:a16="http://schemas.microsoft.com/office/drawing/2014/main" id="{5ADCB260-2552-D38C-AC56-3CAEB26A830B}"/>
              </a:ext>
            </a:extLst>
          </p:cNvPr>
          <p:cNvSpPr txBox="1"/>
          <p:nvPr/>
        </p:nvSpPr>
        <p:spPr>
          <a:xfrm>
            <a:off x="3132633" y="1937558"/>
            <a:ext cx="859531" cy="369332"/>
          </a:xfrm>
          <a:prstGeom prst="rect">
            <a:avLst/>
          </a:prstGeom>
          <a:noFill/>
        </p:spPr>
        <p:txBody>
          <a:bodyPr wrap="none" rtlCol="0">
            <a:spAutoFit/>
          </a:bodyPr>
          <a:lstStyle/>
          <a:p>
            <a:r>
              <a:rPr lang="en-BE" dirty="0"/>
              <a:t>R vs SNR</a:t>
            </a:r>
          </a:p>
        </p:txBody>
      </p:sp>
      <p:pic>
        <p:nvPicPr>
          <p:cNvPr id="6" name="Picture 5">
            <a:extLst>
              <a:ext uri="{FF2B5EF4-FFF2-40B4-BE49-F238E27FC236}">
                <a16:creationId xmlns:a16="http://schemas.microsoft.com/office/drawing/2014/main" id="{ADFE1EEC-63E0-A487-7F7C-6FEEB64D0307}"/>
              </a:ext>
            </a:extLst>
          </p:cNvPr>
          <p:cNvPicPr>
            <a:picLocks noChangeAspect="1"/>
          </p:cNvPicPr>
          <p:nvPr/>
        </p:nvPicPr>
        <p:blipFill>
          <a:blip r:embed="rId3"/>
          <a:stretch>
            <a:fillRect/>
          </a:stretch>
        </p:blipFill>
        <p:spPr>
          <a:xfrm>
            <a:off x="1266825" y="2219155"/>
            <a:ext cx="4419600" cy="3683000"/>
          </a:xfrm>
          <a:prstGeom prst="rect">
            <a:avLst/>
          </a:prstGeom>
        </p:spPr>
      </p:pic>
      <p:pic>
        <p:nvPicPr>
          <p:cNvPr id="9" name="Picture 8">
            <a:extLst>
              <a:ext uri="{FF2B5EF4-FFF2-40B4-BE49-F238E27FC236}">
                <a16:creationId xmlns:a16="http://schemas.microsoft.com/office/drawing/2014/main" id="{E53F017B-22BC-0F53-15C5-AE6FD0AF6979}"/>
              </a:ext>
            </a:extLst>
          </p:cNvPr>
          <p:cNvPicPr>
            <a:picLocks noChangeAspect="1"/>
          </p:cNvPicPr>
          <p:nvPr/>
        </p:nvPicPr>
        <p:blipFill>
          <a:blip r:embed="rId4"/>
          <a:stretch>
            <a:fillRect/>
          </a:stretch>
        </p:blipFill>
        <p:spPr>
          <a:xfrm>
            <a:off x="6619875" y="2219155"/>
            <a:ext cx="4419600" cy="3683000"/>
          </a:xfrm>
          <a:prstGeom prst="rect">
            <a:avLst/>
          </a:prstGeom>
        </p:spPr>
      </p:pic>
    </p:spTree>
    <p:extLst>
      <p:ext uri="{BB962C8B-B14F-4D97-AF65-F5344CB8AC3E}">
        <p14:creationId xmlns:p14="http://schemas.microsoft.com/office/powerpoint/2010/main" val="979955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FAF318-19C4-A629-03CD-832554CDFA2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782651-7BEF-BF5E-0B93-21712ABB66F9}"/>
              </a:ext>
            </a:extLst>
          </p:cNvPr>
          <p:cNvSpPr>
            <a:spLocks noGrp="1"/>
          </p:cNvSpPr>
          <p:nvPr>
            <p:ph type="body" sz="quarter" idx="10"/>
          </p:nvPr>
        </p:nvSpPr>
        <p:spPr>
          <a:xfrm>
            <a:off x="542925" y="1150143"/>
            <a:ext cx="10893106" cy="574962"/>
          </a:xfrm>
        </p:spPr>
        <p:txBody>
          <a:bodyPr>
            <a:normAutofit/>
          </a:bodyPr>
          <a:lstStyle/>
          <a:p>
            <a:r>
              <a:rPr lang="en-BE" dirty="0"/>
              <a:t>Adaptive Bit Loader (QAM), Fully Loaded System (2 UTs)</a:t>
            </a:r>
          </a:p>
        </p:txBody>
      </p:sp>
      <p:sp>
        <p:nvSpPr>
          <p:cNvPr id="4" name="Title 3">
            <a:extLst>
              <a:ext uri="{FF2B5EF4-FFF2-40B4-BE49-F238E27FC236}">
                <a16:creationId xmlns:a16="http://schemas.microsoft.com/office/drawing/2014/main" id="{7579E49A-B1DE-4A38-29AC-E1ADD91C06CC}"/>
              </a:ext>
            </a:extLst>
          </p:cNvPr>
          <p:cNvSpPr>
            <a:spLocks noGrp="1"/>
          </p:cNvSpPr>
          <p:nvPr>
            <p:ph type="title"/>
          </p:nvPr>
        </p:nvSpPr>
        <p:spPr/>
        <p:txBody>
          <a:bodyPr/>
          <a:lstStyle/>
          <a:p>
            <a:r>
              <a:rPr lang="en-BE" dirty="0"/>
              <a:t>Simulation Results – WMMSE</a:t>
            </a:r>
          </a:p>
        </p:txBody>
      </p:sp>
      <p:sp>
        <p:nvSpPr>
          <p:cNvPr id="15" name="TextBox 14">
            <a:extLst>
              <a:ext uri="{FF2B5EF4-FFF2-40B4-BE49-F238E27FC236}">
                <a16:creationId xmlns:a16="http://schemas.microsoft.com/office/drawing/2014/main" id="{97DCFCFE-9136-F3E8-C9C0-A6DCB570C2EE}"/>
              </a:ext>
            </a:extLst>
          </p:cNvPr>
          <p:cNvSpPr txBox="1"/>
          <p:nvPr/>
        </p:nvSpPr>
        <p:spPr>
          <a:xfrm>
            <a:off x="1716569" y="2065907"/>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401ECE10-37E6-B77E-17CE-945FCEE6B7E2}"/>
              </a:ext>
            </a:extLst>
          </p:cNvPr>
          <p:cNvSpPr txBox="1"/>
          <p:nvPr/>
        </p:nvSpPr>
        <p:spPr>
          <a:xfrm>
            <a:off x="5706865" y="2065907"/>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EEB8B887-D500-B1D2-347A-BC9698007070}"/>
              </a:ext>
            </a:extLst>
          </p:cNvPr>
          <p:cNvSpPr txBox="1"/>
          <p:nvPr/>
        </p:nvSpPr>
        <p:spPr>
          <a:xfrm>
            <a:off x="9679405" y="2065907"/>
            <a:ext cx="966931" cy="338554"/>
          </a:xfrm>
          <a:prstGeom prst="rect">
            <a:avLst/>
          </a:prstGeom>
          <a:noFill/>
        </p:spPr>
        <p:txBody>
          <a:bodyPr wrap="none" rtlCol="0">
            <a:spAutoFit/>
          </a:bodyPr>
          <a:lstStyle/>
          <a:p>
            <a:r>
              <a:rPr lang="en-BE" sz="1600" dirty="0"/>
              <a:t>BER vs SNR</a:t>
            </a:r>
          </a:p>
        </p:txBody>
      </p:sp>
      <p:pic>
        <p:nvPicPr>
          <p:cNvPr id="6" name="Picture 5">
            <a:extLst>
              <a:ext uri="{FF2B5EF4-FFF2-40B4-BE49-F238E27FC236}">
                <a16:creationId xmlns:a16="http://schemas.microsoft.com/office/drawing/2014/main" id="{F1527B20-9316-E142-1167-6D917134DF0B}"/>
              </a:ext>
            </a:extLst>
          </p:cNvPr>
          <p:cNvPicPr>
            <a:picLocks noChangeAspect="1"/>
          </p:cNvPicPr>
          <p:nvPr/>
        </p:nvPicPr>
        <p:blipFill>
          <a:blip r:embed="rId2"/>
          <a:stretch>
            <a:fillRect/>
          </a:stretch>
        </p:blipFill>
        <p:spPr>
          <a:xfrm>
            <a:off x="77880" y="2320547"/>
            <a:ext cx="4064772" cy="3387310"/>
          </a:xfrm>
          <a:prstGeom prst="rect">
            <a:avLst/>
          </a:prstGeom>
        </p:spPr>
      </p:pic>
      <p:pic>
        <p:nvPicPr>
          <p:cNvPr id="10" name="Picture 9">
            <a:extLst>
              <a:ext uri="{FF2B5EF4-FFF2-40B4-BE49-F238E27FC236}">
                <a16:creationId xmlns:a16="http://schemas.microsoft.com/office/drawing/2014/main" id="{1932C91E-18A0-E1BF-CAF3-FC081FF95283}"/>
              </a:ext>
            </a:extLst>
          </p:cNvPr>
          <p:cNvPicPr>
            <a:picLocks noChangeAspect="1"/>
          </p:cNvPicPr>
          <p:nvPr/>
        </p:nvPicPr>
        <p:blipFill>
          <a:blip r:embed="rId3"/>
          <a:stretch>
            <a:fillRect/>
          </a:stretch>
        </p:blipFill>
        <p:spPr>
          <a:xfrm>
            <a:off x="4063614" y="2320547"/>
            <a:ext cx="4064772" cy="3387310"/>
          </a:xfrm>
          <a:prstGeom prst="rect">
            <a:avLst/>
          </a:prstGeom>
        </p:spPr>
      </p:pic>
      <p:pic>
        <p:nvPicPr>
          <p:cNvPr id="12" name="Picture 11">
            <a:extLst>
              <a:ext uri="{FF2B5EF4-FFF2-40B4-BE49-F238E27FC236}">
                <a16:creationId xmlns:a16="http://schemas.microsoft.com/office/drawing/2014/main" id="{B8D0606C-E86B-2C78-5321-FF0D8D8BFCD3}"/>
              </a:ext>
            </a:extLst>
          </p:cNvPr>
          <p:cNvPicPr>
            <a:picLocks noChangeAspect="1"/>
          </p:cNvPicPr>
          <p:nvPr/>
        </p:nvPicPr>
        <p:blipFill>
          <a:blip r:embed="rId4"/>
          <a:stretch>
            <a:fillRect/>
          </a:stretch>
        </p:blipFill>
        <p:spPr>
          <a:xfrm>
            <a:off x="8049350" y="2320547"/>
            <a:ext cx="4064772" cy="3387310"/>
          </a:xfrm>
          <a:prstGeom prst="rect">
            <a:avLst/>
          </a:prstGeom>
        </p:spPr>
      </p:pic>
    </p:spTree>
    <p:extLst>
      <p:ext uri="{BB962C8B-B14F-4D97-AF65-F5344CB8AC3E}">
        <p14:creationId xmlns:p14="http://schemas.microsoft.com/office/powerpoint/2010/main" val="626435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BE6E3-3623-05B2-BACA-4F2F6C1275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804579-6DA7-CAB3-EC2C-0A1B240B8501}"/>
              </a:ext>
            </a:extLst>
          </p:cNvPr>
          <p:cNvSpPr>
            <a:spLocks noGrp="1"/>
          </p:cNvSpPr>
          <p:nvPr>
            <p:ph type="title"/>
          </p:nvPr>
        </p:nvSpPr>
        <p:spPr/>
        <p:txBody>
          <a:bodyPr/>
          <a:lstStyle/>
          <a:p>
            <a:r>
              <a:rPr lang="en-BE" dirty="0"/>
              <a:t>Precoding Techniques –  Comparison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DB3F58D-3719-75D9-AD91-1F783D58D07D}"/>
                  </a:ext>
                </a:extLst>
              </p:cNvPr>
              <p:cNvSpPr txBox="1"/>
              <p:nvPr/>
            </p:nvSpPr>
            <p:spPr>
              <a:xfrm>
                <a:off x="542608" y="1221773"/>
                <a:ext cx="10893421" cy="1177374"/>
              </a:xfrm>
              <a:prstGeom prst="rect">
                <a:avLst/>
              </a:prstGeom>
              <a:noFill/>
            </p:spPr>
            <p:txBody>
              <a:bodyPr wrap="square" rtlCol="0">
                <a:spAutoFit/>
              </a:bodyPr>
              <a:lstStyle/>
              <a:p>
                <a:r>
                  <a:rPr lang="en-BE" sz="2000" b="1" dirty="0"/>
                  <a:t>ACHIEVABLE RATE</a:t>
                </a:r>
                <a:r>
                  <a:rPr lang="en-BE" b="1" dirty="0"/>
                  <a:t>:</a:t>
                </a:r>
                <a:r>
                  <a:rPr lang="en-BE" dirty="0"/>
                  <a:t> </a:t>
                </a:r>
              </a:p>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R</m:t>
                      </m:r>
                      <m:r>
                        <a:rPr lang="en-US" b="0" i="1" smtClean="0">
                          <a:latin typeface="Cambria Math" panose="02040503050406030204" pitchFamily="18" charset="0"/>
                        </a:rPr>
                        <m:t> = 2</m:t>
                      </m:r>
                      <m:r>
                        <m:rPr>
                          <m:sty m:val="p"/>
                        </m:rPr>
                        <a:rPr lang="en-US" b="0" i="1" smtClean="0">
                          <a:latin typeface="Cambria Math" panose="02040503050406030204" pitchFamily="18" charset="0"/>
                        </a:rPr>
                        <m:t>B</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sty m:val="p"/>
                              <m:brk m:alnAt="23"/>
                            </m:rPr>
                            <a:rPr lang="en-US" b="0" i="1" smtClean="0">
                              <a:latin typeface="Cambria Math" panose="02040503050406030204" pitchFamily="18" charset="0"/>
                            </a:rPr>
                            <m:t>k</m:t>
                          </m:r>
                          <m:r>
                            <a:rPr lang="en-US" b="0" i="1" smtClean="0">
                              <a:latin typeface="Cambria Math" panose="02040503050406030204" pitchFamily="18" charset="0"/>
                            </a:rPr>
                            <m:t>=1</m:t>
                          </m:r>
                        </m:sub>
                        <m:sup>
                          <m:r>
                            <m:rPr>
                              <m:sty m:val="p"/>
                            </m:rPr>
                            <a:rPr lang="en-US" b="0" i="1" smtClean="0">
                              <a:latin typeface="Cambria Math" panose="02040503050406030204" pitchFamily="18" charset="0"/>
                            </a:rPr>
                            <m:t>K</m:t>
                          </m:r>
                        </m:sup>
                        <m:e>
                          <m:nary>
                            <m:naryPr>
                              <m:chr m:val="∑"/>
                              <m:ctrlPr>
                                <a:rPr lang="en-US" b="0" i="1" smtClean="0">
                                  <a:latin typeface="Cambria Math" panose="02040503050406030204" pitchFamily="18" charset="0"/>
                                </a:rPr>
                              </m:ctrlPr>
                            </m:naryPr>
                            <m:sub>
                              <m:r>
                                <m:rPr>
                                  <m:sty m:val="p"/>
                                  <m:brk m:alnAt="23"/>
                                </m:rPr>
                                <a:rPr lang="en-US" b="0" i="1" smtClean="0">
                                  <a:latin typeface="Cambria Math" panose="02040503050406030204" pitchFamily="18" charset="0"/>
                                </a:rPr>
                                <m:t>n</m:t>
                              </m:r>
                              <m:r>
                                <m:rPr>
                                  <m:sty m:val="p"/>
                                </m:rPr>
                                <a:rPr lang="en-US" b="0" i="1" smtClean="0">
                                  <a:latin typeface="Cambria Math" panose="02040503050406030204" pitchFamily="18" charset="0"/>
                                </a:rPr>
                                <m:t>r</m:t>
                              </m:r>
                              <m:r>
                                <a:rPr lang="en-US" b="0" i="1" smtClean="0">
                                  <a:latin typeface="Cambria Math" panose="02040503050406030204" pitchFamily="18" charset="0"/>
                                </a:rPr>
                                <m:t> = 1</m:t>
                              </m:r>
                            </m:sub>
                            <m:sup>
                              <m:r>
                                <m:rPr>
                                  <m:sty m:val="p"/>
                                </m:rPr>
                                <a:rPr lang="en-US" b="0" i="1" smtClean="0">
                                  <a:latin typeface="Cambria Math" panose="02040503050406030204" pitchFamily="18" charset="0"/>
                                </a:rPr>
                                <m:t>Nr</m:t>
                              </m:r>
                            </m:sup>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log</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i="1">
                                      <a:latin typeface="Cambria Math" panose="02040503050406030204" pitchFamily="18" charset="0"/>
                                    </a:rPr>
                                    <m:t>1 +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sSub>
                                        <m:sSubPr>
                                          <m:ctrlPr>
                                            <a:rPr lang="en-US" i="1">
                                              <a:latin typeface="Cambria Math" panose="02040503050406030204" pitchFamily="18" charset="0"/>
                                            </a:rPr>
                                          </m:ctrlPr>
                                        </m:sSubPr>
                                        <m:e>
                                          <m:r>
                                            <m:rPr>
                                              <m:sty m:val="p"/>
                                            </m:rPr>
                                            <a:rPr lang="en-US" i="1">
                                              <a:latin typeface="Cambria Math" panose="02040503050406030204" pitchFamily="18" charset="0"/>
                                            </a:rPr>
                                            <m:t>p</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num>
                                    <m:den>
                                      <m:sSub>
                                        <m:sSubPr>
                                          <m:ctrlPr>
                                            <a:rPr lang="en-US" i="1">
                                              <a:latin typeface="Cambria Math" panose="02040503050406030204" pitchFamily="18" charset="0"/>
                                            </a:rPr>
                                          </m:ctrlPr>
                                        </m:sSubPr>
                                        <m:e>
                                          <m:r>
                                            <m:rPr>
                                              <m:sty m:val="p"/>
                                            </m:rPr>
                                            <a:rPr lang="en-US" i="1">
                                              <a:latin typeface="Cambria Math" panose="02040503050406030204" pitchFamily="18" charset="0"/>
                                            </a:rPr>
                                            <m:t>N</m:t>
                                          </m:r>
                                        </m:e>
                                        <m:sub>
                                          <m:r>
                                            <a:rPr lang="en-US" i="1">
                                              <a:latin typeface="Cambria Math" panose="02040503050406030204" pitchFamily="18" charset="0"/>
                                            </a:rPr>
                                            <m:t>0</m:t>
                                          </m:r>
                                        </m:sub>
                                      </m:sSub>
                                    </m:den>
                                  </m:f>
                                </m:e>
                              </m:d>
                            </m:e>
                          </m:nary>
                        </m:e>
                      </m:nary>
                      <m:r>
                        <a:rPr lang="en-US" b="0" i="1" smtClean="0">
                          <a:latin typeface="Cambria Math" panose="02040503050406030204" pitchFamily="18" charset="0"/>
                        </a:rPr>
                        <m:t> </m:t>
                      </m:r>
                    </m:oMath>
                  </m:oMathPara>
                </a14:m>
                <a:endParaRPr lang="en-BE" dirty="0"/>
              </a:p>
            </p:txBody>
          </p:sp>
        </mc:Choice>
        <mc:Fallback xmlns="">
          <p:sp>
            <p:nvSpPr>
              <p:cNvPr id="2" name="TextBox 1">
                <a:extLst>
                  <a:ext uri="{FF2B5EF4-FFF2-40B4-BE49-F238E27FC236}">
                    <a16:creationId xmlns:a16="http://schemas.microsoft.com/office/drawing/2014/main" id="{CDB3F58D-3719-75D9-AD91-1F783D58D07D}"/>
                  </a:ext>
                </a:extLst>
              </p:cNvPr>
              <p:cNvSpPr txBox="1">
                <a:spLocks noRot="1" noChangeAspect="1" noMove="1" noResize="1" noEditPoints="1" noAdjustHandles="1" noChangeArrowheads="1" noChangeShapeType="1" noTextEdit="1"/>
              </p:cNvSpPr>
              <p:nvPr/>
            </p:nvSpPr>
            <p:spPr>
              <a:xfrm>
                <a:off x="542608" y="1221773"/>
                <a:ext cx="10893421" cy="1177374"/>
              </a:xfrm>
              <a:prstGeom prst="rect">
                <a:avLst/>
              </a:prstGeom>
              <a:blipFill>
                <a:blip r:embed="rId2"/>
                <a:stretch>
                  <a:fillRect l="-582" t="-44681" b="-110638"/>
                </a:stretch>
              </a:blipFill>
            </p:spPr>
            <p:txBody>
              <a:bodyPr/>
              <a:lstStyle/>
              <a:p>
                <a:r>
                  <a:rPr lang="en-B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7690300-7315-DA31-744C-C783EF304853}"/>
                  </a:ext>
                </a:extLst>
              </p:cNvPr>
              <p:cNvSpPr txBox="1"/>
              <p:nvPr/>
            </p:nvSpPr>
            <p:spPr>
              <a:xfrm>
                <a:off x="542608" y="2584535"/>
                <a:ext cx="11649392" cy="2961580"/>
              </a:xfrm>
              <a:prstGeom prst="rect">
                <a:avLst/>
              </a:prstGeom>
              <a:noFill/>
            </p:spPr>
            <p:txBody>
              <a:bodyPr wrap="square" rtlCol="0">
                <a:spAutoFit/>
              </a:bodyPr>
              <a:lstStyle/>
              <a:p>
                <a:r>
                  <a:rPr lang="en-BE" sz="2000" b="1" dirty="0"/>
                  <a:t>VIRTUAL PARALLEL CHANNEL GAINS</a:t>
                </a:r>
                <a:r>
                  <a:rPr lang="en-BE" b="1" dirty="0"/>
                  <a:t>:</a:t>
                </a:r>
                <a:r>
                  <a:rPr lang="en-BE" dirty="0"/>
                  <a:t> </a:t>
                </a:r>
              </a:p>
              <a:p>
                <a:pPr marL="285750" indent="-285750">
                  <a:lnSpc>
                    <a:spcPct val="175000"/>
                  </a:lnSpc>
                  <a:buFont typeface="Arial" panose="020B0604020202020204" pitchFamily="34" charset="0"/>
                  <a:buChar char="•"/>
                </a:pPr>
                <a:r>
                  <a:rPr lang="en-BE" dirty="0"/>
                  <a:t>Zero-Forcing:                     </a:t>
                </a:r>
                <a14:m>
                  <m:oMath xmlns:m="http://schemas.openxmlformats.org/officeDocument/2006/math">
                    <m:f>
                      <m:fPr>
                        <m:ctrlPr>
                          <a:rPr lang="en-BE"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den>
                    </m:f>
                    <m:r>
                      <a:rPr lang="en-US" b="0" i="0" smtClean="0">
                        <a:latin typeface="Cambria Math" panose="02040503050406030204" pitchFamily="18" charset="0"/>
                      </a:rPr>
                      <m:t> = </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1" i="1">
                                        <a:latin typeface="Cambria Math" panose="02040503050406030204" pitchFamily="18" charset="0"/>
                                      </a:rPr>
                                      <m:t>𝐇</m:t>
                                    </m:r>
                                    <m:r>
                                      <a:rPr lang="en-US">
                                        <a:latin typeface="Cambria Math" panose="02040503050406030204" pitchFamily="18" charset="0"/>
                                      </a:rPr>
                                      <m:t> </m:t>
                                    </m:r>
                                    <m:sSup>
                                      <m:sSupPr>
                                        <m:ctrlPr>
                                          <a:rPr lang="en-US" i="1">
                                            <a:latin typeface="Cambria Math" panose="02040503050406030204" pitchFamily="18" charset="0"/>
                                          </a:rPr>
                                        </m:ctrlPr>
                                      </m:sSupPr>
                                      <m:e>
                                        <m:r>
                                          <a:rPr lang="en-US" b="1">
                                            <a:latin typeface="Cambria Math" panose="02040503050406030204" pitchFamily="18" charset="0"/>
                                          </a:rPr>
                                          <m:t>𝐇</m:t>
                                        </m:r>
                                      </m:e>
                                      <m:sup>
                                        <m:r>
                                          <m:rPr>
                                            <m:sty m:val="p"/>
                                          </m:rPr>
                                          <a:rPr lang="en-US" i="1">
                                            <a:latin typeface="Cambria Math" panose="02040503050406030204" pitchFamily="18" charset="0"/>
                                          </a:rPr>
                                          <m:t>H</m:t>
                                        </m:r>
                                      </m:sup>
                                    </m:sSup>
                                  </m:e>
                                </m:d>
                              </m:e>
                              <m:sup>
                                <m:r>
                                  <a:rPr lang="en-US" i="1">
                                    <a:latin typeface="Cambria Math" panose="02040503050406030204" pitchFamily="18" charset="0"/>
                                  </a:rPr>
                                  <m:t>−1</m:t>
                                </m:r>
                              </m:sup>
                            </m:sSup>
                          </m:e>
                        </m:d>
                      </m:e>
                      <m:sub>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m:rPr>
                                    <m:sty m:val="p"/>
                                  </m:rPr>
                                  <a:rPr lang="en-US" b="0" i="1" smtClean="0">
                                    <a:latin typeface="Cambria Math" panose="02040503050406030204" pitchFamily="18" charset="0"/>
                                  </a:rPr>
                                  <m:t>k</m:t>
                                </m:r>
                                <m:r>
                                  <a:rPr lang="en-US" b="0" i="1" smtClean="0">
                                    <a:latin typeface="Cambria Math" panose="02040503050406030204" pitchFamily="18" charset="0"/>
                                  </a:rPr>
                                  <m:t>−1</m:t>
                                </m:r>
                              </m:e>
                            </m:d>
                            <m:r>
                              <m:rPr>
                                <m:sty m:val="p"/>
                              </m:rPr>
                              <a:rPr lang="en-US" b="0" i="1" smtClean="0">
                                <a:latin typeface="Cambria Math" panose="02040503050406030204" pitchFamily="18" charset="0"/>
                              </a:rPr>
                              <m:t>Nr</m:t>
                            </m:r>
                            <m:r>
                              <a:rPr lang="en-US" b="0" i="1" smtClean="0">
                                <a:latin typeface="Cambria Math" panose="02040503050406030204" pitchFamily="18" charset="0"/>
                              </a:rPr>
                              <m:t>+</m:t>
                            </m:r>
                            <m:r>
                              <m:rPr>
                                <m:sty m:val="p"/>
                              </m:rPr>
                              <a:rPr lang="en-US" b="0" i="1" smtClean="0">
                                <a:latin typeface="Cambria Math" panose="02040503050406030204" pitchFamily="18" charset="0"/>
                              </a:rPr>
                              <m:t>nr</m:t>
                            </m:r>
                            <m:r>
                              <a:rPr lang="en-US" b="0" i="1" smtClean="0">
                                <a:latin typeface="Cambria Math" panose="02040503050406030204" pitchFamily="18" charset="0"/>
                              </a:rPr>
                              <m:t>,   </m:t>
                            </m:r>
                            <m:d>
                              <m:dPr>
                                <m:ctrlPr>
                                  <a:rPr lang="en-US" i="1">
                                    <a:latin typeface="Cambria Math" panose="02040503050406030204" pitchFamily="18" charset="0"/>
                                  </a:rPr>
                                </m:ctrlPr>
                              </m:dPr>
                              <m:e>
                                <m:r>
                                  <m:rPr>
                                    <m:sty m:val="p"/>
                                  </m:rPr>
                                  <a:rPr lang="en-US" i="1">
                                    <a:latin typeface="Cambria Math" panose="02040503050406030204" pitchFamily="18" charset="0"/>
                                  </a:rPr>
                                  <m:t>k</m:t>
                                </m:r>
                                <m:r>
                                  <a:rPr lang="en-US" b="0" i="1" smtClean="0">
                                    <a:latin typeface="Cambria Math" panose="02040503050406030204" pitchFamily="18" charset="0"/>
                                  </a:rPr>
                                  <m:t>−</m:t>
                                </m:r>
                                <m:r>
                                  <a:rPr lang="en-US" i="1">
                                    <a:latin typeface="Cambria Math" panose="02040503050406030204" pitchFamily="18" charset="0"/>
                                  </a:rPr>
                                  <m:t>1</m:t>
                                </m:r>
                              </m:e>
                            </m:d>
                            <m:r>
                              <m:rPr>
                                <m:sty m:val="p"/>
                              </m:rPr>
                              <a:rPr lang="en-US" i="1">
                                <a:latin typeface="Cambria Math" panose="02040503050406030204" pitchFamily="18" charset="0"/>
                              </a:rPr>
                              <m:t>Nr</m:t>
                            </m:r>
                            <m:r>
                              <a:rPr lang="en-US" i="1">
                                <a:latin typeface="Cambria Math" panose="02040503050406030204" pitchFamily="18" charset="0"/>
                              </a:rPr>
                              <m:t>+</m:t>
                            </m:r>
                            <m:r>
                              <m:rPr>
                                <m:sty m:val="p"/>
                              </m:rPr>
                              <a:rPr lang="en-US" i="1">
                                <a:latin typeface="Cambria Math" panose="02040503050406030204" pitchFamily="18" charset="0"/>
                              </a:rPr>
                              <m:t>nr</m:t>
                            </m:r>
                          </m:e>
                        </m:d>
                      </m:sub>
                    </m:sSub>
                  </m:oMath>
                </a14:m>
                <a:endParaRPr lang="en-US" b="0" dirty="0"/>
              </a:p>
              <a:p>
                <a:pPr marL="285750" indent="-285750">
                  <a:lnSpc>
                    <a:spcPct val="175000"/>
                  </a:lnSpc>
                  <a:buFont typeface="Arial" panose="020B0604020202020204" pitchFamily="34" charset="0"/>
                  <a:buChar char="•"/>
                </a:pPr>
                <a:r>
                  <a:rPr lang="en-BE" dirty="0"/>
                  <a:t>Zero-Forcing + LSV:           </a:t>
                </a:r>
                <a14:m>
                  <m:oMath xmlns:m="http://schemas.openxmlformats.org/officeDocument/2006/math">
                    <m:f>
                      <m:fPr>
                        <m:ctrlPr>
                          <a:rPr lang="en-BE"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den>
                    </m:f>
                    <m:r>
                      <a:rPr lang="en-US">
                        <a:latin typeface="Cambria Math" panose="02040503050406030204" pitchFamily="18" charset="0"/>
                      </a:rPr>
                      <m:t> = </m:t>
                    </m:r>
                    <m:sSub>
                      <m:sSubPr>
                        <m:ctrlPr>
                          <a:rPr lang="en-US" i="1">
                            <a:latin typeface="Cambria Math" panose="02040503050406030204" pitchFamily="18" charset="0"/>
                          </a:rPr>
                        </m:ctrlPr>
                      </m:sSub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1">
                                        <a:latin typeface="Cambria Math" panose="02040503050406030204" pitchFamily="18" charset="0"/>
                                      </a:rPr>
                                      <m:t>𝐆</m:t>
                                    </m:r>
                                    <m:r>
                                      <a:rPr lang="en-US" b="1" i="1">
                                        <a:latin typeface="Cambria Math" panose="02040503050406030204" pitchFamily="18" charset="0"/>
                                      </a:rPr>
                                      <m:t>𝐇</m:t>
                                    </m:r>
                                    <m:r>
                                      <a:rPr lang="en-US">
                                        <a:latin typeface="Cambria Math" panose="02040503050406030204" pitchFamily="18" charset="0"/>
                                      </a:rPr>
                                      <m:t> </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1">
                                                <a:latin typeface="Cambria Math" panose="02040503050406030204" pitchFamily="18" charset="0"/>
                                              </a:rPr>
                                              <m:t>𝐆𝐇</m:t>
                                            </m:r>
                                          </m:e>
                                        </m:d>
                                      </m:e>
                                      <m:sup>
                                        <m:r>
                                          <m:rPr>
                                            <m:sty m:val="p"/>
                                          </m:rPr>
                                          <a:rPr lang="en-US" i="1">
                                            <a:latin typeface="Cambria Math" panose="02040503050406030204" pitchFamily="18" charset="0"/>
                                          </a:rPr>
                                          <m:t>H</m:t>
                                        </m:r>
                                      </m:sup>
                                    </m:sSup>
                                  </m:e>
                                </m:d>
                              </m:e>
                              <m:sup>
                                <m:r>
                                  <a:rPr lang="en-US" i="1">
                                    <a:latin typeface="Cambria Math" panose="02040503050406030204" pitchFamily="18" charset="0"/>
                                  </a:rPr>
                                  <m:t>−1</m:t>
                                </m:r>
                              </m:sup>
                            </m:sSup>
                          </m:e>
                        </m:d>
                      </m:e>
                      <m:sub>
                        <m:d>
                          <m:dPr>
                            <m:ctrlPr>
                              <a:rPr lang="en-US" i="1">
                                <a:latin typeface="Cambria Math" panose="02040503050406030204" pitchFamily="18" charset="0"/>
                              </a:rPr>
                            </m:ctrlPr>
                          </m:dPr>
                          <m:e>
                            <m:d>
                              <m:dPr>
                                <m:ctrlPr>
                                  <a:rPr lang="en-US" i="1">
                                    <a:latin typeface="Cambria Math" panose="02040503050406030204" pitchFamily="18" charset="0"/>
                                  </a:rPr>
                                </m:ctrlPr>
                              </m:dPr>
                              <m:e>
                                <m:r>
                                  <m:rPr>
                                    <m:sty m:val="p"/>
                                  </m:rPr>
                                  <a:rPr lang="en-US" i="1">
                                    <a:latin typeface="Cambria Math" panose="02040503050406030204" pitchFamily="18" charset="0"/>
                                  </a:rPr>
                                  <m:t>k</m:t>
                                </m:r>
                                <m:r>
                                  <a:rPr lang="en-US" b="0" i="1" smtClean="0">
                                    <a:latin typeface="Cambria Math" panose="02040503050406030204" pitchFamily="18" charset="0"/>
                                  </a:rPr>
                                  <m:t>−</m:t>
                                </m:r>
                                <m:r>
                                  <a:rPr lang="en-US" i="1">
                                    <a:latin typeface="Cambria Math" panose="02040503050406030204" pitchFamily="18" charset="0"/>
                                  </a:rPr>
                                  <m:t>1</m:t>
                                </m:r>
                              </m:e>
                            </m:d>
                            <m:r>
                              <m:rPr>
                                <m:sty m:val="p"/>
                              </m:rPr>
                              <a:rPr lang="en-US" i="1">
                                <a:latin typeface="Cambria Math" panose="02040503050406030204" pitchFamily="18" charset="0"/>
                              </a:rPr>
                              <m:t>Nr</m:t>
                            </m:r>
                            <m:r>
                              <a:rPr lang="en-US" i="1">
                                <a:latin typeface="Cambria Math" panose="02040503050406030204" pitchFamily="18" charset="0"/>
                              </a:rPr>
                              <m:t>+</m:t>
                            </m:r>
                            <m:r>
                              <m:rPr>
                                <m:sty m:val="p"/>
                              </m:rPr>
                              <a:rPr lang="en-US" i="1">
                                <a:latin typeface="Cambria Math" panose="02040503050406030204" pitchFamily="18" charset="0"/>
                              </a:rPr>
                              <m:t>nr</m:t>
                            </m:r>
                            <m:r>
                              <a:rPr lang="en-US" i="1">
                                <a:latin typeface="Cambria Math" panose="02040503050406030204" pitchFamily="18" charset="0"/>
                              </a:rPr>
                              <m:t>,   </m:t>
                            </m:r>
                            <m:d>
                              <m:dPr>
                                <m:ctrlPr>
                                  <a:rPr lang="en-US" i="1">
                                    <a:latin typeface="Cambria Math" panose="02040503050406030204" pitchFamily="18" charset="0"/>
                                  </a:rPr>
                                </m:ctrlPr>
                              </m:dPr>
                              <m:e>
                                <m:r>
                                  <m:rPr>
                                    <m:sty m:val="p"/>
                                  </m:rPr>
                                  <a:rPr lang="en-US" i="1">
                                    <a:latin typeface="Cambria Math" panose="02040503050406030204" pitchFamily="18" charset="0"/>
                                  </a:rPr>
                                  <m:t>k</m:t>
                                </m:r>
                                <m:r>
                                  <a:rPr lang="en-US" b="0" i="1" smtClean="0">
                                    <a:latin typeface="Cambria Math" panose="02040503050406030204" pitchFamily="18" charset="0"/>
                                  </a:rPr>
                                  <m:t>−</m:t>
                                </m:r>
                                <m:r>
                                  <a:rPr lang="en-US" i="1">
                                    <a:latin typeface="Cambria Math" panose="02040503050406030204" pitchFamily="18" charset="0"/>
                                  </a:rPr>
                                  <m:t>1</m:t>
                                </m:r>
                              </m:e>
                            </m:d>
                            <m:r>
                              <m:rPr>
                                <m:sty m:val="p"/>
                              </m:rPr>
                              <a:rPr lang="en-US" i="1">
                                <a:latin typeface="Cambria Math" panose="02040503050406030204" pitchFamily="18" charset="0"/>
                              </a:rPr>
                              <m:t>Nr</m:t>
                            </m:r>
                            <m:r>
                              <a:rPr lang="en-US" i="1">
                                <a:latin typeface="Cambria Math" panose="02040503050406030204" pitchFamily="18" charset="0"/>
                              </a:rPr>
                              <m:t>+</m:t>
                            </m:r>
                            <m:r>
                              <m:rPr>
                                <m:sty m:val="p"/>
                              </m:rPr>
                              <a:rPr lang="en-US" i="1">
                                <a:latin typeface="Cambria Math" panose="02040503050406030204" pitchFamily="18" charset="0"/>
                              </a:rPr>
                              <m:t>nr</m:t>
                            </m:r>
                          </m:e>
                        </m:d>
                      </m:sub>
                    </m:sSub>
                  </m:oMath>
                </a14:m>
                <a:endParaRPr lang="en-BE" dirty="0"/>
              </a:p>
              <a:p>
                <a:pPr marL="285750" indent="-285750">
                  <a:lnSpc>
                    <a:spcPct val="175000"/>
                  </a:lnSpc>
                  <a:buFont typeface="Arial" panose="020B0604020202020204" pitchFamily="34" charset="0"/>
                  <a:buChar char="•"/>
                </a:pPr>
                <a:r>
                  <a:rPr lang="en-BE" dirty="0"/>
                  <a:t>Block Diagonalization</a:t>
                </a:r>
                <a:r>
                  <a:rPr lang="en-BE" sz="1600" dirty="0"/>
                  <a:t>:      </a:t>
                </a:r>
                <a14:m>
                  <m:oMath xmlns:m="http://schemas.openxmlformats.org/officeDocument/2006/math">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g</m:t>
                        </m:r>
                      </m:e>
                      <m:sub>
                        <m:r>
                          <m:rPr>
                            <m:sty m:val="p"/>
                          </m:rPr>
                          <a:rPr lang="en-US" sz="1600" i="1">
                            <a:latin typeface="Cambria Math" panose="02040503050406030204" pitchFamily="18" charset="0"/>
                          </a:rPr>
                          <m:t>k</m:t>
                        </m:r>
                        <m:r>
                          <a:rPr lang="en-US" sz="1600" i="1">
                            <a:latin typeface="Cambria Math" panose="02040503050406030204" pitchFamily="18" charset="0"/>
                          </a:rPr>
                          <m:t>,</m:t>
                        </m:r>
                        <m:r>
                          <m:rPr>
                            <m:sty m:val="p"/>
                          </m:rPr>
                          <a:rPr lang="en-US" sz="1600" i="1">
                            <a:latin typeface="Cambria Math" panose="02040503050406030204" pitchFamily="18" charset="0"/>
                          </a:rPr>
                          <m:t>nr</m:t>
                        </m:r>
                      </m:sub>
                    </m:sSub>
                    <m:r>
                      <a:rPr lang="en-US" sz="1600">
                        <a:latin typeface="Cambria Math" panose="02040503050406030204" pitchFamily="18" charset="0"/>
                      </a:rPr>
                      <m:t>=</m:t>
                    </m:r>
                    <m:r>
                      <a:rPr lang="en-US" sz="1600" b="0" i="0" smtClean="0">
                        <a:latin typeface="Cambria Math" panose="02040503050406030204" pitchFamily="18" charset="0"/>
                      </a:rPr>
                      <m:t> </m:t>
                    </m:r>
                    <m:sSubSup>
                      <m:sSubSupPr>
                        <m:ctrlPr>
                          <a:rPr lang="en-US" sz="1600" b="0" i="1" smtClean="0">
                            <a:latin typeface="Cambria Math" panose="02040503050406030204" pitchFamily="18" charset="0"/>
                          </a:rPr>
                        </m:ctrlPr>
                      </m:sSubSupPr>
                      <m:e>
                        <m:r>
                          <a:rPr lang="en-US" sz="1600" b="1" i="0" smtClean="0">
                            <a:latin typeface="Cambria Math" panose="02040503050406030204" pitchFamily="18" charset="0"/>
                          </a:rPr>
                          <m:t>𝚺</m:t>
                        </m:r>
                      </m:e>
                      <m:sub>
                        <m:d>
                          <m:dPr>
                            <m:ctrlPr>
                              <a:rPr lang="en-US" sz="1600" b="0" i="1" smtClean="0">
                                <a:latin typeface="Cambria Math" panose="02040503050406030204" pitchFamily="18" charset="0"/>
                              </a:rPr>
                            </m:ctrlPr>
                          </m:dPr>
                          <m:e>
                            <m:r>
                              <m:rPr>
                                <m:sty m:val="p"/>
                              </m:rPr>
                              <a:rPr lang="en-US" sz="1600" b="0" i="1" smtClean="0">
                                <a:latin typeface="Cambria Math" panose="02040503050406030204" pitchFamily="18" charset="0"/>
                              </a:rPr>
                              <m:t>nr</m:t>
                            </m:r>
                            <m:r>
                              <a:rPr lang="en-US" sz="1600" b="0" i="1" smtClean="0">
                                <a:latin typeface="Cambria Math" panose="02040503050406030204" pitchFamily="18" charset="0"/>
                              </a:rPr>
                              <m:t>,   </m:t>
                            </m:r>
                            <m:r>
                              <m:rPr>
                                <m:sty m:val="p"/>
                              </m:rPr>
                              <a:rPr lang="en-US" sz="1600" b="0" i="1" smtClean="0">
                                <a:latin typeface="Cambria Math" panose="02040503050406030204" pitchFamily="18" charset="0"/>
                              </a:rPr>
                              <m:t>nr</m:t>
                            </m:r>
                          </m:e>
                        </m:d>
                      </m:sub>
                      <m:sup>
                        <m:r>
                          <a:rPr lang="en-US" sz="1600" b="0" i="1" smtClean="0">
                            <a:latin typeface="Cambria Math" panose="02040503050406030204" pitchFamily="18" charset="0"/>
                          </a:rPr>
                          <m:t>2</m:t>
                        </m:r>
                      </m:sup>
                    </m:sSubSup>
                    <m:r>
                      <a:rPr lang="en-US" sz="1600" b="0" i="1" smtClean="0">
                        <a:latin typeface="Cambria Math" panose="02040503050406030204" pitchFamily="18" charset="0"/>
                      </a:rPr>
                      <m:t>,    </m:t>
                    </m:r>
                    <m:r>
                      <m:rPr>
                        <m:sty m:val="p"/>
                      </m:rPr>
                      <a:rPr lang="en-US" sz="1600" b="0" i="1" smtClean="0">
                        <a:latin typeface="Cambria Math" panose="02040503050406030204" pitchFamily="18" charset="0"/>
                      </a:rPr>
                      <m:t>with</m:t>
                    </m:r>
                    <m:r>
                      <a:rPr lang="en-US" sz="1600" b="0" i="1" smtClean="0">
                        <a:latin typeface="Cambria Math" panose="02040503050406030204" pitchFamily="18" charset="0"/>
                      </a:rPr>
                      <m:t> </m:t>
                    </m:r>
                    <m:r>
                      <a:rPr lang="en-US" sz="1600" b="1" i="0" smtClean="0">
                        <a:latin typeface="Cambria Math" panose="02040503050406030204" pitchFamily="18" charset="0"/>
                      </a:rPr>
                      <m:t>𝐇</m:t>
                    </m:r>
                    <m:r>
                      <a:rPr lang="en-US" sz="1600" b="0" i="0" smtClean="0">
                        <a:latin typeface="Cambria Math" panose="02040503050406030204" pitchFamily="18" charset="0"/>
                      </a:rPr>
                      <m:t> = </m:t>
                    </m:r>
                    <m:r>
                      <a:rPr lang="en-US" sz="1600" b="1" i="0" smtClean="0">
                        <a:latin typeface="Cambria Math" panose="02040503050406030204" pitchFamily="18" charset="0"/>
                      </a:rPr>
                      <m:t>𝐔</m:t>
                    </m:r>
                    <m:r>
                      <a:rPr lang="en-US" sz="1600" b="1" i="0" smtClean="0">
                        <a:latin typeface="Cambria Math" panose="02040503050406030204" pitchFamily="18" charset="0"/>
                      </a:rPr>
                      <m:t>𝚺</m:t>
                    </m:r>
                    <m:sSup>
                      <m:sSupPr>
                        <m:ctrlPr>
                          <a:rPr lang="en-US" sz="1600" b="0" i="1" smtClean="0">
                            <a:latin typeface="Cambria Math" panose="02040503050406030204" pitchFamily="18" charset="0"/>
                          </a:rPr>
                        </m:ctrlPr>
                      </m:sSupPr>
                      <m:e>
                        <m:r>
                          <a:rPr lang="en-US" sz="1600" b="1" i="0" smtClean="0">
                            <a:latin typeface="Cambria Math" panose="02040503050406030204" pitchFamily="18" charset="0"/>
                          </a:rPr>
                          <m:t>𝐕</m:t>
                        </m:r>
                      </m:e>
                      <m:sup>
                        <m:r>
                          <m:rPr>
                            <m:sty m:val="p"/>
                          </m:rPr>
                          <a:rPr lang="en-US" sz="1600" b="0" i="1" smtClean="0">
                            <a:latin typeface="Cambria Math" panose="02040503050406030204" pitchFamily="18" charset="0"/>
                          </a:rPr>
                          <m:t>H</m:t>
                        </m:r>
                      </m:sup>
                    </m:sSup>
                    <m:r>
                      <a:rPr lang="en-US" sz="1600" b="0" i="0" smtClean="0">
                        <a:latin typeface="Cambria Math" panose="02040503050406030204" pitchFamily="18" charset="0"/>
                      </a:rPr>
                      <m:t> </m:t>
                    </m:r>
                    <m:r>
                      <a:rPr lang="en-US" sz="1600" b="0" i="1" smtClean="0">
                        <a:latin typeface="Cambria Math" panose="02040503050406030204" pitchFamily="18" charset="0"/>
                      </a:rPr>
                      <m:t>∈ </m:t>
                    </m:r>
                    <m:sSup>
                      <m:sSupPr>
                        <m:ctrlPr>
                          <a:rPr lang="en-US" sz="1600" b="0" i="1" smtClean="0">
                            <a:latin typeface="Cambria Math" panose="02040503050406030204" pitchFamily="18" charset="0"/>
                          </a:rPr>
                        </m:ctrlPr>
                      </m:sSupPr>
                      <m:e>
                        <m:r>
                          <a:rPr lang="en-US" sz="1600" i="1">
                            <a:latin typeface="Cambria Math" panose="02040503050406030204" pitchFamily="18" charset="0"/>
                          </a:rPr>
                          <m:t>ℂ</m:t>
                        </m:r>
                      </m:e>
                      <m:sup>
                        <m:acc>
                          <m:accPr>
                            <m:chr m:val="̈"/>
                            <m:ctrlPr>
                              <a:rPr lang="en-US" sz="1600" b="0" i="1" smtClean="0">
                                <a:latin typeface="Cambria Math" panose="02040503050406030204" pitchFamily="18" charset="0"/>
                              </a:rPr>
                            </m:ctrlPr>
                          </m:accPr>
                          <m:e>
                            <m:r>
                              <m:rPr>
                                <m:sty m:val="p"/>
                              </m:rPr>
                              <a:rPr lang="en-US" sz="1600" b="0" i="1" smtClean="0">
                                <a:latin typeface="Cambria Math" panose="02040503050406030204" pitchFamily="18" charset="0"/>
                              </a:rPr>
                              <m:t>r</m:t>
                            </m:r>
                          </m:e>
                        </m:acc>
                        <m:r>
                          <a:rPr lang="en-US" sz="1600" b="0" i="1" smtClean="0">
                            <a:latin typeface="Cambria Math" panose="02040503050406030204" pitchFamily="18" charset="0"/>
                          </a:rPr>
                          <m:t> </m:t>
                        </m:r>
                        <m:r>
                          <m:rPr>
                            <m:sty m:val="p"/>
                          </m:rPr>
                          <a:rPr lang="en-US" sz="1600" b="0" i="1" smtClean="0">
                            <a:latin typeface="Cambria Math" panose="02040503050406030204" pitchFamily="18" charset="0"/>
                          </a:rPr>
                          <m:t>x</m:t>
                        </m:r>
                        <m:r>
                          <a:rPr lang="en-US" sz="1600" b="0" i="1" smtClean="0">
                            <a:latin typeface="Cambria Math" panose="02040503050406030204" pitchFamily="18" charset="0"/>
                          </a:rPr>
                          <m:t> </m:t>
                        </m:r>
                        <m:r>
                          <m:rPr>
                            <m:sty m:val="p"/>
                          </m:rPr>
                          <a:rPr lang="en-US" sz="1600" b="0" i="1" smtClean="0">
                            <a:latin typeface="Cambria Math" panose="02040503050406030204" pitchFamily="18" charset="0"/>
                          </a:rPr>
                          <m:t>Nr</m:t>
                        </m:r>
                      </m:sup>
                    </m:sSup>
                    <m:r>
                      <a:rPr lang="en-US" sz="1600" b="0" i="1" smtClean="0">
                        <a:latin typeface="Cambria Math" panose="02040503050406030204" pitchFamily="18" charset="0"/>
                      </a:rPr>
                      <m:t>   </m:t>
                    </m:r>
                    <m:r>
                      <m:rPr>
                        <m:sty m:val="p"/>
                      </m:rPr>
                      <a:rPr lang="en-US" sz="1600" b="0" i="1" smtClean="0">
                        <a:latin typeface="Cambria Math" panose="02040503050406030204" pitchFamily="18" charset="0"/>
                      </a:rPr>
                      <m:t>and</m:t>
                    </m:r>
                    <m:r>
                      <a:rPr lang="en-US" sz="1600" b="0" i="1" smtClean="0">
                        <a:latin typeface="Cambria Math" panose="02040503050406030204" pitchFamily="18" charset="0"/>
                      </a:rPr>
                      <m:t>  </m:t>
                    </m:r>
                    <m:sSub>
                      <m:sSubPr>
                        <m:ctrlPr>
                          <a:rPr lang="en-US" sz="1600" i="1">
                            <a:latin typeface="Cambria Math" panose="02040503050406030204" pitchFamily="18" charset="0"/>
                          </a:rPr>
                        </m:ctrlPr>
                      </m:sSubPr>
                      <m:e>
                        <m:r>
                          <m:rPr>
                            <m:sty m:val="p"/>
                          </m:rPr>
                          <a:rPr lang="en-US" sz="1600" i="1">
                            <a:latin typeface="Cambria Math" panose="02040503050406030204" pitchFamily="18" charset="0"/>
                          </a:rPr>
                          <m:t>h</m:t>
                        </m:r>
                      </m:e>
                      <m:sub>
                        <m:d>
                          <m:dPr>
                            <m:ctrlPr>
                              <a:rPr lang="en-US" sz="1600" i="1">
                                <a:latin typeface="Cambria Math" panose="02040503050406030204" pitchFamily="18" charset="0"/>
                              </a:rPr>
                            </m:ctrlPr>
                          </m:dPr>
                          <m:e>
                            <m:r>
                              <m:rPr>
                                <m:sty m:val="p"/>
                              </m:rPr>
                              <a:rPr lang="en-US" sz="1600" b="0" i="1" smtClean="0">
                                <a:latin typeface="Cambria Math" panose="02040503050406030204" pitchFamily="18" charset="0"/>
                              </a:rPr>
                              <m:t>r</m:t>
                            </m:r>
                            <m:r>
                              <a:rPr lang="en-US" sz="1600" b="0" i="1" smtClean="0">
                                <a:latin typeface="Cambria Math" panose="02040503050406030204" pitchFamily="18" charset="0"/>
                              </a:rPr>
                              <m:t>,   </m:t>
                            </m:r>
                            <m:r>
                              <m:rPr>
                                <m:sty m:val="p"/>
                              </m:rPr>
                              <a:rPr lang="en-US" sz="1600" b="0" i="1" smtClean="0">
                                <a:latin typeface="Cambria Math" panose="02040503050406030204" pitchFamily="18" charset="0"/>
                              </a:rPr>
                              <m:t>nr</m:t>
                            </m:r>
                          </m:e>
                        </m:d>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𝒩</m:t>
                        </m:r>
                      </m:e>
                      <m:sub>
                        <m:r>
                          <a:rPr lang="en-US" sz="1600" i="1">
                            <a:latin typeface="Cambria Math" panose="02040503050406030204" pitchFamily="18" charset="0"/>
                          </a:rPr>
                          <m:t>ℂ</m:t>
                        </m:r>
                      </m:sub>
                    </m:sSub>
                    <m:d>
                      <m:dPr>
                        <m:ctrlPr>
                          <a:rPr lang="en-US" sz="1600" i="1">
                            <a:latin typeface="Cambria Math" panose="02040503050406030204" pitchFamily="18" charset="0"/>
                          </a:rPr>
                        </m:ctrlPr>
                      </m:dPr>
                      <m:e>
                        <m:r>
                          <a:rPr lang="en-US" sz="1600" i="1">
                            <a:latin typeface="Cambria Math" panose="02040503050406030204" pitchFamily="18" charset="0"/>
                          </a:rPr>
                          <m:t>0, 1</m:t>
                        </m:r>
                      </m:e>
                    </m:d>
                    <m:r>
                      <a:rPr lang="en-US" sz="1600" b="0" i="1" smtClean="0">
                        <a:latin typeface="Cambria Math" panose="02040503050406030204" pitchFamily="18" charset="0"/>
                      </a:rPr>
                      <m:t>  </m:t>
                    </m:r>
                    <m:d>
                      <m:dPr>
                        <m:ctrlPr>
                          <a:rPr lang="en-US" sz="1600" b="0" i="1" smtClean="0">
                            <a:latin typeface="Cambria Math" panose="02040503050406030204" pitchFamily="18" charset="0"/>
                          </a:rPr>
                        </m:ctrlPr>
                      </m:dPr>
                      <m:e>
                        <m:acc>
                          <m:accPr>
                            <m:chr m:val="̈"/>
                            <m:ctrlPr>
                              <a:rPr lang="en-US" sz="1600" i="1">
                                <a:latin typeface="Cambria Math" panose="02040503050406030204" pitchFamily="18" charset="0"/>
                              </a:rPr>
                            </m:ctrlPr>
                          </m:accPr>
                          <m:e>
                            <m:r>
                              <m:rPr>
                                <m:sty m:val="p"/>
                              </m:rPr>
                              <a:rPr lang="en-US" sz="1600" i="1">
                                <a:latin typeface="Cambria Math" panose="02040503050406030204" pitchFamily="18" charset="0"/>
                              </a:rPr>
                              <m:t>r</m:t>
                            </m:r>
                          </m:e>
                        </m:acc>
                        <m:r>
                          <a:rPr lang="en-US" sz="1600" i="1">
                            <a:latin typeface="Cambria Math" panose="02040503050406030204" pitchFamily="18" charset="0"/>
                          </a:rPr>
                          <m:t> = </m:t>
                        </m:r>
                        <m:r>
                          <m:rPr>
                            <m:sty m:val="p"/>
                          </m:rPr>
                          <a:rPr lang="en-US" sz="1600" i="1">
                            <a:latin typeface="Cambria Math" panose="02040503050406030204" pitchFamily="18" charset="0"/>
                          </a:rPr>
                          <m:t>Nt</m:t>
                        </m:r>
                        <m:r>
                          <a:rPr lang="en-US" sz="1600" b="0" i="1" smtClean="0">
                            <a:latin typeface="Cambria Math" panose="02040503050406030204" pitchFamily="18" charset="0"/>
                          </a:rPr>
                          <m:t> − </m:t>
                        </m:r>
                        <m:d>
                          <m:dPr>
                            <m:ctrlPr>
                              <a:rPr lang="en-US" sz="1600" i="1">
                                <a:latin typeface="Cambria Math" panose="02040503050406030204" pitchFamily="18" charset="0"/>
                              </a:rPr>
                            </m:ctrlPr>
                          </m:dPr>
                          <m:e>
                            <m:r>
                              <m:rPr>
                                <m:sty m:val="p"/>
                              </m:rPr>
                              <a:rPr lang="en-US" sz="1600" b="0" i="1" smtClean="0">
                                <a:latin typeface="Cambria Math" panose="02040503050406030204" pitchFamily="18" charset="0"/>
                              </a:rPr>
                              <m:t>K</m:t>
                            </m:r>
                            <m:r>
                              <a:rPr lang="en-US" sz="1600" b="0" i="1" smtClean="0">
                                <a:latin typeface="Cambria Math" panose="02040503050406030204" pitchFamily="18" charset="0"/>
                              </a:rPr>
                              <m:t>−1</m:t>
                            </m:r>
                          </m:e>
                        </m:d>
                        <m:r>
                          <m:rPr>
                            <m:sty m:val="p"/>
                          </m:rPr>
                          <a:rPr lang="en-US" sz="1600" i="1">
                            <a:latin typeface="Cambria Math" panose="02040503050406030204" pitchFamily="18" charset="0"/>
                          </a:rPr>
                          <m:t>Nr</m:t>
                        </m:r>
                        <m:r>
                          <a:rPr lang="en-US" sz="1600" b="0" i="1" smtClean="0">
                            <a:latin typeface="Cambria Math" panose="02040503050406030204" pitchFamily="18" charset="0"/>
                          </a:rPr>
                          <m:t> </m:t>
                        </m:r>
                      </m:e>
                    </m:d>
                  </m:oMath>
                </a14:m>
                <a:endParaRPr lang="en-BE" dirty="0"/>
              </a:p>
            </p:txBody>
          </p:sp>
        </mc:Choice>
        <mc:Fallback xmlns="">
          <p:sp>
            <p:nvSpPr>
              <p:cNvPr id="6" name="TextBox 5">
                <a:extLst>
                  <a:ext uri="{FF2B5EF4-FFF2-40B4-BE49-F238E27FC236}">
                    <a16:creationId xmlns:a16="http://schemas.microsoft.com/office/drawing/2014/main" id="{37690300-7315-DA31-744C-C783EF304853}"/>
                  </a:ext>
                </a:extLst>
              </p:cNvPr>
              <p:cNvSpPr txBox="1">
                <a:spLocks noRot="1" noChangeAspect="1" noMove="1" noResize="1" noEditPoints="1" noAdjustHandles="1" noChangeArrowheads="1" noChangeShapeType="1" noTextEdit="1"/>
              </p:cNvSpPr>
              <p:nvPr/>
            </p:nvSpPr>
            <p:spPr>
              <a:xfrm>
                <a:off x="542608" y="2584535"/>
                <a:ext cx="11649392" cy="2961580"/>
              </a:xfrm>
              <a:prstGeom prst="rect">
                <a:avLst/>
              </a:prstGeom>
              <a:blipFill>
                <a:blip r:embed="rId3"/>
                <a:stretch>
                  <a:fillRect l="-544" t="-1282"/>
                </a:stretch>
              </a:blipFill>
            </p:spPr>
            <p:txBody>
              <a:bodyPr/>
              <a:lstStyle/>
              <a:p>
                <a:r>
                  <a:rPr lang="en-BE">
                    <a:noFill/>
                  </a:rPr>
                  <a:t> </a:t>
                </a:r>
              </a:p>
            </p:txBody>
          </p:sp>
        </mc:Fallback>
      </mc:AlternateContent>
    </p:spTree>
    <p:extLst>
      <p:ext uri="{BB962C8B-B14F-4D97-AF65-F5344CB8AC3E}">
        <p14:creationId xmlns:p14="http://schemas.microsoft.com/office/powerpoint/2010/main" val="1537445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34866-00D7-8E77-183C-8ECF6A3D1F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522A640-4484-20DC-4D5B-E399B892E8D5}"/>
                  </a:ext>
                </a:extLst>
              </p:cNvPr>
              <p:cNvSpPr>
                <a:spLocks noGrp="1"/>
              </p:cNvSpPr>
              <p:nvPr>
                <p:ph type="body" sz="quarter" idx="10"/>
              </p:nvPr>
            </p:nvSpPr>
            <p:spPr/>
            <p:txBody>
              <a:bodyPr/>
              <a:lstStyle/>
              <a:p>
                <a:r>
                  <a:rPr lang="en-BE" dirty="0"/>
                  <a:t>Virtual Parallel Channel Gain Distributions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oMath>
                </a14:m>
                <a:endParaRPr lang="en-BE" dirty="0"/>
              </a:p>
            </p:txBody>
          </p:sp>
        </mc:Choice>
        <mc:Fallback xmlns="">
          <p:sp>
            <p:nvSpPr>
              <p:cNvPr id="3" name="Text Placeholder 2">
                <a:extLst>
                  <a:ext uri="{FF2B5EF4-FFF2-40B4-BE49-F238E27FC236}">
                    <a16:creationId xmlns:a16="http://schemas.microsoft.com/office/drawing/2014/main" id="{D522A640-4484-20DC-4D5B-E399B892E8D5}"/>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1164" t="-13636" b="-22727"/>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D5EC69EC-564B-F7A4-4F11-A0D2036F8304}"/>
              </a:ext>
            </a:extLst>
          </p:cNvPr>
          <p:cNvSpPr>
            <a:spLocks noGrp="1"/>
          </p:cNvSpPr>
          <p:nvPr>
            <p:ph type="title"/>
          </p:nvPr>
        </p:nvSpPr>
        <p:spPr/>
        <p:txBody>
          <a:bodyPr>
            <a:noAutofit/>
          </a:bodyPr>
          <a:lstStyle/>
          <a:p>
            <a:r>
              <a:rPr lang="en-BE" sz="3800" dirty="0"/>
              <a:t>Precoding Techniques –  Comparison (Fully Loaded System 2 UTs)</a:t>
            </a:r>
          </a:p>
        </p:txBody>
      </p:sp>
      <p:pic>
        <p:nvPicPr>
          <p:cNvPr id="2" name="Picture 1">
            <a:extLst>
              <a:ext uri="{FF2B5EF4-FFF2-40B4-BE49-F238E27FC236}">
                <a16:creationId xmlns:a16="http://schemas.microsoft.com/office/drawing/2014/main" id="{FC60363D-06A6-368B-D07E-C3793DA99AD9}"/>
              </a:ext>
            </a:extLst>
          </p:cNvPr>
          <p:cNvPicPr>
            <a:picLocks noChangeAspect="1"/>
          </p:cNvPicPr>
          <p:nvPr/>
        </p:nvPicPr>
        <p:blipFill>
          <a:blip r:embed="rId3"/>
          <a:stretch>
            <a:fillRect/>
          </a:stretch>
        </p:blipFill>
        <p:spPr>
          <a:xfrm>
            <a:off x="4184302" y="2413451"/>
            <a:ext cx="3823396" cy="2477130"/>
          </a:xfrm>
          <a:prstGeom prst="rect">
            <a:avLst/>
          </a:prstGeom>
        </p:spPr>
      </p:pic>
      <p:pic>
        <p:nvPicPr>
          <p:cNvPr id="5" name="Picture 4">
            <a:extLst>
              <a:ext uri="{FF2B5EF4-FFF2-40B4-BE49-F238E27FC236}">
                <a16:creationId xmlns:a16="http://schemas.microsoft.com/office/drawing/2014/main" id="{27955D2B-3131-48EB-05D4-E54FCCC5733E}"/>
              </a:ext>
            </a:extLst>
          </p:cNvPr>
          <p:cNvPicPr>
            <a:picLocks noChangeAspect="1"/>
          </p:cNvPicPr>
          <p:nvPr/>
        </p:nvPicPr>
        <p:blipFill>
          <a:blip r:embed="rId4"/>
          <a:stretch>
            <a:fillRect/>
          </a:stretch>
        </p:blipFill>
        <p:spPr>
          <a:xfrm>
            <a:off x="176339" y="2413451"/>
            <a:ext cx="3823396" cy="2477130"/>
          </a:xfrm>
          <a:prstGeom prst="rect">
            <a:avLst/>
          </a:prstGeom>
        </p:spPr>
      </p:pic>
      <p:pic>
        <p:nvPicPr>
          <p:cNvPr id="6" name="Picture 5">
            <a:extLst>
              <a:ext uri="{FF2B5EF4-FFF2-40B4-BE49-F238E27FC236}">
                <a16:creationId xmlns:a16="http://schemas.microsoft.com/office/drawing/2014/main" id="{57806405-EF49-8EBB-637D-4C45FEE3E13B}"/>
              </a:ext>
            </a:extLst>
          </p:cNvPr>
          <p:cNvPicPr>
            <a:picLocks noChangeAspect="1"/>
          </p:cNvPicPr>
          <p:nvPr/>
        </p:nvPicPr>
        <p:blipFill>
          <a:blip r:embed="rId5"/>
          <a:stretch>
            <a:fillRect/>
          </a:stretch>
        </p:blipFill>
        <p:spPr>
          <a:xfrm>
            <a:off x="8192265" y="2413451"/>
            <a:ext cx="3823396" cy="2477130"/>
          </a:xfrm>
          <a:prstGeom prst="rect">
            <a:avLst/>
          </a:prstGeom>
        </p:spPr>
      </p:pic>
      <p:sp>
        <p:nvSpPr>
          <p:cNvPr id="7" name="TextBox 6">
            <a:extLst>
              <a:ext uri="{FF2B5EF4-FFF2-40B4-BE49-F238E27FC236}">
                <a16:creationId xmlns:a16="http://schemas.microsoft.com/office/drawing/2014/main" id="{EB57A478-F3FF-16D1-3E3C-AB83BF242B86}"/>
              </a:ext>
            </a:extLst>
          </p:cNvPr>
          <p:cNvSpPr txBox="1"/>
          <p:nvPr/>
        </p:nvSpPr>
        <p:spPr>
          <a:xfrm>
            <a:off x="1651331" y="2044119"/>
            <a:ext cx="1180131" cy="369332"/>
          </a:xfrm>
          <a:prstGeom prst="rect">
            <a:avLst/>
          </a:prstGeom>
          <a:noFill/>
        </p:spPr>
        <p:txBody>
          <a:bodyPr wrap="none" rtlCol="0">
            <a:spAutoFit/>
          </a:bodyPr>
          <a:lstStyle/>
          <a:p>
            <a:pPr algn="ctr"/>
            <a:r>
              <a:rPr lang="en-BE" dirty="0"/>
              <a:t>Zero-Forcing</a:t>
            </a:r>
          </a:p>
        </p:txBody>
      </p:sp>
      <p:sp>
        <p:nvSpPr>
          <p:cNvPr id="8" name="TextBox 7">
            <a:extLst>
              <a:ext uri="{FF2B5EF4-FFF2-40B4-BE49-F238E27FC236}">
                <a16:creationId xmlns:a16="http://schemas.microsoft.com/office/drawing/2014/main" id="{9907AC08-EA78-4CA6-73C8-4009A64639BC}"/>
              </a:ext>
            </a:extLst>
          </p:cNvPr>
          <p:cNvSpPr txBox="1"/>
          <p:nvPr/>
        </p:nvSpPr>
        <p:spPr>
          <a:xfrm>
            <a:off x="5022964" y="2044119"/>
            <a:ext cx="2428870" cy="369332"/>
          </a:xfrm>
          <a:prstGeom prst="rect">
            <a:avLst/>
          </a:prstGeom>
          <a:noFill/>
        </p:spPr>
        <p:txBody>
          <a:bodyPr wrap="none" rtlCol="0">
            <a:spAutoFit/>
          </a:bodyPr>
          <a:lstStyle/>
          <a:p>
            <a:pPr algn="ctr"/>
            <a:r>
              <a:rPr lang="en-BE" dirty="0"/>
              <a:t>Zero-Forcing + LSV Combiner</a:t>
            </a:r>
          </a:p>
        </p:txBody>
      </p:sp>
      <p:sp>
        <p:nvSpPr>
          <p:cNvPr id="9" name="TextBox 8">
            <a:extLst>
              <a:ext uri="{FF2B5EF4-FFF2-40B4-BE49-F238E27FC236}">
                <a16:creationId xmlns:a16="http://schemas.microsoft.com/office/drawing/2014/main" id="{432CBB0F-8352-8F9B-C891-FD5D8FC97D4B}"/>
              </a:ext>
            </a:extLst>
          </p:cNvPr>
          <p:cNvSpPr txBox="1"/>
          <p:nvPr/>
        </p:nvSpPr>
        <p:spPr>
          <a:xfrm>
            <a:off x="9288274" y="2044119"/>
            <a:ext cx="1890261" cy="369332"/>
          </a:xfrm>
          <a:prstGeom prst="rect">
            <a:avLst/>
          </a:prstGeom>
          <a:noFill/>
        </p:spPr>
        <p:txBody>
          <a:bodyPr wrap="none" rtlCol="0">
            <a:spAutoFit/>
          </a:bodyPr>
          <a:lstStyle/>
          <a:p>
            <a:pPr algn="ctr"/>
            <a:r>
              <a:rPr lang="en-BE" dirty="0"/>
              <a:t>Block Diagonalization</a:t>
            </a:r>
          </a:p>
        </p:txBody>
      </p:sp>
    </p:spTree>
    <p:extLst>
      <p:ext uri="{BB962C8B-B14F-4D97-AF65-F5344CB8AC3E}">
        <p14:creationId xmlns:p14="http://schemas.microsoft.com/office/powerpoint/2010/main" val="268948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230D-B840-0C41-780A-241920943C3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5AAF624-E738-AFEF-F880-CAD450BE0230}"/>
              </a:ext>
            </a:extLst>
          </p:cNvPr>
          <p:cNvSpPr>
            <a:spLocks noGrp="1"/>
          </p:cNvSpPr>
          <p:nvPr>
            <p:ph type="body" sz="quarter" idx="10"/>
          </p:nvPr>
        </p:nvSpPr>
        <p:spPr/>
        <p:txBody>
          <a:bodyPr/>
          <a:lstStyle/>
          <a:p>
            <a:r>
              <a:rPr lang="en-BE" dirty="0"/>
              <a:t>Fixed Bit Loader (64-QAM)</a:t>
            </a:r>
          </a:p>
          <a:p>
            <a:endParaRPr lang="en-BE" dirty="0"/>
          </a:p>
        </p:txBody>
      </p:sp>
      <p:sp>
        <p:nvSpPr>
          <p:cNvPr id="4" name="Title 3">
            <a:extLst>
              <a:ext uri="{FF2B5EF4-FFF2-40B4-BE49-F238E27FC236}">
                <a16:creationId xmlns:a16="http://schemas.microsoft.com/office/drawing/2014/main" id="{59F620E4-2B69-F3DE-3CFB-258B68CF45B1}"/>
              </a:ext>
            </a:extLst>
          </p:cNvPr>
          <p:cNvSpPr>
            <a:spLocks noGrp="1"/>
          </p:cNvSpPr>
          <p:nvPr>
            <p:ph type="title"/>
          </p:nvPr>
        </p:nvSpPr>
        <p:spPr/>
        <p:txBody>
          <a:bodyPr>
            <a:normAutofit/>
          </a:bodyPr>
          <a:lstStyle/>
          <a:p>
            <a:r>
              <a:rPr lang="en-BE" sz="3800" dirty="0"/>
              <a:t>Precoding Techniques –  Comparison (Fully Loaded System 2 UTs)</a:t>
            </a:r>
          </a:p>
        </p:txBody>
      </p:sp>
      <p:sp>
        <p:nvSpPr>
          <p:cNvPr id="11" name="TextBox 10">
            <a:extLst>
              <a:ext uri="{FF2B5EF4-FFF2-40B4-BE49-F238E27FC236}">
                <a16:creationId xmlns:a16="http://schemas.microsoft.com/office/drawing/2014/main" id="{F710AE36-6F31-FC7F-EBF0-07E0706BA57A}"/>
              </a:ext>
            </a:extLst>
          </p:cNvPr>
          <p:cNvSpPr txBox="1"/>
          <p:nvPr/>
        </p:nvSpPr>
        <p:spPr>
          <a:xfrm>
            <a:off x="3026505" y="1856388"/>
            <a:ext cx="787395" cy="338554"/>
          </a:xfrm>
          <a:prstGeom prst="rect">
            <a:avLst/>
          </a:prstGeom>
          <a:noFill/>
        </p:spPr>
        <p:txBody>
          <a:bodyPr wrap="none" rtlCol="0">
            <a:spAutoFit/>
          </a:bodyPr>
          <a:lstStyle/>
          <a:p>
            <a:r>
              <a:rPr lang="en-BE" sz="1600" dirty="0"/>
              <a:t>R vs SNR</a:t>
            </a:r>
          </a:p>
        </p:txBody>
      </p:sp>
      <p:sp>
        <p:nvSpPr>
          <p:cNvPr id="13" name="TextBox 12">
            <a:extLst>
              <a:ext uri="{FF2B5EF4-FFF2-40B4-BE49-F238E27FC236}">
                <a16:creationId xmlns:a16="http://schemas.microsoft.com/office/drawing/2014/main" id="{D2676BC2-1DD6-86F8-A487-784DD740E99E}"/>
              </a:ext>
            </a:extLst>
          </p:cNvPr>
          <p:cNvSpPr txBox="1"/>
          <p:nvPr/>
        </p:nvSpPr>
        <p:spPr>
          <a:xfrm>
            <a:off x="8378102" y="1896502"/>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447F7FDC-190A-C24B-C296-D6225BF66AE0}"/>
              </a:ext>
            </a:extLst>
          </p:cNvPr>
          <p:cNvPicPr>
            <a:picLocks noChangeAspect="1"/>
          </p:cNvPicPr>
          <p:nvPr/>
        </p:nvPicPr>
        <p:blipFill>
          <a:blip r:embed="rId2"/>
          <a:stretch>
            <a:fillRect/>
          </a:stretch>
        </p:blipFill>
        <p:spPr>
          <a:xfrm>
            <a:off x="959110" y="2194941"/>
            <a:ext cx="4917815" cy="4098180"/>
          </a:xfrm>
          <a:prstGeom prst="rect">
            <a:avLst/>
          </a:prstGeom>
        </p:spPr>
      </p:pic>
      <p:pic>
        <p:nvPicPr>
          <p:cNvPr id="7" name="Picture 6">
            <a:extLst>
              <a:ext uri="{FF2B5EF4-FFF2-40B4-BE49-F238E27FC236}">
                <a16:creationId xmlns:a16="http://schemas.microsoft.com/office/drawing/2014/main" id="{F98BF22C-DE6D-6081-F957-F914AC3109A8}"/>
              </a:ext>
            </a:extLst>
          </p:cNvPr>
          <p:cNvPicPr>
            <a:picLocks noChangeAspect="1"/>
          </p:cNvPicPr>
          <p:nvPr/>
        </p:nvPicPr>
        <p:blipFill>
          <a:blip r:embed="rId3"/>
          <a:stretch>
            <a:fillRect/>
          </a:stretch>
        </p:blipFill>
        <p:spPr>
          <a:xfrm>
            <a:off x="6402659" y="2194941"/>
            <a:ext cx="4917815" cy="4098180"/>
          </a:xfrm>
          <a:prstGeom prst="rect">
            <a:avLst/>
          </a:prstGeom>
        </p:spPr>
      </p:pic>
    </p:spTree>
    <p:extLst>
      <p:ext uri="{BB962C8B-B14F-4D97-AF65-F5344CB8AC3E}">
        <p14:creationId xmlns:p14="http://schemas.microsoft.com/office/powerpoint/2010/main" val="1161922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DD3A-6ADB-D1A4-F21C-1D5B1FEA76A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5B0F278-9E1B-11FD-E537-14447B5916F1}"/>
              </a:ext>
            </a:extLst>
          </p:cNvPr>
          <p:cNvSpPr>
            <a:spLocks noGrp="1"/>
          </p:cNvSpPr>
          <p:nvPr>
            <p:ph type="body" sz="quarter" idx="10"/>
          </p:nvPr>
        </p:nvSpPr>
        <p:spPr/>
        <p:txBody>
          <a:bodyPr/>
          <a:lstStyle/>
          <a:p>
            <a:r>
              <a:rPr lang="en-BE" dirty="0"/>
              <a:t>Adaptive Bit Loader</a:t>
            </a:r>
          </a:p>
        </p:txBody>
      </p:sp>
      <p:sp>
        <p:nvSpPr>
          <p:cNvPr id="4" name="Title 3">
            <a:extLst>
              <a:ext uri="{FF2B5EF4-FFF2-40B4-BE49-F238E27FC236}">
                <a16:creationId xmlns:a16="http://schemas.microsoft.com/office/drawing/2014/main" id="{1CD3424A-72C5-4450-EF63-C444E9734D86}"/>
              </a:ext>
            </a:extLst>
          </p:cNvPr>
          <p:cNvSpPr>
            <a:spLocks noGrp="1"/>
          </p:cNvSpPr>
          <p:nvPr>
            <p:ph type="title"/>
          </p:nvPr>
        </p:nvSpPr>
        <p:spPr/>
        <p:txBody>
          <a:bodyPr>
            <a:normAutofit/>
          </a:bodyPr>
          <a:lstStyle/>
          <a:p>
            <a:r>
              <a:rPr lang="en-BE" sz="3800" dirty="0"/>
              <a:t>Precoding Techniques –  Comparison (Fully Loaded System 2 UTs)</a:t>
            </a:r>
          </a:p>
        </p:txBody>
      </p:sp>
      <p:sp>
        <p:nvSpPr>
          <p:cNvPr id="15" name="TextBox 14">
            <a:extLst>
              <a:ext uri="{FF2B5EF4-FFF2-40B4-BE49-F238E27FC236}">
                <a16:creationId xmlns:a16="http://schemas.microsoft.com/office/drawing/2014/main" id="{AB9964D7-854F-BCFD-7B75-63CF520A7B99}"/>
              </a:ext>
            </a:extLst>
          </p:cNvPr>
          <p:cNvSpPr txBox="1"/>
          <p:nvPr/>
        </p:nvSpPr>
        <p:spPr>
          <a:xfrm>
            <a:off x="1908191" y="2090981"/>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4DF3E93B-25C1-09D8-C5B3-8E2FF18CC6DE}"/>
              </a:ext>
            </a:extLst>
          </p:cNvPr>
          <p:cNvSpPr txBox="1"/>
          <p:nvPr/>
        </p:nvSpPr>
        <p:spPr>
          <a:xfrm>
            <a:off x="5660345" y="2103507"/>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199E46B2-421D-1648-C16F-30B59D98ED99}"/>
              </a:ext>
            </a:extLst>
          </p:cNvPr>
          <p:cNvSpPr txBox="1"/>
          <p:nvPr/>
        </p:nvSpPr>
        <p:spPr>
          <a:xfrm>
            <a:off x="9772330" y="2108513"/>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4C187185-3C3D-FC6C-4B49-FFC8DBE47D00}"/>
              </a:ext>
            </a:extLst>
          </p:cNvPr>
          <p:cNvPicPr>
            <a:picLocks noChangeAspect="1"/>
          </p:cNvPicPr>
          <p:nvPr/>
        </p:nvPicPr>
        <p:blipFill>
          <a:blip r:embed="rId2"/>
          <a:stretch>
            <a:fillRect/>
          </a:stretch>
        </p:blipFill>
        <p:spPr>
          <a:xfrm>
            <a:off x="215806" y="2394436"/>
            <a:ext cx="3920129" cy="3266774"/>
          </a:xfrm>
          <a:prstGeom prst="rect">
            <a:avLst/>
          </a:prstGeom>
        </p:spPr>
      </p:pic>
      <p:pic>
        <p:nvPicPr>
          <p:cNvPr id="7" name="Picture 6">
            <a:extLst>
              <a:ext uri="{FF2B5EF4-FFF2-40B4-BE49-F238E27FC236}">
                <a16:creationId xmlns:a16="http://schemas.microsoft.com/office/drawing/2014/main" id="{09CC9ADA-7AB5-58E2-50D9-21472D4829AB}"/>
              </a:ext>
            </a:extLst>
          </p:cNvPr>
          <p:cNvPicPr>
            <a:picLocks noChangeAspect="1"/>
          </p:cNvPicPr>
          <p:nvPr/>
        </p:nvPicPr>
        <p:blipFill>
          <a:blip r:embed="rId3"/>
          <a:stretch>
            <a:fillRect/>
          </a:stretch>
        </p:blipFill>
        <p:spPr>
          <a:xfrm>
            <a:off x="4135935" y="2394436"/>
            <a:ext cx="3920129" cy="3266774"/>
          </a:xfrm>
          <a:prstGeom prst="rect">
            <a:avLst/>
          </a:prstGeom>
        </p:spPr>
      </p:pic>
      <p:pic>
        <p:nvPicPr>
          <p:cNvPr id="9" name="Picture 8">
            <a:extLst>
              <a:ext uri="{FF2B5EF4-FFF2-40B4-BE49-F238E27FC236}">
                <a16:creationId xmlns:a16="http://schemas.microsoft.com/office/drawing/2014/main" id="{A4C5DAF5-7D13-FEDA-05DB-28B8A2F6E19D}"/>
              </a:ext>
            </a:extLst>
          </p:cNvPr>
          <p:cNvPicPr>
            <a:picLocks noChangeAspect="1"/>
          </p:cNvPicPr>
          <p:nvPr/>
        </p:nvPicPr>
        <p:blipFill>
          <a:blip r:embed="rId4"/>
          <a:stretch>
            <a:fillRect/>
          </a:stretch>
        </p:blipFill>
        <p:spPr>
          <a:xfrm>
            <a:off x="8056064" y="2394436"/>
            <a:ext cx="3920129" cy="3266774"/>
          </a:xfrm>
          <a:prstGeom prst="rect">
            <a:avLst/>
          </a:prstGeom>
        </p:spPr>
      </p:pic>
    </p:spTree>
    <p:extLst>
      <p:ext uri="{BB962C8B-B14F-4D97-AF65-F5344CB8AC3E}">
        <p14:creationId xmlns:p14="http://schemas.microsoft.com/office/powerpoint/2010/main" val="2841176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C9DD5-191B-F509-7927-144253F2391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8634802-F5DF-3F08-B2FC-5D98B7695E73}"/>
                  </a:ext>
                </a:extLst>
              </p:cNvPr>
              <p:cNvSpPr>
                <a:spLocks noGrp="1"/>
              </p:cNvSpPr>
              <p:nvPr>
                <p:ph type="body" sz="quarter" idx="10"/>
              </p:nvPr>
            </p:nvSpPr>
            <p:spPr/>
            <p:txBody>
              <a:bodyPr/>
              <a:lstStyle/>
              <a:p>
                <a:r>
                  <a:rPr lang="en-BE" dirty="0"/>
                  <a:t>Virtual Parallel Channel Gain Distributions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oMath>
                </a14:m>
                <a:endParaRPr lang="en-BE" dirty="0"/>
              </a:p>
            </p:txBody>
          </p:sp>
        </mc:Choice>
        <mc:Fallback xmlns="">
          <p:sp>
            <p:nvSpPr>
              <p:cNvPr id="3" name="Text Placeholder 2">
                <a:extLst>
                  <a:ext uri="{FF2B5EF4-FFF2-40B4-BE49-F238E27FC236}">
                    <a16:creationId xmlns:a16="http://schemas.microsoft.com/office/drawing/2014/main" id="{C8634802-F5DF-3F08-B2FC-5D98B7695E73}"/>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1164" t="-13636" b="-22727"/>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32E655B8-4DEC-E963-A192-5BCC817350B6}"/>
              </a:ext>
            </a:extLst>
          </p:cNvPr>
          <p:cNvSpPr>
            <a:spLocks noGrp="1"/>
          </p:cNvSpPr>
          <p:nvPr>
            <p:ph type="title"/>
          </p:nvPr>
        </p:nvSpPr>
        <p:spPr/>
        <p:txBody>
          <a:bodyPr>
            <a:normAutofit/>
          </a:bodyPr>
          <a:lstStyle/>
          <a:p>
            <a:r>
              <a:rPr lang="en-BE" sz="3800" dirty="0"/>
              <a:t>Precoding Techniques –  Comparison (Fully Loaded System 4 UTs)</a:t>
            </a:r>
          </a:p>
        </p:txBody>
      </p:sp>
      <p:sp>
        <p:nvSpPr>
          <p:cNvPr id="7" name="TextBox 6">
            <a:extLst>
              <a:ext uri="{FF2B5EF4-FFF2-40B4-BE49-F238E27FC236}">
                <a16:creationId xmlns:a16="http://schemas.microsoft.com/office/drawing/2014/main" id="{3C34297D-253E-7DE1-A224-84DC39DBB120}"/>
              </a:ext>
            </a:extLst>
          </p:cNvPr>
          <p:cNvSpPr txBox="1"/>
          <p:nvPr/>
        </p:nvSpPr>
        <p:spPr>
          <a:xfrm>
            <a:off x="1651331" y="2044119"/>
            <a:ext cx="1180131" cy="369332"/>
          </a:xfrm>
          <a:prstGeom prst="rect">
            <a:avLst/>
          </a:prstGeom>
          <a:noFill/>
        </p:spPr>
        <p:txBody>
          <a:bodyPr wrap="none" rtlCol="0">
            <a:spAutoFit/>
          </a:bodyPr>
          <a:lstStyle/>
          <a:p>
            <a:pPr algn="ctr"/>
            <a:r>
              <a:rPr lang="en-BE" dirty="0"/>
              <a:t>Zero-Forcing</a:t>
            </a:r>
          </a:p>
        </p:txBody>
      </p:sp>
      <p:sp>
        <p:nvSpPr>
          <p:cNvPr id="8" name="TextBox 7">
            <a:extLst>
              <a:ext uri="{FF2B5EF4-FFF2-40B4-BE49-F238E27FC236}">
                <a16:creationId xmlns:a16="http://schemas.microsoft.com/office/drawing/2014/main" id="{B5997FCC-5567-D31E-CEFA-89AFFD508A75}"/>
              </a:ext>
            </a:extLst>
          </p:cNvPr>
          <p:cNvSpPr txBox="1"/>
          <p:nvPr/>
        </p:nvSpPr>
        <p:spPr>
          <a:xfrm>
            <a:off x="5022964" y="2044119"/>
            <a:ext cx="2428870" cy="369332"/>
          </a:xfrm>
          <a:prstGeom prst="rect">
            <a:avLst/>
          </a:prstGeom>
          <a:noFill/>
        </p:spPr>
        <p:txBody>
          <a:bodyPr wrap="none" rtlCol="0">
            <a:spAutoFit/>
          </a:bodyPr>
          <a:lstStyle/>
          <a:p>
            <a:pPr algn="ctr"/>
            <a:r>
              <a:rPr lang="en-BE" dirty="0"/>
              <a:t>Zero-Forcing + LSV Combiner</a:t>
            </a:r>
          </a:p>
        </p:txBody>
      </p:sp>
      <p:sp>
        <p:nvSpPr>
          <p:cNvPr id="9" name="TextBox 8">
            <a:extLst>
              <a:ext uri="{FF2B5EF4-FFF2-40B4-BE49-F238E27FC236}">
                <a16:creationId xmlns:a16="http://schemas.microsoft.com/office/drawing/2014/main" id="{096923FD-EB5D-2B3D-686D-A1E35DAE3AD8}"/>
              </a:ext>
            </a:extLst>
          </p:cNvPr>
          <p:cNvSpPr txBox="1"/>
          <p:nvPr/>
        </p:nvSpPr>
        <p:spPr>
          <a:xfrm>
            <a:off x="9288274" y="2044119"/>
            <a:ext cx="1890261" cy="369332"/>
          </a:xfrm>
          <a:prstGeom prst="rect">
            <a:avLst/>
          </a:prstGeom>
          <a:noFill/>
        </p:spPr>
        <p:txBody>
          <a:bodyPr wrap="none" rtlCol="0">
            <a:spAutoFit/>
          </a:bodyPr>
          <a:lstStyle/>
          <a:p>
            <a:pPr algn="ctr"/>
            <a:r>
              <a:rPr lang="en-BE" dirty="0"/>
              <a:t>Block Diagonalization</a:t>
            </a:r>
          </a:p>
        </p:txBody>
      </p:sp>
      <p:pic>
        <p:nvPicPr>
          <p:cNvPr id="15" name="Picture 14">
            <a:extLst>
              <a:ext uri="{FF2B5EF4-FFF2-40B4-BE49-F238E27FC236}">
                <a16:creationId xmlns:a16="http://schemas.microsoft.com/office/drawing/2014/main" id="{29055772-2061-4084-3488-0E46E6FAD2E2}"/>
              </a:ext>
            </a:extLst>
          </p:cNvPr>
          <p:cNvPicPr>
            <a:picLocks noChangeAspect="1"/>
          </p:cNvPicPr>
          <p:nvPr/>
        </p:nvPicPr>
        <p:blipFill>
          <a:blip r:embed="rId3"/>
          <a:stretch>
            <a:fillRect/>
          </a:stretch>
        </p:blipFill>
        <p:spPr>
          <a:xfrm>
            <a:off x="55238" y="2413451"/>
            <a:ext cx="3921864" cy="2540926"/>
          </a:xfrm>
          <a:prstGeom prst="rect">
            <a:avLst/>
          </a:prstGeom>
        </p:spPr>
      </p:pic>
      <p:pic>
        <p:nvPicPr>
          <p:cNvPr id="17" name="Picture 16">
            <a:extLst>
              <a:ext uri="{FF2B5EF4-FFF2-40B4-BE49-F238E27FC236}">
                <a16:creationId xmlns:a16="http://schemas.microsoft.com/office/drawing/2014/main" id="{D6E4F82E-ED59-4274-4861-4A961C8631CC}"/>
              </a:ext>
            </a:extLst>
          </p:cNvPr>
          <p:cNvPicPr>
            <a:picLocks noChangeAspect="1"/>
          </p:cNvPicPr>
          <p:nvPr/>
        </p:nvPicPr>
        <p:blipFill>
          <a:blip r:embed="rId4"/>
          <a:stretch>
            <a:fillRect/>
          </a:stretch>
        </p:blipFill>
        <p:spPr>
          <a:xfrm>
            <a:off x="4135068" y="2389778"/>
            <a:ext cx="3921864" cy="2564599"/>
          </a:xfrm>
          <a:prstGeom prst="rect">
            <a:avLst/>
          </a:prstGeom>
        </p:spPr>
      </p:pic>
      <p:pic>
        <p:nvPicPr>
          <p:cNvPr id="19" name="Picture 18">
            <a:extLst>
              <a:ext uri="{FF2B5EF4-FFF2-40B4-BE49-F238E27FC236}">
                <a16:creationId xmlns:a16="http://schemas.microsoft.com/office/drawing/2014/main" id="{BE5C49F7-3FB7-627A-46E6-42DA8CC649BC}"/>
              </a:ext>
            </a:extLst>
          </p:cNvPr>
          <p:cNvPicPr>
            <a:picLocks noChangeAspect="1"/>
          </p:cNvPicPr>
          <p:nvPr/>
        </p:nvPicPr>
        <p:blipFill>
          <a:blip r:embed="rId5"/>
          <a:stretch>
            <a:fillRect/>
          </a:stretch>
        </p:blipFill>
        <p:spPr>
          <a:xfrm>
            <a:off x="8214898" y="2401614"/>
            <a:ext cx="3977101" cy="2540926"/>
          </a:xfrm>
          <a:prstGeom prst="rect">
            <a:avLst/>
          </a:prstGeom>
        </p:spPr>
      </p:pic>
    </p:spTree>
    <p:extLst>
      <p:ext uri="{BB962C8B-B14F-4D97-AF65-F5344CB8AC3E}">
        <p14:creationId xmlns:p14="http://schemas.microsoft.com/office/powerpoint/2010/main" val="2271556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8699-1A5F-FA9F-AA11-72D26778AD8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32BCA74-71A1-DE62-38F3-7924E71F5028}"/>
              </a:ext>
            </a:extLst>
          </p:cNvPr>
          <p:cNvSpPr>
            <a:spLocks noGrp="1"/>
          </p:cNvSpPr>
          <p:nvPr>
            <p:ph type="body" sz="quarter" idx="10"/>
          </p:nvPr>
        </p:nvSpPr>
        <p:spPr/>
        <p:txBody>
          <a:bodyPr/>
          <a:lstStyle/>
          <a:p>
            <a:r>
              <a:rPr lang="en-BE" dirty="0"/>
              <a:t>Fixed Bit Loader (64-QAM)</a:t>
            </a:r>
          </a:p>
          <a:p>
            <a:endParaRPr lang="en-BE" dirty="0"/>
          </a:p>
        </p:txBody>
      </p:sp>
      <p:sp>
        <p:nvSpPr>
          <p:cNvPr id="4" name="Title 3">
            <a:extLst>
              <a:ext uri="{FF2B5EF4-FFF2-40B4-BE49-F238E27FC236}">
                <a16:creationId xmlns:a16="http://schemas.microsoft.com/office/drawing/2014/main" id="{85A85A01-73C9-18B9-D1E7-DEFBB95DA5DC}"/>
              </a:ext>
            </a:extLst>
          </p:cNvPr>
          <p:cNvSpPr>
            <a:spLocks noGrp="1"/>
          </p:cNvSpPr>
          <p:nvPr>
            <p:ph type="title"/>
          </p:nvPr>
        </p:nvSpPr>
        <p:spPr/>
        <p:txBody>
          <a:bodyPr>
            <a:normAutofit/>
          </a:bodyPr>
          <a:lstStyle/>
          <a:p>
            <a:r>
              <a:rPr lang="en-BE" sz="3800" dirty="0"/>
              <a:t>Precoding Techniques –  Comparison (Fully Loaded System 4 UTs)</a:t>
            </a:r>
          </a:p>
        </p:txBody>
      </p:sp>
      <p:sp>
        <p:nvSpPr>
          <p:cNvPr id="11" name="TextBox 10">
            <a:extLst>
              <a:ext uri="{FF2B5EF4-FFF2-40B4-BE49-F238E27FC236}">
                <a16:creationId xmlns:a16="http://schemas.microsoft.com/office/drawing/2014/main" id="{F499F5D3-0276-72D2-F743-6DE16A2BEB0A}"/>
              </a:ext>
            </a:extLst>
          </p:cNvPr>
          <p:cNvSpPr txBox="1"/>
          <p:nvPr/>
        </p:nvSpPr>
        <p:spPr>
          <a:xfrm>
            <a:off x="3026505" y="1856388"/>
            <a:ext cx="787395" cy="338554"/>
          </a:xfrm>
          <a:prstGeom prst="rect">
            <a:avLst/>
          </a:prstGeom>
          <a:noFill/>
        </p:spPr>
        <p:txBody>
          <a:bodyPr wrap="none" rtlCol="0">
            <a:spAutoFit/>
          </a:bodyPr>
          <a:lstStyle/>
          <a:p>
            <a:r>
              <a:rPr lang="en-BE" sz="1600" dirty="0"/>
              <a:t>R vs SNR</a:t>
            </a:r>
          </a:p>
        </p:txBody>
      </p:sp>
      <p:sp>
        <p:nvSpPr>
          <p:cNvPr id="13" name="TextBox 12">
            <a:extLst>
              <a:ext uri="{FF2B5EF4-FFF2-40B4-BE49-F238E27FC236}">
                <a16:creationId xmlns:a16="http://schemas.microsoft.com/office/drawing/2014/main" id="{584308B5-E6D3-440E-9DA0-490BAA355E61}"/>
              </a:ext>
            </a:extLst>
          </p:cNvPr>
          <p:cNvSpPr txBox="1"/>
          <p:nvPr/>
        </p:nvSpPr>
        <p:spPr>
          <a:xfrm>
            <a:off x="8378102" y="1896502"/>
            <a:ext cx="966931" cy="338554"/>
          </a:xfrm>
          <a:prstGeom prst="rect">
            <a:avLst/>
          </a:prstGeom>
          <a:noFill/>
        </p:spPr>
        <p:txBody>
          <a:bodyPr wrap="none" rtlCol="0">
            <a:spAutoFit/>
          </a:bodyPr>
          <a:lstStyle/>
          <a:p>
            <a:r>
              <a:rPr lang="en-BE" sz="1600" dirty="0"/>
              <a:t>BER vs SNR</a:t>
            </a:r>
          </a:p>
        </p:txBody>
      </p:sp>
      <p:pic>
        <p:nvPicPr>
          <p:cNvPr id="15" name="Picture 14">
            <a:extLst>
              <a:ext uri="{FF2B5EF4-FFF2-40B4-BE49-F238E27FC236}">
                <a16:creationId xmlns:a16="http://schemas.microsoft.com/office/drawing/2014/main" id="{98E5D7E8-A92B-5362-BA66-0CD47590CB05}"/>
              </a:ext>
            </a:extLst>
          </p:cNvPr>
          <p:cNvPicPr>
            <a:picLocks noChangeAspect="1"/>
          </p:cNvPicPr>
          <p:nvPr/>
        </p:nvPicPr>
        <p:blipFill>
          <a:blip r:embed="rId2"/>
          <a:stretch>
            <a:fillRect/>
          </a:stretch>
        </p:blipFill>
        <p:spPr>
          <a:xfrm>
            <a:off x="6527855" y="2235056"/>
            <a:ext cx="4667423" cy="3889519"/>
          </a:xfrm>
          <a:prstGeom prst="rect">
            <a:avLst/>
          </a:prstGeom>
        </p:spPr>
      </p:pic>
      <p:pic>
        <p:nvPicPr>
          <p:cNvPr id="17" name="Picture 16">
            <a:extLst>
              <a:ext uri="{FF2B5EF4-FFF2-40B4-BE49-F238E27FC236}">
                <a16:creationId xmlns:a16="http://schemas.microsoft.com/office/drawing/2014/main" id="{24D501A9-6A03-F799-317A-5B49AAFE500F}"/>
              </a:ext>
            </a:extLst>
          </p:cNvPr>
          <p:cNvPicPr>
            <a:picLocks noChangeAspect="1"/>
          </p:cNvPicPr>
          <p:nvPr/>
        </p:nvPicPr>
        <p:blipFill>
          <a:blip r:embed="rId3"/>
          <a:stretch>
            <a:fillRect/>
          </a:stretch>
        </p:blipFill>
        <p:spPr>
          <a:xfrm>
            <a:off x="1080385" y="2235056"/>
            <a:ext cx="4667423" cy="3889519"/>
          </a:xfrm>
          <a:prstGeom prst="rect">
            <a:avLst/>
          </a:prstGeom>
        </p:spPr>
      </p:pic>
    </p:spTree>
    <p:extLst>
      <p:ext uri="{BB962C8B-B14F-4D97-AF65-F5344CB8AC3E}">
        <p14:creationId xmlns:p14="http://schemas.microsoft.com/office/powerpoint/2010/main" val="2173045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3F53-B34A-72D5-C8B7-D88CDBCB79D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434C7AB-3E8F-9678-7089-41D65C8F3B36}"/>
              </a:ext>
            </a:extLst>
          </p:cNvPr>
          <p:cNvSpPr>
            <a:spLocks noGrp="1"/>
          </p:cNvSpPr>
          <p:nvPr>
            <p:ph type="body" sz="quarter" idx="10"/>
          </p:nvPr>
        </p:nvSpPr>
        <p:spPr/>
        <p:txBody>
          <a:bodyPr/>
          <a:lstStyle/>
          <a:p>
            <a:r>
              <a:rPr lang="en-BE" dirty="0"/>
              <a:t>Adaptive Bit Loader</a:t>
            </a:r>
          </a:p>
        </p:txBody>
      </p:sp>
      <p:sp>
        <p:nvSpPr>
          <p:cNvPr id="4" name="Title 3">
            <a:extLst>
              <a:ext uri="{FF2B5EF4-FFF2-40B4-BE49-F238E27FC236}">
                <a16:creationId xmlns:a16="http://schemas.microsoft.com/office/drawing/2014/main" id="{BA583B62-E77C-0A8B-8591-AF275E9F293C}"/>
              </a:ext>
            </a:extLst>
          </p:cNvPr>
          <p:cNvSpPr>
            <a:spLocks noGrp="1"/>
          </p:cNvSpPr>
          <p:nvPr>
            <p:ph type="title"/>
          </p:nvPr>
        </p:nvSpPr>
        <p:spPr/>
        <p:txBody>
          <a:bodyPr>
            <a:normAutofit/>
          </a:bodyPr>
          <a:lstStyle/>
          <a:p>
            <a:r>
              <a:rPr lang="en-BE" sz="3800" dirty="0"/>
              <a:t>Precoding Techniques –  Comparison (Fully Loaded System 4 UTs)</a:t>
            </a:r>
          </a:p>
        </p:txBody>
      </p:sp>
      <p:sp>
        <p:nvSpPr>
          <p:cNvPr id="15" name="TextBox 14">
            <a:extLst>
              <a:ext uri="{FF2B5EF4-FFF2-40B4-BE49-F238E27FC236}">
                <a16:creationId xmlns:a16="http://schemas.microsoft.com/office/drawing/2014/main" id="{894B557A-803A-E437-EA89-3B09B0284DD2}"/>
              </a:ext>
            </a:extLst>
          </p:cNvPr>
          <p:cNvSpPr txBox="1"/>
          <p:nvPr/>
        </p:nvSpPr>
        <p:spPr>
          <a:xfrm>
            <a:off x="1673954" y="2164018"/>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32E81A23-F346-8BDB-FC6E-ADEEBD539487}"/>
              </a:ext>
            </a:extLst>
          </p:cNvPr>
          <p:cNvSpPr txBox="1"/>
          <p:nvPr/>
        </p:nvSpPr>
        <p:spPr>
          <a:xfrm>
            <a:off x="5621013" y="2164018"/>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EC157DF1-B176-7C57-6180-34177088D4CC}"/>
              </a:ext>
            </a:extLst>
          </p:cNvPr>
          <p:cNvSpPr txBox="1"/>
          <p:nvPr/>
        </p:nvSpPr>
        <p:spPr>
          <a:xfrm>
            <a:off x="9909443" y="2164018"/>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A45C229C-9324-44E8-8364-271FC3BA6027}"/>
              </a:ext>
            </a:extLst>
          </p:cNvPr>
          <p:cNvPicPr>
            <a:picLocks noChangeAspect="1"/>
          </p:cNvPicPr>
          <p:nvPr/>
        </p:nvPicPr>
        <p:blipFill>
          <a:blip r:embed="rId2"/>
          <a:stretch>
            <a:fillRect/>
          </a:stretch>
        </p:blipFill>
        <p:spPr>
          <a:xfrm>
            <a:off x="101623" y="2409843"/>
            <a:ext cx="4010952" cy="3342460"/>
          </a:xfrm>
          <a:prstGeom prst="rect">
            <a:avLst/>
          </a:prstGeom>
        </p:spPr>
      </p:pic>
      <p:pic>
        <p:nvPicPr>
          <p:cNvPr id="7" name="Picture 6">
            <a:extLst>
              <a:ext uri="{FF2B5EF4-FFF2-40B4-BE49-F238E27FC236}">
                <a16:creationId xmlns:a16="http://schemas.microsoft.com/office/drawing/2014/main" id="{BBD0F75F-64B8-F4B3-94DC-63D1D1FE3112}"/>
              </a:ext>
            </a:extLst>
          </p:cNvPr>
          <p:cNvPicPr>
            <a:picLocks noChangeAspect="1"/>
          </p:cNvPicPr>
          <p:nvPr/>
        </p:nvPicPr>
        <p:blipFill>
          <a:blip r:embed="rId3"/>
          <a:stretch>
            <a:fillRect/>
          </a:stretch>
        </p:blipFill>
        <p:spPr>
          <a:xfrm>
            <a:off x="4141335" y="2422369"/>
            <a:ext cx="4010952" cy="3342460"/>
          </a:xfrm>
          <a:prstGeom prst="rect">
            <a:avLst/>
          </a:prstGeom>
        </p:spPr>
      </p:pic>
      <p:pic>
        <p:nvPicPr>
          <p:cNvPr id="9" name="Picture 8">
            <a:extLst>
              <a:ext uri="{FF2B5EF4-FFF2-40B4-BE49-F238E27FC236}">
                <a16:creationId xmlns:a16="http://schemas.microsoft.com/office/drawing/2014/main" id="{B7625AD9-89B6-4F6E-9D3C-CFF0C95DC844}"/>
              </a:ext>
            </a:extLst>
          </p:cNvPr>
          <p:cNvPicPr>
            <a:picLocks noChangeAspect="1"/>
          </p:cNvPicPr>
          <p:nvPr/>
        </p:nvPicPr>
        <p:blipFill>
          <a:blip r:embed="rId4"/>
          <a:stretch>
            <a:fillRect/>
          </a:stretch>
        </p:blipFill>
        <p:spPr>
          <a:xfrm>
            <a:off x="8181048" y="2422369"/>
            <a:ext cx="4010952" cy="3342460"/>
          </a:xfrm>
          <a:prstGeom prst="rect">
            <a:avLst/>
          </a:prstGeom>
        </p:spPr>
      </p:pic>
    </p:spTree>
    <p:extLst>
      <p:ext uri="{BB962C8B-B14F-4D97-AF65-F5344CB8AC3E}">
        <p14:creationId xmlns:p14="http://schemas.microsoft.com/office/powerpoint/2010/main" val="663638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0F45894-7C78-2E8A-96AA-BCF322A5B99A}"/>
                  </a:ext>
                </a:extLst>
              </p:cNvPr>
              <p:cNvSpPr>
                <a:spLocks noGrp="1"/>
              </p:cNvSpPr>
              <p:nvPr>
                <p:ph type="body" sz="quarter" idx="10"/>
              </p:nvPr>
            </p:nvSpPr>
            <p:spPr/>
            <p:txBody>
              <a:bodyPr/>
              <a:lstStyle/>
              <a:p>
                <a:r>
                  <a:rPr lang="en-BE" dirty="0"/>
                  <a:t>Virtual Parallel Channel Gain Distributions </a:t>
                </a:r>
                <a14:m>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rPr>
                          <m:t>g</m:t>
                        </m:r>
                      </m:e>
                      <m:sub>
                        <m:r>
                          <m:rPr>
                            <m:sty m:val="p"/>
                          </m:rPr>
                          <a:rPr lang="en-US" i="1">
                            <a:latin typeface="Cambria Math" panose="02040503050406030204" pitchFamily="18" charset="0"/>
                          </a:rPr>
                          <m:t>k</m:t>
                        </m:r>
                        <m:r>
                          <a:rPr lang="en-US" i="1">
                            <a:latin typeface="Cambria Math" panose="02040503050406030204" pitchFamily="18" charset="0"/>
                          </a:rPr>
                          <m:t>,</m:t>
                        </m:r>
                        <m:r>
                          <m:rPr>
                            <m:sty m:val="p"/>
                          </m:rPr>
                          <a:rPr lang="en-US" i="1">
                            <a:latin typeface="Cambria Math" panose="02040503050406030204" pitchFamily="18" charset="0"/>
                          </a:rPr>
                          <m:t>nr</m:t>
                        </m:r>
                      </m:sub>
                    </m:sSub>
                  </m:oMath>
                </a14:m>
                <a:endParaRPr lang="en-BE" dirty="0"/>
              </a:p>
            </p:txBody>
          </p:sp>
        </mc:Choice>
        <mc:Fallback xmlns="">
          <p:sp>
            <p:nvSpPr>
              <p:cNvPr id="3" name="Text Placeholder 2">
                <a:extLst>
                  <a:ext uri="{FF2B5EF4-FFF2-40B4-BE49-F238E27FC236}">
                    <a16:creationId xmlns:a16="http://schemas.microsoft.com/office/drawing/2014/main" id="{B0F45894-7C78-2E8A-96AA-BCF322A5B99A}"/>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1164" t="-13636" b="-22727"/>
                </a:stretch>
              </a:blipFill>
            </p:spPr>
            <p:txBody>
              <a:bodyPr/>
              <a:lstStyle/>
              <a:p>
                <a:r>
                  <a:rPr lang="en-BE">
                    <a:noFill/>
                  </a:rPr>
                  <a:t> </a:t>
                </a:r>
              </a:p>
            </p:txBody>
          </p:sp>
        </mc:Fallback>
      </mc:AlternateContent>
      <p:sp>
        <p:nvSpPr>
          <p:cNvPr id="4" name="Title 3">
            <a:extLst>
              <a:ext uri="{FF2B5EF4-FFF2-40B4-BE49-F238E27FC236}">
                <a16:creationId xmlns:a16="http://schemas.microsoft.com/office/drawing/2014/main" id="{1BE2AAFF-603F-39FF-1945-FF44FAA61E00}"/>
              </a:ext>
            </a:extLst>
          </p:cNvPr>
          <p:cNvSpPr>
            <a:spLocks noGrp="1"/>
          </p:cNvSpPr>
          <p:nvPr>
            <p:ph type="title"/>
          </p:nvPr>
        </p:nvSpPr>
        <p:spPr/>
        <p:txBody>
          <a:bodyPr>
            <a:normAutofit fontScale="90000"/>
          </a:bodyPr>
          <a:lstStyle/>
          <a:p>
            <a:r>
              <a:rPr lang="en-BE" dirty="0"/>
              <a:t>Precoding Techniques –  Comparison (Underloaded System)</a:t>
            </a:r>
          </a:p>
        </p:txBody>
      </p:sp>
      <p:pic>
        <p:nvPicPr>
          <p:cNvPr id="5" name="Picture 4">
            <a:extLst>
              <a:ext uri="{FF2B5EF4-FFF2-40B4-BE49-F238E27FC236}">
                <a16:creationId xmlns:a16="http://schemas.microsoft.com/office/drawing/2014/main" id="{612AD435-E53F-8B2B-85B6-27467869354F}"/>
              </a:ext>
            </a:extLst>
          </p:cNvPr>
          <p:cNvPicPr>
            <a:picLocks noChangeAspect="1"/>
          </p:cNvPicPr>
          <p:nvPr/>
        </p:nvPicPr>
        <p:blipFill>
          <a:blip r:embed="rId4"/>
          <a:stretch>
            <a:fillRect/>
          </a:stretch>
        </p:blipFill>
        <p:spPr>
          <a:xfrm>
            <a:off x="111422" y="2449192"/>
            <a:ext cx="3996000" cy="2522963"/>
          </a:xfrm>
          <a:prstGeom prst="rect">
            <a:avLst/>
          </a:prstGeom>
        </p:spPr>
      </p:pic>
      <p:pic>
        <p:nvPicPr>
          <p:cNvPr id="6" name="Picture 5">
            <a:extLst>
              <a:ext uri="{FF2B5EF4-FFF2-40B4-BE49-F238E27FC236}">
                <a16:creationId xmlns:a16="http://schemas.microsoft.com/office/drawing/2014/main" id="{886D9B58-80B5-51B3-51FF-3251C8CF51AE}"/>
              </a:ext>
            </a:extLst>
          </p:cNvPr>
          <p:cNvPicPr>
            <a:picLocks noChangeAspect="1"/>
          </p:cNvPicPr>
          <p:nvPr/>
        </p:nvPicPr>
        <p:blipFill>
          <a:blip r:embed="rId5"/>
          <a:stretch>
            <a:fillRect/>
          </a:stretch>
        </p:blipFill>
        <p:spPr>
          <a:xfrm>
            <a:off x="4107424" y="2449192"/>
            <a:ext cx="3996001" cy="2568857"/>
          </a:xfrm>
          <a:prstGeom prst="rect">
            <a:avLst/>
          </a:prstGeom>
        </p:spPr>
      </p:pic>
      <p:pic>
        <p:nvPicPr>
          <p:cNvPr id="7" name="Picture 6">
            <a:extLst>
              <a:ext uri="{FF2B5EF4-FFF2-40B4-BE49-F238E27FC236}">
                <a16:creationId xmlns:a16="http://schemas.microsoft.com/office/drawing/2014/main" id="{F85D7D31-10DF-B683-63BE-E8809CAB88C5}"/>
              </a:ext>
            </a:extLst>
          </p:cNvPr>
          <p:cNvPicPr>
            <a:picLocks noChangeAspect="1"/>
          </p:cNvPicPr>
          <p:nvPr/>
        </p:nvPicPr>
        <p:blipFill>
          <a:blip r:embed="rId6"/>
          <a:stretch>
            <a:fillRect/>
          </a:stretch>
        </p:blipFill>
        <p:spPr>
          <a:xfrm>
            <a:off x="8103425" y="2449192"/>
            <a:ext cx="3996002" cy="2508213"/>
          </a:xfrm>
          <a:prstGeom prst="rect">
            <a:avLst/>
          </a:prstGeom>
        </p:spPr>
      </p:pic>
      <p:sp>
        <p:nvSpPr>
          <p:cNvPr id="8" name="TextBox 7">
            <a:extLst>
              <a:ext uri="{FF2B5EF4-FFF2-40B4-BE49-F238E27FC236}">
                <a16:creationId xmlns:a16="http://schemas.microsoft.com/office/drawing/2014/main" id="{DD6471E2-DEA0-08BD-AB21-956DFECE7088}"/>
              </a:ext>
            </a:extLst>
          </p:cNvPr>
          <p:cNvSpPr txBox="1"/>
          <p:nvPr/>
        </p:nvSpPr>
        <p:spPr>
          <a:xfrm>
            <a:off x="1519356" y="2079860"/>
            <a:ext cx="1180131" cy="369332"/>
          </a:xfrm>
          <a:prstGeom prst="rect">
            <a:avLst/>
          </a:prstGeom>
          <a:noFill/>
        </p:spPr>
        <p:txBody>
          <a:bodyPr wrap="none" rtlCol="0">
            <a:spAutoFit/>
          </a:bodyPr>
          <a:lstStyle/>
          <a:p>
            <a:pPr algn="ctr"/>
            <a:r>
              <a:rPr lang="en-BE" dirty="0"/>
              <a:t>Zero-Forcing</a:t>
            </a:r>
          </a:p>
        </p:txBody>
      </p:sp>
      <p:sp>
        <p:nvSpPr>
          <p:cNvPr id="9" name="TextBox 8">
            <a:extLst>
              <a:ext uri="{FF2B5EF4-FFF2-40B4-BE49-F238E27FC236}">
                <a16:creationId xmlns:a16="http://schemas.microsoft.com/office/drawing/2014/main" id="{83EA5C0F-9F44-71C1-B2E3-21ED201438A4}"/>
              </a:ext>
            </a:extLst>
          </p:cNvPr>
          <p:cNvSpPr txBox="1"/>
          <p:nvPr/>
        </p:nvSpPr>
        <p:spPr>
          <a:xfrm>
            <a:off x="4890989" y="2079860"/>
            <a:ext cx="2428870" cy="369332"/>
          </a:xfrm>
          <a:prstGeom prst="rect">
            <a:avLst/>
          </a:prstGeom>
          <a:noFill/>
        </p:spPr>
        <p:txBody>
          <a:bodyPr wrap="none" rtlCol="0">
            <a:spAutoFit/>
          </a:bodyPr>
          <a:lstStyle/>
          <a:p>
            <a:pPr algn="ctr"/>
            <a:r>
              <a:rPr lang="en-BE" dirty="0"/>
              <a:t>Zero-Forcing + LSV Combiner</a:t>
            </a:r>
          </a:p>
        </p:txBody>
      </p:sp>
      <p:sp>
        <p:nvSpPr>
          <p:cNvPr id="10" name="TextBox 9">
            <a:extLst>
              <a:ext uri="{FF2B5EF4-FFF2-40B4-BE49-F238E27FC236}">
                <a16:creationId xmlns:a16="http://schemas.microsoft.com/office/drawing/2014/main" id="{3F0140C7-9D74-24FF-C918-AF98457CE047}"/>
              </a:ext>
            </a:extLst>
          </p:cNvPr>
          <p:cNvSpPr txBox="1"/>
          <p:nvPr/>
        </p:nvSpPr>
        <p:spPr>
          <a:xfrm>
            <a:off x="9156299" y="2079860"/>
            <a:ext cx="1890261" cy="369332"/>
          </a:xfrm>
          <a:prstGeom prst="rect">
            <a:avLst/>
          </a:prstGeom>
          <a:noFill/>
        </p:spPr>
        <p:txBody>
          <a:bodyPr wrap="none" rtlCol="0">
            <a:spAutoFit/>
          </a:bodyPr>
          <a:lstStyle/>
          <a:p>
            <a:pPr algn="ctr"/>
            <a:r>
              <a:rPr lang="en-BE" dirty="0"/>
              <a:t>Block Diagonalization</a:t>
            </a:r>
          </a:p>
        </p:txBody>
      </p:sp>
    </p:spTree>
    <p:extLst>
      <p:ext uri="{BB962C8B-B14F-4D97-AF65-F5344CB8AC3E}">
        <p14:creationId xmlns:p14="http://schemas.microsoft.com/office/powerpoint/2010/main" val="468221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DAEBDF-5210-DED9-BE90-F874595EDC4A}"/>
              </a:ext>
            </a:extLst>
          </p:cNvPr>
          <p:cNvSpPr>
            <a:spLocks noGrp="1"/>
          </p:cNvSpPr>
          <p:nvPr>
            <p:ph type="body" sz="quarter" idx="10"/>
          </p:nvPr>
        </p:nvSpPr>
        <p:spPr/>
        <p:txBody>
          <a:bodyPr/>
          <a:lstStyle/>
          <a:p>
            <a:r>
              <a:rPr lang="en-BE" dirty="0"/>
              <a:t>Fixed Bit Loader (64-QAM)</a:t>
            </a:r>
          </a:p>
        </p:txBody>
      </p:sp>
      <p:sp>
        <p:nvSpPr>
          <p:cNvPr id="4" name="Title 3">
            <a:extLst>
              <a:ext uri="{FF2B5EF4-FFF2-40B4-BE49-F238E27FC236}">
                <a16:creationId xmlns:a16="http://schemas.microsoft.com/office/drawing/2014/main" id="{9D6D2BA9-8FA0-0929-78C0-6E72F1E37D27}"/>
              </a:ext>
            </a:extLst>
          </p:cNvPr>
          <p:cNvSpPr>
            <a:spLocks noGrp="1"/>
          </p:cNvSpPr>
          <p:nvPr>
            <p:ph type="title"/>
          </p:nvPr>
        </p:nvSpPr>
        <p:spPr>
          <a:xfrm>
            <a:off x="542608" y="250995"/>
            <a:ext cx="10893106" cy="893656"/>
          </a:xfrm>
        </p:spPr>
        <p:txBody>
          <a:bodyPr>
            <a:normAutofit fontScale="90000"/>
          </a:bodyPr>
          <a:lstStyle/>
          <a:p>
            <a:r>
              <a:rPr lang="en-BE" dirty="0"/>
              <a:t>Precoding Techniques –  Comparison (Underloaded System)</a:t>
            </a:r>
          </a:p>
        </p:txBody>
      </p:sp>
      <p:sp>
        <p:nvSpPr>
          <p:cNvPr id="11" name="TextBox 10">
            <a:extLst>
              <a:ext uri="{FF2B5EF4-FFF2-40B4-BE49-F238E27FC236}">
                <a16:creationId xmlns:a16="http://schemas.microsoft.com/office/drawing/2014/main" id="{508219FC-2F74-C299-50F8-E73F57FE621C}"/>
              </a:ext>
            </a:extLst>
          </p:cNvPr>
          <p:cNvSpPr txBox="1"/>
          <p:nvPr/>
        </p:nvSpPr>
        <p:spPr>
          <a:xfrm>
            <a:off x="3206043" y="1825470"/>
            <a:ext cx="787395" cy="338554"/>
          </a:xfrm>
          <a:prstGeom prst="rect">
            <a:avLst/>
          </a:prstGeom>
          <a:noFill/>
        </p:spPr>
        <p:txBody>
          <a:bodyPr wrap="none" rtlCol="0">
            <a:spAutoFit/>
          </a:bodyPr>
          <a:lstStyle/>
          <a:p>
            <a:r>
              <a:rPr lang="en-BE" sz="1600" dirty="0"/>
              <a:t>R vs SNR</a:t>
            </a:r>
          </a:p>
        </p:txBody>
      </p:sp>
      <p:sp>
        <p:nvSpPr>
          <p:cNvPr id="13" name="TextBox 12">
            <a:extLst>
              <a:ext uri="{FF2B5EF4-FFF2-40B4-BE49-F238E27FC236}">
                <a16:creationId xmlns:a16="http://schemas.microsoft.com/office/drawing/2014/main" id="{304B8DB7-2A8E-FD14-567D-06662486E540}"/>
              </a:ext>
            </a:extLst>
          </p:cNvPr>
          <p:cNvSpPr txBox="1"/>
          <p:nvPr/>
        </p:nvSpPr>
        <p:spPr>
          <a:xfrm>
            <a:off x="8198564" y="1825470"/>
            <a:ext cx="966931" cy="338554"/>
          </a:xfrm>
          <a:prstGeom prst="rect">
            <a:avLst/>
          </a:prstGeom>
          <a:noFill/>
        </p:spPr>
        <p:txBody>
          <a:bodyPr wrap="none" rtlCol="0">
            <a:spAutoFit/>
          </a:bodyPr>
          <a:lstStyle/>
          <a:p>
            <a:r>
              <a:rPr lang="en-BE" sz="1600" dirty="0"/>
              <a:t>BER vs SNR</a:t>
            </a:r>
          </a:p>
        </p:txBody>
      </p:sp>
      <p:pic>
        <p:nvPicPr>
          <p:cNvPr id="5" name="Picture 4">
            <a:extLst>
              <a:ext uri="{FF2B5EF4-FFF2-40B4-BE49-F238E27FC236}">
                <a16:creationId xmlns:a16="http://schemas.microsoft.com/office/drawing/2014/main" id="{ACD09A6A-F163-E76C-D45E-6161F7CC4A29}"/>
              </a:ext>
            </a:extLst>
          </p:cNvPr>
          <p:cNvPicPr>
            <a:picLocks noChangeAspect="1"/>
          </p:cNvPicPr>
          <p:nvPr/>
        </p:nvPicPr>
        <p:blipFill>
          <a:blip r:embed="rId2"/>
          <a:stretch>
            <a:fillRect/>
          </a:stretch>
        </p:blipFill>
        <p:spPr>
          <a:xfrm>
            <a:off x="6366232" y="2115823"/>
            <a:ext cx="4639307" cy="3866089"/>
          </a:xfrm>
          <a:prstGeom prst="rect">
            <a:avLst/>
          </a:prstGeom>
        </p:spPr>
      </p:pic>
      <p:pic>
        <p:nvPicPr>
          <p:cNvPr id="7" name="Picture 6">
            <a:extLst>
              <a:ext uri="{FF2B5EF4-FFF2-40B4-BE49-F238E27FC236}">
                <a16:creationId xmlns:a16="http://schemas.microsoft.com/office/drawing/2014/main" id="{F4F6C171-E082-A4AB-4D69-C7FE036AC2E1}"/>
              </a:ext>
            </a:extLst>
          </p:cNvPr>
          <p:cNvPicPr>
            <a:picLocks noChangeAspect="1"/>
          </p:cNvPicPr>
          <p:nvPr/>
        </p:nvPicPr>
        <p:blipFill>
          <a:blip r:embed="rId3"/>
          <a:stretch>
            <a:fillRect/>
          </a:stretch>
        </p:blipFill>
        <p:spPr>
          <a:xfrm>
            <a:off x="1280086" y="2115822"/>
            <a:ext cx="4639307" cy="3866089"/>
          </a:xfrm>
          <a:prstGeom prst="rect">
            <a:avLst/>
          </a:prstGeom>
        </p:spPr>
      </p:pic>
    </p:spTree>
    <p:extLst>
      <p:ext uri="{BB962C8B-B14F-4D97-AF65-F5344CB8AC3E}">
        <p14:creationId xmlns:p14="http://schemas.microsoft.com/office/powerpoint/2010/main" val="3092438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CDBB-711F-7E34-E7D0-FA3932184B4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25BA7D2-5065-4DFC-5CAE-A3E0B626D3A7}"/>
              </a:ext>
            </a:extLst>
          </p:cNvPr>
          <p:cNvSpPr>
            <a:spLocks noGrp="1"/>
          </p:cNvSpPr>
          <p:nvPr>
            <p:ph type="body" sz="quarter" idx="10"/>
          </p:nvPr>
        </p:nvSpPr>
        <p:spPr/>
        <p:txBody>
          <a:bodyPr/>
          <a:lstStyle/>
          <a:p>
            <a:r>
              <a:rPr lang="en-BE" dirty="0"/>
              <a:t>Adaptive Bit Loader</a:t>
            </a:r>
          </a:p>
        </p:txBody>
      </p:sp>
      <p:sp>
        <p:nvSpPr>
          <p:cNvPr id="4" name="Title 3">
            <a:extLst>
              <a:ext uri="{FF2B5EF4-FFF2-40B4-BE49-F238E27FC236}">
                <a16:creationId xmlns:a16="http://schemas.microsoft.com/office/drawing/2014/main" id="{2C5E4744-A633-FF8F-E6CB-D6A30600FB79}"/>
              </a:ext>
            </a:extLst>
          </p:cNvPr>
          <p:cNvSpPr>
            <a:spLocks noGrp="1"/>
          </p:cNvSpPr>
          <p:nvPr>
            <p:ph type="title"/>
          </p:nvPr>
        </p:nvSpPr>
        <p:spPr/>
        <p:txBody>
          <a:bodyPr>
            <a:normAutofit fontScale="90000"/>
          </a:bodyPr>
          <a:lstStyle/>
          <a:p>
            <a:r>
              <a:rPr lang="en-BE" dirty="0"/>
              <a:t>Precoding Techniques –  Comparison (Underloaded System)</a:t>
            </a:r>
          </a:p>
        </p:txBody>
      </p:sp>
      <p:sp>
        <p:nvSpPr>
          <p:cNvPr id="15" name="TextBox 14">
            <a:extLst>
              <a:ext uri="{FF2B5EF4-FFF2-40B4-BE49-F238E27FC236}">
                <a16:creationId xmlns:a16="http://schemas.microsoft.com/office/drawing/2014/main" id="{9BDF1BF2-B8A9-B245-3DBA-C7E9A62AA769}"/>
              </a:ext>
            </a:extLst>
          </p:cNvPr>
          <p:cNvSpPr txBox="1"/>
          <p:nvPr/>
        </p:nvSpPr>
        <p:spPr>
          <a:xfrm>
            <a:off x="1789130" y="2155408"/>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9184A9E5-5BF1-726A-A385-FD3C56F68CEC}"/>
              </a:ext>
            </a:extLst>
          </p:cNvPr>
          <p:cNvSpPr txBox="1"/>
          <p:nvPr/>
        </p:nvSpPr>
        <p:spPr>
          <a:xfrm>
            <a:off x="5622343" y="2142651"/>
            <a:ext cx="928459" cy="338554"/>
          </a:xfrm>
          <a:prstGeom prst="rect">
            <a:avLst/>
          </a:prstGeom>
          <a:noFill/>
        </p:spPr>
        <p:txBody>
          <a:bodyPr wrap="none" rtlCol="0">
            <a:spAutoFit/>
          </a:bodyPr>
          <a:lstStyle/>
          <a:p>
            <a:r>
              <a:rPr lang="en-BE" sz="1600" dirty="0"/>
              <a:t>IBR vs SNR</a:t>
            </a:r>
          </a:p>
        </p:txBody>
      </p:sp>
      <p:sp>
        <p:nvSpPr>
          <p:cNvPr id="17" name="TextBox 16">
            <a:extLst>
              <a:ext uri="{FF2B5EF4-FFF2-40B4-BE49-F238E27FC236}">
                <a16:creationId xmlns:a16="http://schemas.microsoft.com/office/drawing/2014/main" id="{7DAC5301-A923-55F2-15FA-5AE753820EFA}"/>
              </a:ext>
            </a:extLst>
          </p:cNvPr>
          <p:cNvSpPr txBox="1"/>
          <p:nvPr/>
        </p:nvSpPr>
        <p:spPr>
          <a:xfrm>
            <a:off x="9536096" y="2155408"/>
            <a:ext cx="966931" cy="338554"/>
          </a:xfrm>
          <a:prstGeom prst="rect">
            <a:avLst/>
          </a:prstGeom>
          <a:noFill/>
        </p:spPr>
        <p:txBody>
          <a:bodyPr wrap="none" rtlCol="0">
            <a:spAutoFit/>
          </a:bodyPr>
          <a:lstStyle/>
          <a:p>
            <a:r>
              <a:rPr lang="en-BE" sz="1600" dirty="0"/>
              <a:t>BER vs SNR</a:t>
            </a:r>
          </a:p>
        </p:txBody>
      </p:sp>
      <p:pic>
        <p:nvPicPr>
          <p:cNvPr id="6" name="Picture 5">
            <a:extLst>
              <a:ext uri="{FF2B5EF4-FFF2-40B4-BE49-F238E27FC236}">
                <a16:creationId xmlns:a16="http://schemas.microsoft.com/office/drawing/2014/main" id="{9076E44B-9497-84A2-9B9E-BDD2926A1BB9}"/>
              </a:ext>
            </a:extLst>
          </p:cNvPr>
          <p:cNvPicPr>
            <a:picLocks noChangeAspect="1"/>
          </p:cNvPicPr>
          <p:nvPr/>
        </p:nvPicPr>
        <p:blipFill>
          <a:blip r:embed="rId2"/>
          <a:stretch>
            <a:fillRect/>
          </a:stretch>
        </p:blipFill>
        <p:spPr>
          <a:xfrm>
            <a:off x="8028998" y="2481205"/>
            <a:ext cx="4041270" cy="3367725"/>
          </a:xfrm>
          <a:prstGeom prst="rect">
            <a:avLst/>
          </a:prstGeom>
        </p:spPr>
      </p:pic>
      <p:pic>
        <p:nvPicPr>
          <p:cNvPr id="10" name="Picture 9">
            <a:extLst>
              <a:ext uri="{FF2B5EF4-FFF2-40B4-BE49-F238E27FC236}">
                <a16:creationId xmlns:a16="http://schemas.microsoft.com/office/drawing/2014/main" id="{0ACCC4A0-31D9-CFC4-8F9F-8E2189EE0D00}"/>
              </a:ext>
            </a:extLst>
          </p:cNvPr>
          <p:cNvPicPr>
            <a:picLocks noChangeAspect="1"/>
          </p:cNvPicPr>
          <p:nvPr/>
        </p:nvPicPr>
        <p:blipFill>
          <a:blip r:embed="rId3"/>
          <a:stretch>
            <a:fillRect/>
          </a:stretch>
        </p:blipFill>
        <p:spPr>
          <a:xfrm>
            <a:off x="4083623" y="2497333"/>
            <a:ext cx="4041270" cy="3367725"/>
          </a:xfrm>
          <a:prstGeom prst="rect">
            <a:avLst/>
          </a:prstGeom>
        </p:spPr>
      </p:pic>
      <p:pic>
        <p:nvPicPr>
          <p:cNvPr id="12" name="Picture 11">
            <a:extLst>
              <a:ext uri="{FF2B5EF4-FFF2-40B4-BE49-F238E27FC236}">
                <a16:creationId xmlns:a16="http://schemas.microsoft.com/office/drawing/2014/main" id="{324A68A8-8C77-2505-DEDF-DC1AABB02802}"/>
              </a:ext>
            </a:extLst>
          </p:cNvPr>
          <p:cNvPicPr>
            <a:picLocks noChangeAspect="1"/>
          </p:cNvPicPr>
          <p:nvPr/>
        </p:nvPicPr>
        <p:blipFill>
          <a:blip r:embed="rId4"/>
          <a:stretch>
            <a:fillRect/>
          </a:stretch>
        </p:blipFill>
        <p:spPr>
          <a:xfrm>
            <a:off x="121734" y="2470633"/>
            <a:ext cx="4041270" cy="3367725"/>
          </a:xfrm>
          <a:prstGeom prst="rect">
            <a:avLst/>
          </a:prstGeom>
        </p:spPr>
      </p:pic>
    </p:spTree>
    <p:extLst>
      <p:ext uri="{BB962C8B-B14F-4D97-AF65-F5344CB8AC3E}">
        <p14:creationId xmlns:p14="http://schemas.microsoft.com/office/powerpoint/2010/main" val="1906445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4CBB0-F995-E680-48FE-5A18364564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81ED79-5883-7135-2EB9-CBDFBC746EEE}"/>
              </a:ext>
            </a:extLst>
          </p:cNvPr>
          <p:cNvSpPr>
            <a:spLocks noGrp="1"/>
          </p:cNvSpPr>
          <p:nvPr>
            <p:ph type="title"/>
          </p:nvPr>
        </p:nvSpPr>
        <p:spPr/>
        <p:txBody>
          <a:bodyPr/>
          <a:lstStyle/>
          <a:p>
            <a:r>
              <a:rPr lang="en-BE" dirty="0"/>
              <a:t>Precoding Techniques –  Comparison</a:t>
            </a:r>
          </a:p>
        </p:txBody>
      </p:sp>
      <p:sp>
        <p:nvSpPr>
          <p:cNvPr id="27" name="Text Placeholder 2">
            <a:extLst>
              <a:ext uri="{FF2B5EF4-FFF2-40B4-BE49-F238E27FC236}">
                <a16:creationId xmlns:a16="http://schemas.microsoft.com/office/drawing/2014/main" id="{442E7B3A-1A1A-AFDE-340F-E8DD96526A2C}"/>
              </a:ext>
            </a:extLst>
          </p:cNvPr>
          <p:cNvSpPr>
            <a:spLocks noGrp="1"/>
          </p:cNvSpPr>
          <p:nvPr>
            <p:ph type="body" sz="quarter" idx="10"/>
          </p:nvPr>
        </p:nvSpPr>
        <p:spPr>
          <a:xfrm>
            <a:off x="542925" y="1150143"/>
            <a:ext cx="10893106" cy="549275"/>
          </a:xfrm>
        </p:spPr>
        <p:txBody>
          <a:bodyPr/>
          <a:lstStyle/>
          <a:p>
            <a:r>
              <a:rPr lang="en-BE" dirty="0"/>
              <a:t>BD vs SVD</a:t>
            </a:r>
          </a:p>
          <a:p>
            <a:endParaRPr lang="en-BE" dirty="0"/>
          </a:p>
        </p:txBody>
      </p:sp>
      <p:sp>
        <p:nvSpPr>
          <p:cNvPr id="3" name="TextBox 2">
            <a:extLst>
              <a:ext uri="{FF2B5EF4-FFF2-40B4-BE49-F238E27FC236}">
                <a16:creationId xmlns:a16="http://schemas.microsoft.com/office/drawing/2014/main" id="{C69AA1BB-C846-0018-0BBD-337581D96788}"/>
              </a:ext>
            </a:extLst>
          </p:cNvPr>
          <p:cNvSpPr txBox="1"/>
          <p:nvPr/>
        </p:nvSpPr>
        <p:spPr>
          <a:xfrm>
            <a:off x="474850" y="2047130"/>
            <a:ext cx="906223" cy="523220"/>
          </a:xfrm>
          <a:prstGeom prst="rect">
            <a:avLst/>
          </a:prstGeom>
          <a:noFill/>
        </p:spPr>
        <p:txBody>
          <a:bodyPr wrap="square" rtlCol="0">
            <a:spAutoFit/>
          </a:bodyPr>
          <a:lstStyle/>
          <a:p>
            <a:r>
              <a:rPr lang="en-BE" sz="1400" dirty="0"/>
              <a:t>MU-MIMO:</a:t>
            </a:r>
          </a:p>
          <a:p>
            <a:r>
              <a:rPr lang="en-BE" sz="1400" dirty="0"/>
              <a:t>BD</a:t>
            </a:r>
          </a:p>
        </p:txBody>
      </p:sp>
      <p:sp>
        <p:nvSpPr>
          <p:cNvPr id="11" name="TextBox 10">
            <a:extLst>
              <a:ext uri="{FF2B5EF4-FFF2-40B4-BE49-F238E27FC236}">
                <a16:creationId xmlns:a16="http://schemas.microsoft.com/office/drawing/2014/main" id="{F6798052-65B3-48B5-1F03-7EA0088FA613}"/>
              </a:ext>
            </a:extLst>
          </p:cNvPr>
          <p:cNvSpPr txBox="1"/>
          <p:nvPr/>
        </p:nvSpPr>
        <p:spPr>
          <a:xfrm>
            <a:off x="392392" y="4231091"/>
            <a:ext cx="826046" cy="523220"/>
          </a:xfrm>
          <a:prstGeom prst="rect">
            <a:avLst/>
          </a:prstGeom>
          <a:noFill/>
        </p:spPr>
        <p:txBody>
          <a:bodyPr wrap="square" rtlCol="0">
            <a:spAutoFit/>
          </a:bodyPr>
          <a:lstStyle/>
          <a:p>
            <a:r>
              <a:rPr lang="en-BE" sz="1400" dirty="0"/>
              <a:t>SU-MIMO:</a:t>
            </a:r>
            <a:br>
              <a:rPr lang="en-BE" sz="1400" dirty="0"/>
            </a:br>
            <a:r>
              <a:rPr lang="en-BE" sz="1400" dirty="0"/>
              <a:t>SVD</a:t>
            </a:r>
          </a:p>
        </p:txBody>
      </p:sp>
      <p:pic>
        <p:nvPicPr>
          <p:cNvPr id="21" name="Picture 20">
            <a:extLst>
              <a:ext uri="{FF2B5EF4-FFF2-40B4-BE49-F238E27FC236}">
                <a16:creationId xmlns:a16="http://schemas.microsoft.com/office/drawing/2014/main" id="{43C07EBB-61DE-DE64-F335-CD59A61B8F51}"/>
              </a:ext>
            </a:extLst>
          </p:cNvPr>
          <p:cNvPicPr>
            <a:picLocks noChangeAspect="1"/>
          </p:cNvPicPr>
          <p:nvPr/>
        </p:nvPicPr>
        <p:blipFill>
          <a:blip r:embed="rId3"/>
          <a:stretch>
            <a:fillRect/>
          </a:stretch>
        </p:blipFill>
        <p:spPr>
          <a:xfrm>
            <a:off x="1551136" y="1699418"/>
            <a:ext cx="3349106" cy="2213037"/>
          </a:xfrm>
          <a:prstGeom prst="rect">
            <a:avLst/>
          </a:prstGeom>
        </p:spPr>
      </p:pic>
      <p:pic>
        <p:nvPicPr>
          <p:cNvPr id="23" name="Picture 22">
            <a:extLst>
              <a:ext uri="{FF2B5EF4-FFF2-40B4-BE49-F238E27FC236}">
                <a16:creationId xmlns:a16="http://schemas.microsoft.com/office/drawing/2014/main" id="{3FEF3F90-60E8-A31A-83C0-9819AB3A0431}"/>
              </a:ext>
            </a:extLst>
          </p:cNvPr>
          <p:cNvPicPr>
            <a:picLocks noChangeAspect="1"/>
          </p:cNvPicPr>
          <p:nvPr/>
        </p:nvPicPr>
        <p:blipFill>
          <a:blip r:embed="rId4"/>
          <a:stretch>
            <a:fillRect/>
          </a:stretch>
        </p:blipFill>
        <p:spPr>
          <a:xfrm>
            <a:off x="8783951" y="1792543"/>
            <a:ext cx="3349106" cy="2213037"/>
          </a:xfrm>
          <a:prstGeom prst="rect">
            <a:avLst/>
          </a:prstGeom>
        </p:spPr>
      </p:pic>
      <p:pic>
        <p:nvPicPr>
          <p:cNvPr id="28" name="Picture 27">
            <a:extLst>
              <a:ext uri="{FF2B5EF4-FFF2-40B4-BE49-F238E27FC236}">
                <a16:creationId xmlns:a16="http://schemas.microsoft.com/office/drawing/2014/main" id="{9CEBC716-E809-9154-8F08-0884DD4F0B62}"/>
              </a:ext>
            </a:extLst>
          </p:cNvPr>
          <p:cNvPicPr>
            <a:picLocks noChangeAspect="1"/>
          </p:cNvPicPr>
          <p:nvPr/>
        </p:nvPicPr>
        <p:blipFill>
          <a:blip r:embed="rId5"/>
          <a:stretch>
            <a:fillRect/>
          </a:stretch>
        </p:blipFill>
        <p:spPr>
          <a:xfrm>
            <a:off x="5232940" y="1699419"/>
            <a:ext cx="3309704" cy="2213036"/>
          </a:xfrm>
          <a:prstGeom prst="rect">
            <a:avLst/>
          </a:prstGeom>
        </p:spPr>
      </p:pic>
      <p:pic>
        <p:nvPicPr>
          <p:cNvPr id="30" name="Picture 29">
            <a:extLst>
              <a:ext uri="{FF2B5EF4-FFF2-40B4-BE49-F238E27FC236}">
                <a16:creationId xmlns:a16="http://schemas.microsoft.com/office/drawing/2014/main" id="{48C75729-7B53-9BAF-541B-5E156B3F2EDE}"/>
              </a:ext>
            </a:extLst>
          </p:cNvPr>
          <p:cNvPicPr>
            <a:picLocks noChangeAspect="1"/>
          </p:cNvPicPr>
          <p:nvPr/>
        </p:nvPicPr>
        <p:blipFill>
          <a:blip r:embed="rId6"/>
          <a:stretch>
            <a:fillRect/>
          </a:stretch>
        </p:blipFill>
        <p:spPr>
          <a:xfrm>
            <a:off x="8783950" y="4005580"/>
            <a:ext cx="3349106" cy="2213036"/>
          </a:xfrm>
          <a:prstGeom prst="rect">
            <a:avLst/>
          </a:prstGeom>
        </p:spPr>
      </p:pic>
      <p:pic>
        <p:nvPicPr>
          <p:cNvPr id="32" name="Picture 31">
            <a:extLst>
              <a:ext uri="{FF2B5EF4-FFF2-40B4-BE49-F238E27FC236}">
                <a16:creationId xmlns:a16="http://schemas.microsoft.com/office/drawing/2014/main" id="{FE90F366-316C-FE99-FDDF-E38411294A2B}"/>
              </a:ext>
            </a:extLst>
          </p:cNvPr>
          <p:cNvPicPr>
            <a:picLocks noChangeAspect="1"/>
          </p:cNvPicPr>
          <p:nvPr/>
        </p:nvPicPr>
        <p:blipFill>
          <a:blip r:embed="rId7"/>
          <a:stretch>
            <a:fillRect/>
          </a:stretch>
        </p:blipFill>
        <p:spPr>
          <a:xfrm>
            <a:off x="5232939" y="4030836"/>
            <a:ext cx="3309704" cy="2213036"/>
          </a:xfrm>
          <a:prstGeom prst="rect">
            <a:avLst/>
          </a:prstGeom>
        </p:spPr>
      </p:pic>
      <p:pic>
        <p:nvPicPr>
          <p:cNvPr id="34" name="Picture 33">
            <a:extLst>
              <a:ext uri="{FF2B5EF4-FFF2-40B4-BE49-F238E27FC236}">
                <a16:creationId xmlns:a16="http://schemas.microsoft.com/office/drawing/2014/main" id="{A664BDD8-73A2-8929-2B25-CC503D152DF5}"/>
              </a:ext>
            </a:extLst>
          </p:cNvPr>
          <p:cNvPicPr>
            <a:picLocks noChangeAspect="1"/>
          </p:cNvPicPr>
          <p:nvPr/>
        </p:nvPicPr>
        <p:blipFill>
          <a:blip r:embed="rId8"/>
          <a:stretch>
            <a:fillRect/>
          </a:stretch>
        </p:blipFill>
        <p:spPr>
          <a:xfrm>
            <a:off x="1551136" y="4005580"/>
            <a:ext cx="3349106" cy="2213036"/>
          </a:xfrm>
          <a:prstGeom prst="rect">
            <a:avLst/>
          </a:prstGeom>
        </p:spPr>
      </p:pic>
    </p:spTree>
    <p:extLst>
      <p:ext uri="{BB962C8B-B14F-4D97-AF65-F5344CB8AC3E}">
        <p14:creationId xmlns:p14="http://schemas.microsoft.com/office/powerpoint/2010/main" val="29905132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3D73C-5015-1FD7-71B4-D4D1719D42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6B767A-6A72-65A8-E012-FEEEC8BD4CC5}"/>
              </a:ext>
            </a:extLst>
          </p:cNvPr>
          <p:cNvSpPr>
            <a:spLocks noGrp="1"/>
          </p:cNvSpPr>
          <p:nvPr>
            <p:ph type="title"/>
          </p:nvPr>
        </p:nvSpPr>
        <p:spPr/>
        <p:txBody>
          <a:bodyPr/>
          <a:lstStyle/>
          <a:p>
            <a:r>
              <a:rPr lang="en-BE" dirty="0"/>
              <a:t>Precoding Techniques –  Comparison</a:t>
            </a:r>
          </a:p>
        </p:txBody>
      </p:sp>
      <p:sp>
        <p:nvSpPr>
          <p:cNvPr id="15" name="TextBox 14">
            <a:extLst>
              <a:ext uri="{FF2B5EF4-FFF2-40B4-BE49-F238E27FC236}">
                <a16:creationId xmlns:a16="http://schemas.microsoft.com/office/drawing/2014/main" id="{9BED4605-CB69-26A7-9200-259BAAB4E46A}"/>
              </a:ext>
            </a:extLst>
          </p:cNvPr>
          <p:cNvSpPr txBox="1"/>
          <p:nvPr/>
        </p:nvSpPr>
        <p:spPr>
          <a:xfrm>
            <a:off x="3194613" y="1821893"/>
            <a:ext cx="787395" cy="338554"/>
          </a:xfrm>
          <a:prstGeom prst="rect">
            <a:avLst/>
          </a:prstGeom>
          <a:noFill/>
        </p:spPr>
        <p:txBody>
          <a:bodyPr wrap="none" rtlCol="0">
            <a:spAutoFit/>
          </a:bodyPr>
          <a:lstStyle/>
          <a:p>
            <a:r>
              <a:rPr lang="en-BE" sz="1600" dirty="0"/>
              <a:t>R vs SNR</a:t>
            </a:r>
          </a:p>
        </p:txBody>
      </p:sp>
      <p:sp>
        <p:nvSpPr>
          <p:cNvPr id="16" name="TextBox 15">
            <a:extLst>
              <a:ext uri="{FF2B5EF4-FFF2-40B4-BE49-F238E27FC236}">
                <a16:creationId xmlns:a16="http://schemas.microsoft.com/office/drawing/2014/main" id="{6225E1D8-A953-A78F-4397-F237E62B7125}"/>
              </a:ext>
            </a:extLst>
          </p:cNvPr>
          <p:cNvSpPr txBox="1"/>
          <p:nvPr/>
        </p:nvSpPr>
        <p:spPr>
          <a:xfrm>
            <a:off x="8468547" y="1820633"/>
            <a:ext cx="966931" cy="338554"/>
          </a:xfrm>
          <a:prstGeom prst="rect">
            <a:avLst/>
          </a:prstGeom>
          <a:noFill/>
        </p:spPr>
        <p:txBody>
          <a:bodyPr wrap="none" rtlCol="0">
            <a:spAutoFit/>
          </a:bodyPr>
          <a:lstStyle/>
          <a:p>
            <a:r>
              <a:rPr lang="en-BE" sz="1600" dirty="0"/>
              <a:t>BER vs SNR</a:t>
            </a:r>
          </a:p>
        </p:txBody>
      </p:sp>
      <p:pic>
        <p:nvPicPr>
          <p:cNvPr id="24" name="Picture 23">
            <a:extLst>
              <a:ext uri="{FF2B5EF4-FFF2-40B4-BE49-F238E27FC236}">
                <a16:creationId xmlns:a16="http://schemas.microsoft.com/office/drawing/2014/main" id="{55A9831B-E20F-CACE-65D2-A59CAE6E7070}"/>
              </a:ext>
            </a:extLst>
          </p:cNvPr>
          <p:cNvPicPr>
            <a:picLocks noChangeAspect="1"/>
          </p:cNvPicPr>
          <p:nvPr/>
        </p:nvPicPr>
        <p:blipFill>
          <a:blip r:embed="rId3"/>
          <a:stretch>
            <a:fillRect/>
          </a:stretch>
        </p:blipFill>
        <p:spPr>
          <a:xfrm>
            <a:off x="1382708" y="2159186"/>
            <a:ext cx="4411207" cy="3676006"/>
          </a:xfrm>
          <a:prstGeom prst="rect">
            <a:avLst/>
          </a:prstGeom>
        </p:spPr>
      </p:pic>
      <p:pic>
        <p:nvPicPr>
          <p:cNvPr id="26" name="Picture 25">
            <a:extLst>
              <a:ext uri="{FF2B5EF4-FFF2-40B4-BE49-F238E27FC236}">
                <a16:creationId xmlns:a16="http://schemas.microsoft.com/office/drawing/2014/main" id="{B70FD788-A69C-43FA-858B-0CFEF1803274}"/>
              </a:ext>
            </a:extLst>
          </p:cNvPr>
          <p:cNvPicPr>
            <a:picLocks noChangeAspect="1"/>
          </p:cNvPicPr>
          <p:nvPr/>
        </p:nvPicPr>
        <p:blipFill>
          <a:blip r:embed="rId4"/>
          <a:stretch>
            <a:fillRect/>
          </a:stretch>
        </p:blipFill>
        <p:spPr>
          <a:xfrm>
            <a:off x="6496923" y="2159186"/>
            <a:ext cx="4411207" cy="3676006"/>
          </a:xfrm>
          <a:prstGeom prst="rect">
            <a:avLst/>
          </a:prstGeom>
        </p:spPr>
      </p:pic>
      <p:sp>
        <p:nvSpPr>
          <p:cNvPr id="27" name="Text Placeholder 2">
            <a:extLst>
              <a:ext uri="{FF2B5EF4-FFF2-40B4-BE49-F238E27FC236}">
                <a16:creationId xmlns:a16="http://schemas.microsoft.com/office/drawing/2014/main" id="{A592E31B-EA82-6411-628A-3EE3292B2684}"/>
              </a:ext>
            </a:extLst>
          </p:cNvPr>
          <p:cNvSpPr>
            <a:spLocks noGrp="1"/>
          </p:cNvSpPr>
          <p:nvPr>
            <p:ph type="body" sz="quarter" idx="10"/>
          </p:nvPr>
        </p:nvSpPr>
        <p:spPr>
          <a:xfrm>
            <a:off x="542925" y="1150143"/>
            <a:ext cx="10893106" cy="549275"/>
          </a:xfrm>
        </p:spPr>
        <p:txBody>
          <a:bodyPr/>
          <a:lstStyle/>
          <a:p>
            <a:r>
              <a:rPr lang="en-BE" dirty="0"/>
              <a:t>BD vs SVD</a:t>
            </a:r>
          </a:p>
          <a:p>
            <a:endParaRPr lang="en-BE" dirty="0"/>
          </a:p>
        </p:txBody>
      </p:sp>
    </p:spTree>
    <p:extLst>
      <p:ext uri="{BB962C8B-B14F-4D97-AF65-F5344CB8AC3E}">
        <p14:creationId xmlns:p14="http://schemas.microsoft.com/office/powerpoint/2010/main" val="1783790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2F00C-7994-CAD6-0BD3-759740273D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B24CBA-1531-B70C-3940-16429D3E8BA9}"/>
              </a:ext>
            </a:extLst>
          </p:cNvPr>
          <p:cNvSpPr>
            <a:spLocks noGrp="1"/>
          </p:cNvSpPr>
          <p:nvPr>
            <p:ph type="title"/>
          </p:nvPr>
        </p:nvSpPr>
        <p:spPr/>
        <p:txBody>
          <a:bodyPr/>
          <a:lstStyle/>
          <a:p>
            <a:r>
              <a:rPr lang="en-BE" dirty="0"/>
              <a:t>Precoding Techniques –  Comparison</a:t>
            </a:r>
          </a:p>
        </p:txBody>
      </p:sp>
      <p:sp>
        <p:nvSpPr>
          <p:cNvPr id="10" name="TextBox 9">
            <a:extLst>
              <a:ext uri="{FF2B5EF4-FFF2-40B4-BE49-F238E27FC236}">
                <a16:creationId xmlns:a16="http://schemas.microsoft.com/office/drawing/2014/main" id="{2473D241-8982-33A7-DF0B-0FE113C424A0}"/>
              </a:ext>
            </a:extLst>
          </p:cNvPr>
          <p:cNvSpPr txBox="1"/>
          <p:nvPr/>
        </p:nvSpPr>
        <p:spPr>
          <a:xfrm>
            <a:off x="1777107" y="2038680"/>
            <a:ext cx="787395" cy="338554"/>
          </a:xfrm>
          <a:prstGeom prst="rect">
            <a:avLst/>
          </a:prstGeom>
          <a:noFill/>
        </p:spPr>
        <p:txBody>
          <a:bodyPr wrap="none" rtlCol="0">
            <a:spAutoFit/>
          </a:bodyPr>
          <a:lstStyle/>
          <a:p>
            <a:r>
              <a:rPr lang="en-BE" sz="1600" dirty="0"/>
              <a:t>R vs SNR</a:t>
            </a:r>
          </a:p>
        </p:txBody>
      </p:sp>
      <p:sp>
        <p:nvSpPr>
          <p:cNvPr id="11" name="TextBox 10">
            <a:extLst>
              <a:ext uri="{FF2B5EF4-FFF2-40B4-BE49-F238E27FC236}">
                <a16:creationId xmlns:a16="http://schemas.microsoft.com/office/drawing/2014/main" id="{ACB40D96-E484-E3D5-3201-9227A9F10046}"/>
              </a:ext>
            </a:extLst>
          </p:cNvPr>
          <p:cNvSpPr txBox="1"/>
          <p:nvPr/>
        </p:nvSpPr>
        <p:spPr>
          <a:xfrm>
            <a:off x="9610538" y="2038680"/>
            <a:ext cx="966931" cy="338554"/>
          </a:xfrm>
          <a:prstGeom prst="rect">
            <a:avLst/>
          </a:prstGeom>
          <a:noFill/>
        </p:spPr>
        <p:txBody>
          <a:bodyPr wrap="none" rtlCol="0">
            <a:spAutoFit/>
          </a:bodyPr>
          <a:lstStyle/>
          <a:p>
            <a:r>
              <a:rPr lang="en-BE" sz="1600" dirty="0"/>
              <a:t>BER vs SNR</a:t>
            </a:r>
          </a:p>
        </p:txBody>
      </p:sp>
      <p:sp>
        <p:nvSpPr>
          <p:cNvPr id="13" name="TextBox 12">
            <a:extLst>
              <a:ext uri="{FF2B5EF4-FFF2-40B4-BE49-F238E27FC236}">
                <a16:creationId xmlns:a16="http://schemas.microsoft.com/office/drawing/2014/main" id="{57BCA799-D19B-4EA6-C673-6F19D91DA18B}"/>
              </a:ext>
            </a:extLst>
          </p:cNvPr>
          <p:cNvSpPr txBox="1"/>
          <p:nvPr/>
        </p:nvSpPr>
        <p:spPr>
          <a:xfrm>
            <a:off x="5713625" y="2038680"/>
            <a:ext cx="928459" cy="338554"/>
          </a:xfrm>
          <a:prstGeom prst="rect">
            <a:avLst/>
          </a:prstGeom>
          <a:noFill/>
        </p:spPr>
        <p:txBody>
          <a:bodyPr wrap="none" rtlCol="0">
            <a:spAutoFit/>
          </a:bodyPr>
          <a:lstStyle/>
          <a:p>
            <a:r>
              <a:rPr lang="en-BE" sz="1600" dirty="0"/>
              <a:t>IBR vs SNR</a:t>
            </a:r>
          </a:p>
        </p:txBody>
      </p:sp>
      <p:pic>
        <p:nvPicPr>
          <p:cNvPr id="21" name="Picture 20">
            <a:extLst>
              <a:ext uri="{FF2B5EF4-FFF2-40B4-BE49-F238E27FC236}">
                <a16:creationId xmlns:a16="http://schemas.microsoft.com/office/drawing/2014/main" id="{4BC82DA9-0344-3A32-A55C-3BF5F8E2621C}"/>
              </a:ext>
            </a:extLst>
          </p:cNvPr>
          <p:cNvPicPr>
            <a:picLocks noChangeAspect="1"/>
          </p:cNvPicPr>
          <p:nvPr/>
        </p:nvPicPr>
        <p:blipFill>
          <a:blip r:embed="rId3"/>
          <a:stretch>
            <a:fillRect/>
          </a:stretch>
        </p:blipFill>
        <p:spPr>
          <a:xfrm>
            <a:off x="264667" y="2314747"/>
            <a:ext cx="3812277" cy="3176897"/>
          </a:xfrm>
          <a:prstGeom prst="rect">
            <a:avLst/>
          </a:prstGeom>
        </p:spPr>
      </p:pic>
      <p:pic>
        <p:nvPicPr>
          <p:cNvPr id="23" name="Picture 22">
            <a:extLst>
              <a:ext uri="{FF2B5EF4-FFF2-40B4-BE49-F238E27FC236}">
                <a16:creationId xmlns:a16="http://schemas.microsoft.com/office/drawing/2014/main" id="{170402A4-8D4D-4727-1287-29BE6FD3C609}"/>
              </a:ext>
            </a:extLst>
          </p:cNvPr>
          <p:cNvPicPr>
            <a:picLocks noChangeAspect="1"/>
          </p:cNvPicPr>
          <p:nvPr/>
        </p:nvPicPr>
        <p:blipFill>
          <a:blip r:embed="rId4"/>
          <a:stretch>
            <a:fillRect/>
          </a:stretch>
        </p:blipFill>
        <p:spPr>
          <a:xfrm>
            <a:off x="4161580" y="2314747"/>
            <a:ext cx="3812277" cy="3176897"/>
          </a:xfrm>
          <a:prstGeom prst="rect">
            <a:avLst/>
          </a:prstGeom>
        </p:spPr>
      </p:pic>
      <p:pic>
        <p:nvPicPr>
          <p:cNvPr id="25" name="Picture 24">
            <a:extLst>
              <a:ext uri="{FF2B5EF4-FFF2-40B4-BE49-F238E27FC236}">
                <a16:creationId xmlns:a16="http://schemas.microsoft.com/office/drawing/2014/main" id="{BFA5D63E-0069-0EEE-2ABD-F86705FFF758}"/>
              </a:ext>
            </a:extLst>
          </p:cNvPr>
          <p:cNvPicPr>
            <a:picLocks noChangeAspect="1"/>
          </p:cNvPicPr>
          <p:nvPr/>
        </p:nvPicPr>
        <p:blipFill>
          <a:blip r:embed="rId5"/>
          <a:stretch>
            <a:fillRect/>
          </a:stretch>
        </p:blipFill>
        <p:spPr>
          <a:xfrm>
            <a:off x="8058494" y="2314747"/>
            <a:ext cx="3812277" cy="3176897"/>
          </a:xfrm>
          <a:prstGeom prst="rect">
            <a:avLst/>
          </a:prstGeom>
        </p:spPr>
      </p:pic>
      <p:sp>
        <p:nvSpPr>
          <p:cNvPr id="26" name="Text Placeholder 2">
            <a:extLst>
              <a:ext uri="{FF2B5EF4-FFF2-40B4-BE49-F238E27FC236}">
                <a16:creationId xmlns:a16="http://schemas.microsoft.com/office/drawing/2014/main" id="{41981D2E-90FD-10B8-1180-92452BFF837E}"/>
              </a:ext>
            </a:extLst>
          </p:cNvPr>
          <p:cNvSpPr>
            <a:spLocks noGrp="1"/>
          </p:cNvSpPr>
          <p:nvPr>
            <p:ph type="body" sz="quarter" idx="10"/>
          </p:nvPr>
        </p:nvSpPr>
        <p:spPr>
          <a:xfrm>
            <a:off x="542925" y="1150143"/>
            <a:ext cx="10893106" cy="549275"/>
          </a:xfrm>
        </p:spPr>
        <p:txBody>
          <a:bodyPr/>
          <a:lstStyle/>
          <a:p>
            <a:r>
              <a:rPr lang="en-BE" dirty="0"/>
              <a:t>BD vs SVD</a:t>
            </a:r>
          </a:p>
          <a:p>
            <a:endParaRPr lang="en-BE" dirty="0"/>
          </a:p>
        </p:txBody>
      </p:sp>
    </p:spTree>
    <p:extLst>
      <p:ext uri="{BB962C8B-B14F-4D97-AF65-F5344CB8AC3E}">
        <p14:creationId xmlns:p14="http://schemas.microsoft.com/office/powerpoint/2010/main" val="1599897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E2AFB090-EE48-C52D-A9B3-CA15628B3CD7}"/>
              </a:ext>
            </a:extLst>
          </p:cNvPr>
          <p:cNvSpPr>
            <a:spLocks noGrp="1"/>
          </p:cNvSpPr>
          <p:nvPr>
            <p:ph type="body" sz="quarter" idx="12"/>
          </p:nvPr>
        </p:nvSpPr>
        <p:spPr/>
        <p:txBody>
          <a:bodyPr>
            <a:normAutofit fontScale="85000" lnSpcReduction="20000"/>
          </a:bodyPr>
          <a:lstStyle/>
          <a:p>
            <a:r>
              <a:rPr lang="en-BE" dirty="0"/>
              <a:t>Wannes Baes</a:t>
            </a:r>
          </a:p>
        </p:txBody>
      </p:sp>
      <p:sp>
        <p:nvSpPr>
          <p:cNvPr id="9" name="Text Placeholder 8">
            <a:extLst>
              <a:ext uri="{FF2B5EF4-FFF2-40B4-BE49-F238E27FC236}">
                <a16:creationId xmlns:a16="http://schemas.microsoft.com/office/drawing/2014/main" id="{7CBF859C-EF25-E859-0840-BF74EA43BE78}"/>
              </a:ext>
            </a:extLst>
          </p:cNvPr>
          <p:cNvSpPr>
            <a:spLocks noGrp="1"/>
          </p:cNvSpPr>
          <p:nvPr>
            <p:ph type="body" sz="quarter" idx="13"/>
          </p:nvPr>
        </p:nvSpPr>
        <p:spPr>
          <a:xfrm>
            <a:off x="1209305" y="1656598"/>
            <a:ext cx="5800725" cy="368467"/>
          </a:xfrm>
        </p:spPr>
        <p:txBody>
          <a:bodyPr/>
          <a:lstStyle/>
          <a:p>
            <a:r>
              <a:rPr lang="en-BE" dirty="0"/>
              <a:t>Supervisors: Prof. Dr. Ir. Nele Noels, Dr. Ir. Rodrigo Moreas</a:t>
            </a:r>
          </a:p>
        </p:txBody>
      </p:sp>
      <p:sp>
        <p:nvSpPr>
          <p:cNvPr id="10" name="Text Placeholder 9">
            <a:extLst>
              <a:ext uri="{FF2B5EF4-FFF2-40B4-BE49-F238E27FC236}">
                <a16:creationId xmlns:a16="http://schemas.microsoft.com/office/drawing/2014/main" id="{BFD2CFEB-677A-B83F-CFDB-90118506510F}"/>
              </a:ext>
            </a:extLst>
          </p:cNvPr>
          <p:cNvSpPr>
            <a:spLocks noGrp="1"/>
          </p:cNvSpPr>
          <p:nvPr>
            <p:ph type="body" sz="quarter" idx="14"/>
          </p:nvPr>
        </p:nvSpPr>
        <p:spPr/>
        <p:txBody>
          <a:bodyPr/>
          <a:lstStyle/>
          <a:p>
            <a:endParaRPr lang="en-BE" dirty="0"/>
          </a:p>
        </p:txBody>
      </p:sp>
      <p:sp>
        <p:nvSpPr>
          <p:cNvPr id="11" name="Text Placeholder 10">
            <a:extLst>
              <a:ext uri="{FF2B5EF4-FFF2-40B4-BE49-F238E27FC236}">
                <a16:creationId xmlns:a16="http://schemas.microsoft.com/office/drawing/2014/main" id="{3BD67EFC-A88F-9E12-B872-30801B293183}"/>
              </a:ext>
            </a:extLst>
          </p:cNvPr>
          <p:cNvSpPr>
            <a:spLocks noGrp="1"/>
          </p:cNvSpPr>
          <p:nvPr>
            <p:ph type="body" sz="quarter" idx="15"/>
          </p:nvPr>
        </p:nvSpPr>
        <p:spPr/>
        <p:txBody>
          <a:bodyPr/>
          <a:lstStyle/>
          <a:p>
            <a:endParaRPr lang="en-BE" dirty="0"/>
          </a:p>
        </p:txBody>
      </p:sp>
      <p:sp>
        <p:nvSpPr>
          <p:cNvPr id="12" name="Text Placeholder 11">
            <a:extLst>
              <a:ext uri="{FF2B5EF4-FFF2-40B4-BE49-F238E27FC236}">
                <a16:creationId xmlns:a16="http://schemas.microsoft.com/office/drawing/2014/main" id="{FC84DF40-A8E4-A4C0-41A6-1A74F29D77C3}"/>
              </a:ext>
            </a:extLst>
          </p:cNvPr>
          <p:cNvSpPr>
            <a:spLocks noGrp="1"/>
          </p:cNvSpPr>
          <p:nvPr>
            <p:ph type="body" sz="quarter" idx="16"/>
          </p:nvPr>
        </p:nvSpPr>
        <p:spPr/>
        <p:txBody>
          <a:bodyPr/>
          <a:lstStyle/>
          <a:p>
            <a:endParaRPr lang="en-BE" dirty="0"/>
          </a:p>
        </p:txBody>
      </p:sp>
      <p:sp>
        <p:nvSpPr>
          <p:cNvPr id="13" name="Text Placeholder 12">
            <a:extLst>
              <a:ext uri="{FF2B5EF4-FFF2-40B4-BE49-F238E27FC236}">
                <a16:creationId xmlns:a16="http://schemas.microsoft.com/office/drawing/2014/main" id="{FD089646-7A82-08E2-1DD1-E731C701F467}"/>
              </a:ext>
            </a:extLst>
          </p:cNvPr>
          <p:cNvSpPr>
            <a:spLocks noGrp="1"/>
          </p:cNvSpPr>
          <p:nvPr>
            <p:ph type="body" sz="quarter" idx="17"/>
          </p:nvPr>
        </p:nvSpPr>
        <p:spPr/>
        <p:txBody>
          <a:bodyPr/>
          <a:lstStyle/>
          <a:p>
            <a:r>
              <a:rPr lang="en-GB" dirty="0"/>
              <a:t>w</a:t>
            </a:r>
            <a:r>
              <a:rPr lang="en-BE" dirty="0"/>
              <a:t>annes.baes@ugent.be</a:t>
            </a:r>
          </a:p>
        </p:txBody>
      </p:sp>
      <p:sp>
        <p:nvSpPr>
          <p:cNvPr id="14" name="Text Placeholder 13">
            <a:extLst>
              <a:ext uri="{FF2B5EF4-FFF2-40B4-BE49-F238E27FC236}">
                <a16:creationId xmlns:a16="http://schemas.microsoft.com/office/drawing/2014/main" id="{0CDE9F60-5335-8234-C2B9-04577C026E75}"/>
              </a:ext>
            </a:extLst>
          </p:cNvPr>
          <p:cNvSpPr>
            <a:spLocks noGrp="1"/>
          </p:cNvSpPr>
          <p:nvPr>
            <p:ph type="body" sz="quarter" idx="18"/>
          </p:nvPr>
        </p:nvSpPr>
        <p:spPr/>
        <p:txBody>
          <a:bodyPr/>
          <a:lstStyle/>
          <a:p>
            <a:r>
              <a:rPr lang="en-BE">
                <a:hlinkClick r:id="rId2">
                  <a:extLst>
                    <a:ext uri="{A12FA001-AC4F-418D-AE19-62706E023703}">
                      <ahyp:hlinkClr xmlns:ahyp="http://schemas.microsoft.com/office/drawing/2018/hyperlinkcolor" val="tx"/>
                    </a:ext>
                  </a:extLst>
                </a:hlinkClick>
              </a:rPr>
              <a:t>Universiteit Gent</a:t>
            </a:r>
          </a:p>
        </p:txBody>
      </p:sp>
      <p:pic>
        <p:nvPicPr>
          <p:cNvPr id="26" name="Picture Placeholder 25">
            <a:hlinkClick r:id="rId2"/>
            <a:extLst>
              <a:ext uri="{FF2B5EF4-FFF2-40B4-BE49-F238E27FC236}">
                <a16:creationId xmlns:a16="http://schemas.microsoft.com/office/drawing/2014/main" id="{9FB3CC2D-5390-0564-222E-B6D410FE8E9A}"/>
              </a:ext>
            </a:extLst>
          </p:cNvPr>
          <p:cNvPicPr>
            <a:picLocks noGrp="1" noChangeAspect="1"/>
          </p:cNvPicPr>
          <p:nvPr>
            <p:ph type="pic" sz="quarter" idx="23"/>
          </p:nvPr>
        </p:nvPicPr>
        <p:blipFill>
          <a:blip>
            <a:extLst>
              <a:ext uri="{96DAC541-7B7A-43D3-8B79-37D633B846F1}">
                <asvg:svgBlip xmlns:asvg="http://schemas.microsoft.com/office/drawing/2016/SVG/main" r:embed="rId3"/>
              </a:ext>
            </a:extLst>
          </a:blip>
          <a:srcRect/>
          <a:stretch>
            <a:fillRect/>
          </a:stretch>
        </p:blipFill>
        <p:spPr>
          <a:xfrm>
            <a:off x="8894981" y="2572339"/>
            <a:ext cx="368467" cy="368467"/>
          </a:xfrm>
        </p:spPr>
      </p:pic>
      <p:sp>
        <p:nvSpPr>
          <p:cNvPr id="16" name="Text Placeholder 15">
            <a:extLst>
              <a:ext uri="{FF2B5EF4-FFF2-40B4-BE49-F238E27FC236}">
                <a16:creationId xmlns:a16="http://schemas.microsoft.com/office/drawing/2014/main" id="{EA51C031-1C30-2E75-2A1D-8E6C4E6B2254}"/>
              </a:ext>
            </a:extLst>
          </p:cNvPr>
          <p:cNvSpPr>
            <a:spLocks noGrp="1"/>
          </p:cNvSpPr>
          <p:nvPr>
            <p:ph type="body" sz="quarter" idx="24"/>
          </p:nvPr>
        </p:nvSpPr>
        <p:spPr/>
        <p:txBody>
          <a:bodyPr/>
          <a:lstStyle/>
          <a:p>
            <a:r>
              <a:rPr lang="en-BE">
                <a:hlinkClick r:id="rId4">
                  <a:extLst>
                    <a:ext uri="{A12FA001-AC4F-418D-AE19-62706E023703}">
                      <ahyp:hlinkClr xmlns:ahyp="http://schemas.microsoft.com/office/drawing/2018/hyperlinkcolor" val="tx"/>
                    </a:ext>
                  </a:extLst>
                </a:hlinkClick>
              </a:rPr>
              <a:t>@ugent</a:t>
            </a:r>
          </a:p>
        </p:txBody>
      </p:sp>
      <p:pic>
        <p:nvPicPr>
          <p:cNvPr id="28" name="Picture Placeholder 27">
            <a:hlinkClick r:id="rId4"/>
            <a:extLst>
              <a:ext uri="{FF2B5EF4-FFF2-40B4-BE49-F238E27FC236}">
                <a16:creationId xmlns:a16="http://schemas.microsoft.com/office/drawing/2014/main" id="{F13E02E3-9776-71EE-3CD3-32BF2BC344F9}"/>
              </a:ext>
            </a:extLst>
          </p:cNvPr>
          <p:cNvPicPr>
            <a:picLocks noGrp="1" noChangeAspect="1"/>
          </p:cNvPicPr>
          <p:nvPr>
            <p:ph type="pic" sz="quarter" idx="25"/>
          </p:nvPr>
        </p:nvPicPr>
        <p:blipFill>
          <a:blip>
            <a:extLst>
              <a:ext uri="{96DAC541-7B7A-43D3-8B79-37D633B846F1}">
                <asvg:svgBlip xmlns:asvg="http://schemas.microsoft.com/office/drawing/2016/SVG/main" r:embed="rId5"/>
              </a:ext>
            </a:extLst>
          </a:blip>
          <a:srcRect t="220" b="220"/>
          <a:stretch>
            <a:fillRect/>
          </a:stretch>
        </p:blipFill>
        <p:spPr/>
      </p:pic>
      <p:sp>
        <p:nvSpPr>
          <p:cNvPr id="18" name="Text Placeholder 17">
            <a:extLst>
              <a:ext uri="{FF2B5EF4-FFF2-40B4-BE49-F238E27FC236}">
                <a16:creationId xmlns:a16="http://schemas.microsoft.com/office/drawing/2014/main" id="{B6740C27-80C4-02E0-7320-A7188529E9F7}"/>
              </a:ext>
            </a:extLst>
          </p:cNvPr>
          <p:cNvSpPr>
            <a:spLocks noGrp="1"/>
          </p:cNvSpPr>
          <p:nvPr>
            <p:ph type="body" sz="quarter" idx="26"/>
          </p:nvPr>
        </p:nvSpPr>
        <p:spPr/>
        <p:txBody>
          <a:bodyPr/>
          <a:lstStyle/>
          <a:p>
            <a:r>
              <a:rPr lang="en-BE">
                <a:hlinkClick r:id="rId6">
                  <a:extLst>
                    <a:ext uri="{A12FA001-AC4F-418D-AE19-62706E023703}">
                      <ahyp:hlinkClr xmlns:ahyp="http://schemas.microsoft.com/office/drawing/2018/hyperlinkcolor" val="tx"/>
                    </a:ext>
                  </a:extLst>
                </a:hlinkClick>
              </a:rPr>
              <a:t>@ugent</a:t>
            </a:r>
          </a:p>
        </p:txBody>
      </p:sp>
      <p:pic>
        <p:nvPicPr>
          <p:cNvPr id="30" name="Picture Placeholder 29">
            <a:hlinkClick r:id="rId6"/>
            <a:extLst>
              <a:ext uri="{FF2B5EF4-FFF2-40B4-BE49-F238E27FC236}">
                <a16:creationId xmlns:a16="http://schemas.microsoft.com/office/drawing/2014/main" id="{DCB2E44B-9803-9221-55A5-7FB71673D7CB}"/>
              </a:ext>
            </a:extLst>
          </p:cNvPr>
          <p:cNvPicPr>
            <a:picLocks noGrp="1" noChangeAspect="1"/>
          </p:cNvPicPr>
          <p:nvPr>
            <p:ph type="pic" sz="quarter" idx="27"/>
          </p:nvPr>
        </p:nvPicPr>
        <p:blipFill>
          <a:blip>
            <a:extLst>
              <a:ext uri="{96DAC541-7B7A-43D3-8B79-37D633B846F1}">
                <asvg:svgBlip xmlns:asvg="http://schemas.microsoft.com/office/drawing/2016/SVG/main" r:embed="rId7"/>
              </a:ext>
            </a:extLst>
          </a:blip>
          <a:srcRect/>
          <a:stretch>
            <a:fillRect/>
          </a:stretch>
        </p:blipFill>
        <p:spPr/>
      </p:pic>
      <p:sp>
        <p:nvSpPr>
          <p:cNvPr id="20" name="Text Placeholder 19">
            <a:extLst>
              <a:ext uri="{FF2B5EF4-FFF2-40B4-BE49-F238E27FC236}">
                <a16:creationId xmlns:a16="http://schemas.microsoft.com/office/drawing/2014/main" id="{01BF99A9-B150-15CF-D33F-A6B680D26CE5}"/>
              </a:ext>
            </a:extLst>
          </p:cNvPr>
          <p:cNvSpPr>
            <a:spLocks noGrp="1"/>
          </p:cNvSpPr>
          <p:nvPr>
            <p:ph type="body" sz="quarter" idx="28"/>
          </p:nvPr>
        </p:nvSpPr>
        <p:spPr/>
        <p:txBody>
          <a:bodyPr/>
          <a:lstStyle/>
          <a:p>
            <a:r>
              <a:rPr lang="en-BE" dirty="0">
                <a:hlinkClick r:id="rId8">
                  <a:extLst>
                    <a:ext uri="{A12FA001-AC4F-418D-AE19-62706E023703}">
                      <ahyp:hlinkClr xmlns:ahyp="http://schemas.microsoft.com/office/drawing/2018/hyperlinkcolor" val="tx"/>
                    </a:ext>
                  </a:extLst>
                </a:hlinkClick>
              </a:rPr>
              <a:t>Ghent University</a:t>
            </a:r>
          </a:p>
        </p:txBody>
      </p:sp>
      <p:pic>
        <p:nvPicPr>
          <p:cNvPr id="32" name="Picture Placeholder 31">
            <a:hlinkClick r:id="rId8"/>
            <a:extLst>
              <a:ext uri="{FF2B5EF4-FFF2-40B4-BE49-F238E27FC236}">
                <a16:creationId xmlns:a16="http://schemas.microsoft.com/office/drawing/2014/main" id="{BD12A29D-A1BF-F2EF-147B-299658A590D5}"/>
              </a:ext>
            </a:extLst>
          </p:cNvPr>
          <p:cNvPicPr>
            <a:picLocks noGrp="1" noChangeAspect="1"/>
          </p:cNvPicPr>
          <p:nvPr>
            <p:ph type="pic" sz="quarter" idx="29"/>
          </p:nvPr>
        </p:nvPicPr>
        <p:blipFill>
          <a:blip>
            <a:extLst>
              <a:ext uri="{96DAC541-7B7A-43D3-8B79-37D633B846F1}">
                <asvg:svgBlip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2192002C-8789-CB1D-F78C-332D8BAB32BA}"/>
              </a:ext>
            </a:extLst>
          </p:cNvPr>
          <p:cNvSpPr>
            <a:spLocks noGrp="1"/>
          </p:cNvSpPr>
          <p:nvPr>
            <p:ph type="body" sz="quarter" idx="30"/>
          </p:nvPr>
        </p:nvSpPr>
        <p:spPr/>
        <p:txBody>
          <a:bodyPr/>
          <a:lstStyle/>
          <a:p>
            <a:r>
              <a:rPr lang="en-GB" dirty="0">
                <a:hlinkClick r:id="rId10">
                  <a:extLst>
                    <a:ext uri="{A12FA001-AC4F-418D-AE19-62706E023703}">
                      <ahyp:hlinkClr xmlns:ahyp="http://schemas.microsoft.com/office/drawing/2018/hyperlinkcolor" val="tx"/>
                    </a:ext>
                  </a:extLst>
                </a:hlinkClick>
              </a:rPr>
              <a:t>y</a:t>
            </a:r>
            <a:r>
              <a:rPr lang="en-BE" dirty="0">
                <a:hlinkClick r:id="rId10">
                  <a:extLst>
                    <a:ext uri="{A12FA001-AC4F-418D-AE19-62706E023703}">
                      <ahyp:hlinkClr xmlns:ahyp="http://schemas.microsoft.com/office/drawing/2018/hyperlinkcolor" val="tx"/>
                    </a:ext>
                  </a:extLst>
                </a:hlinkClick>
              </a:rPr>
              <a:t>outube.com/ugent</a:t>
            </a:r>
          </a:p>
        </p:txBody>
      </p:sp>
      <p:pic>
        <p:nvPicPr>
          <p:cNvPr id="34" name="Picture Placeholder 33">
            <a:hlinkClick r:id="rId10"/>
            <a:extLst>
              <a:ext uri="{FF2B5EF4-FFF2-40B4-BE49-F238E27FC236}">
                <a16:creationId xmlns:a16="http://schemas.microsoft.com/office/drawing/2014/main" id="{DD1E2D79-EBEB-979E-7D1E-782F984DFE26}"/>
              </a:ext>
            </a:extLst>
          </p:cNvPr>
          <p:cNvPicPr>
            <a:picLocks noGrp="1" noChangeAspect="1"/>
          </p:cNvPicPr>
          <p:nvPr>
            <p:ph type="pic" sz="quarter" idx="31"/>
          </p:nvPr>
        </p:nvPicPr>
        <p:blipFill>
          <a:blip>
            <a:extLst>
              <a:ext uri="{96DAC541-7B7A-43D3-8B79-37D633B846F1}">
                <asvg:svgBlip xmlns:asvg="http://schemas.microsoft.com/office/drawing/2016/SVG/main" r:embed="rId11"/>
              </a:ext>
            </a:extLst>
          </a:blip>
          <a:srcRect t="220" b="220"/>
          <a:stretch>
            <a:fillRect/>
          </a:stretch>
        </p:blipFill>
        <p:spPr/>
      </p:pic>
      <p:sp>
        <p:nvSpPr>
          <p:cNvPr id="24" name="Text Placeholder 23">
            <a:extLst>
              <a:ext uri="{FF2B5EF4-FFF2-40B4-BE49-F238E27FC236}">
                <a16:creationId xmlns:a16="http://schemas.microsoft.com/office/drawing/2014/main" id="{39492567-30DB-0137-66D2-DE1B68BD4C17}"/>
              </a:ext>
            </a:extLst>
          </p:cNvPr>
          <p:cNvSpPr>
            <a:spLocks noGrp="1"/>
          </p:cNvSpPr>
          <p:nvPr>
            <p:ph type="body" sz="quarter" idx="32"/>
          </p:nvPr>
        </p:nvSpPr>
        <p:spPr/>
        <p:txBody>
          <a:bodyPr/>
          <a:lstStyle/>
          <a:p>
            <a:r>
              <a:rPr lang="en-BE"/>
              <a:t>www.ugent.be</a:t>
            </a:r>
          </a:p>
        </p:txBody>
      </p:sp>
      <p:sp>
        <p:nvSpPr>
          <p:cNvPr id="3" name="Rectangle 2">
            <a:hlinkClick r:id="rId12"/>
            <a:extLst>
              <a:ext uri="{FF2B5EF4-FFF2-40B4-BE49-F238E27FC236}">
                <a16:creationId xmlns:a16="http://schemas.microsoft.com/office/drawing/2014/main" id="{55F21908-4484-A8B3-AC27-DAC9BB754A79}"/>
              </a:ext>
            </a:extLst>
          </p:cNvPr>
          <p:cNvSpPr/>
          <p:nvPr/>
        </p:nvSpPr>
        <p:spPr>
          <a:xfrm>
            <a:off x="8739398" y="4971369"/>
            <a:ext cx="1869260" cy="466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4826045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svg"/></Relationships>
</file>

<file path=ppt/theme/theme1.xml><?xml version="1.0" encoding="utf-8"?>
<a:theme xmlns:a="http://schemas.openxmlformats.org/drawingml/2006/main" name="Kantoorthema">
  <a:themeElements>
    <a:clrScheme name="UGent FAC">
      <a:dk1>
        <a:srgbClr val="000000"/>
      </a:dk1>
      <a:lt1>
        <a:srgbClr val="FFFFFF"/>
      </a:lt1>
      <a:dk2>
        <a:srgbClr val="1E64C8"/>
      </a:dk2>
      <a:lt2>
        <a:srgbClr val="FFFFFF"/>
      </a:lt2>
      <a:accent1>
        <a:srgbClr val="F1A32B"/>
      </a:accent1>
      <a:accent2>
        <a:srgbClr val="DC4E31"/>
      </a:accent2>
      <a:accent3>
        <a:srgbClr val="2C8CA5"/>
      </a:accent3>
      <a:accent4>
        <a:srgbClr val="E85E71"/>
      </a:accent4>
      <a:accent5>
        <a:srgbClr val="8BBED5"/>
      </a:accent5>
      <a:accent6>
        <a:srgbClr val="AEB047"/>
      </a:accent6>
      <a:hlink>
        <a:srgbClr val="1E64C8"/>
      </a:hlink>
      <a:folHlink>
        <a:srgbClr val="1E64C8"/>
      </a:folHlink>
    </a:clrScheme>
    <a:fontScheme name="UGent">
      <a:majorFont>
        <a:latin typeface="UGent Panno Text SemiBold"/>
        <a:ea typeface=""/>
        <a:cs typeface=""/>
      </a:majorFont>
      <a:minorFont>
        <a:latin typeface="UGent Panno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a:spPr>
      <a:bodyPr/>
      <a:lstStyle>
        <a:defPPr algn="l">
          <a:defRPr/>
        </a:defPPr>
      </a:lstStyle>
      <a:style>
        <a:lnRef idx="2">
          <a:scrgbClr r="0" g="0" b="0"/>
        </a:lnRef>
        <a:fillRef idx="1">
          <a:scrgbClr r="0" g="0" b="0"/>
        </a:fillRef>
        <a:effectRef idx="0">
          <a:schemeClr val="dk2">
            <a:tint val="40000"/>
            <a:hueOff val="0"/>
            <a:satOff val="0"/>
            <a:lumOff val="0"/>
            <a:alphaOff val="0"/>
          </a:schemeClr>
        </a:effectRef>
        <a:fontRef idx="minor">
          <a:schemeClr val="lt1">
            <a:hueOff val="0"/>
            <a:satOff val="0"/>
            <a:lumOff val="0"/>
            <a:alphaOff val="0"/>
          </a:schemeClr>
        </a:fontRef>
      </a:style>
    </a:spDef>
  </a:objectDefaults>
  <a:extraClrSchemeLst/>
  <a:extLst>
    <a:ext uri="{05A4C25C-085E-4340-85A3-A5531E510DB2}">
      <thm15:themeFamily xmlns:thm15="http://schemas.microsoft.com/office/thememl/2012/main" name="Presentatie1" id="{CADDFB91-C688-4600-9637-E64F35C1E4BE}" vid="{E1B6215B-46C5-4A02-9A90-726F133FF5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Kantoorthema</Template>
  <TotalTime>15371</TotalTime>
  <Words>1720</Words>
  <Application>Microsoft Macintosh PowerPoint</Application>
  <PresentationFormat>Widescreen</PresentationFormat>
  <Paragraphs>258</Paragraphs>
  <Slides>46</Slides>
  <Notes>17</Notes>
  <HiddenSlides>14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Cambria Math</vt:lpstr>
      <vt:lpstr>UGent Panno Text</vt:lpstr>
      <vt:lpstr>UGent Panno Text Medium</vt:lpstr>
      <vt:lpstr>UGent Panno Text SemiLight</vt:lpstr>
      <vt:lpstr>Kantoorthema</vt:lpstr>
      <vt:lpstr>PowerPoint Presentation</vt:lpstr>
      <vt:lpstr>Introduction</vt:lpstr>
      <vt:lpstr>System Model</vt:lpstr>
      <vt:lpstr>System Model</vt:lpstr>
      <vt:lpstr>Simulation Framework</vt:lpstr>
      <vt:lpstr>Simulation Framework</vt:lpstr>
      <vt:lpstr>PowerPoint Presentation</vt:lpstr>
      <vt:lpstr>Precoding Techniques – ZF</vt:lpstr>
      <vt:lpstr>Precoding Techniques – ZF</vt:lpstr>
      <vt:lpstr>Precoding Techniques – ZF</vt:lpstr>
      <vt:lpstr>Precoding Techniques – ZF</vt:lpstr>
      <vt:lpstr>Precoding Techniques – ZF</vt:lpstr>
      <vt:lpstr>Simulation Results – ZF</vt:lpstr>
      <vt:lpstr>Simulation Results – ZF</vt:lpstr>
      <vt:lpstr>Simulation Results – ZF</vt:lpstr>
      <vt:lpstr>Simulation Results – ZF</vt:lpstr>
      <vt:lpstr>Simulation Results – ZF</vt:lpstr>
      <vt:lpstr>Precoding Techniques – ZF + LSV</vt:lpstr>
      <vt:lpstr>Simulation Results – ZF + LSV</vt:lpstr>
      <vt:lpstr>Simulation Results – ZF + LSV</vt:lpstr>
      <vt:lpstr>Simulation Results – ZF + LSV</vt:lpstr>
      <vt:lpstr>Simulation Results – ZF + LSV</vt:lpstr>
      <vt:lpstr>Precoding Techniques –  BD</vt:lpstr>
      <vt:lpstr>Simulation Results – BD</vt:lpstr>
      <vt:lpstr>Simulation Results – BD</vt:lpstr>
      <vt:lpstr>Simulation Results – BD</vt:lpstr>
      <vt:lpstr>Simulation Results – BD</vt:lpstr>
      <vt:lpstr>Precoding Techniques –  WMMSE</vt:lpstr>
      <vt:lpstr>Simulation Results – WMMSE</vt:lpstr>
      <vt:lpstr>Simulation Results – WMMSE</vt:lpstr>
      <vt:lpstr>Simulation Results – WMMSE</vt:lpstr>
      <vt:lpstr>Simulation Results – WMMSE</vt:lpstr>
      <vt:lpstr>Precoding Techniques –  Comparison</vt:lpstr>
      <vt:lpstr>Precoding Techniques –  Comparison (Fully Loaded System 2 UTs)</vt:lpstr>
      <vt:lpstr>Precoding Techniques –  Comparison (Fully Loaded System 2 UTs)</vt:lpstr>
      <vt:lpstr>Precoding Techniques –  Comparison (Fully Loaded System 2 UTs)</vt:lpstr>
      <vt:lpstr>Precoding Techniques –  Comparison (Fully Loaded System 4 UTs)</vt:lpstr>
      <vt:lpstr>Precoding Techniques –  Comparison (Fully Loaded System 4 UTs)</vt:lpstr>
      <vt:lpstr>Precoding Techniques –  Comparison (Fully Loaded System 4 UTs)</vt:lpstr>
      <vt:lpstr>Precoding Techniques –  Comparison (Underloaded System)</vt:lpstr>
      <vt:lpstr>Precoding Techniques –  Comparison (Underloaded System)</vt:lpstr>
      <vt:lpstr>Precoding Techniques –  Comparison (Underloaded System)</vt:lpstr>
      <vt:lpstr>Precoding Techniques –  Comparison</vt:lpstr>
      <vt:lpstr>Precoding Techniques –  Comparison</vt:lpstr>
      <vt:lpstr>Precoding Techniques –  Comparison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Wannes Baes</dc:creator>
  <cp:lastModifiedBy>Wannes Baes</cp:lastModifiedBy>
  <cp:revision>67</cp:revision>
  <dcterms:created xsi:type="dcterms:W3CDTF">2025-11-25T17:27:12Z</dcterms:created>
  <dcterms:modified xsi:type="dcterms:W3CDTF">2026-05-03T13:17:45Z</dcterms:modified>
</cp:coreProperties>
</file>