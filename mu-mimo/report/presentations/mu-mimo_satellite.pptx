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301" r:id="rId2"/>
    <p:sldId id="312" r:id="rId3"/>
    <p:sldId id="313" r:id="rId4"/>
    <p:sldId id="317" r:id="rId5"/>
    <p:sldId id="376" r:id="rId6"/>
    <p:sldId id="383" r:id="rId7"/>
    <p:sldId id="380" r:id="rId8"/>
    <p:sldId id="382" r:id="rId9"/>
    <p:sldId id="381" r:id="rId10"/>
    <p:sldId id="266" r:id="rId11"/>
    <p:sldId id="377" r:id="rId12"/>
    <p:sldId id="378" r:id="rId13"/>
    <p:sldId id="379" r:id="rId14"/>
  </p:sldIdLst>
  <p:sldSz cx="12192000" cy="6858000"/>
  <p:notesSz cx="6858000" cy="9144000"/>
  <p:defaultTextStyle>
    <a:defPPr>
      <a:defRPr lang="en-B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B2169BB3-EFC2-7940-8398-154E1E0B2510}">
          <p14:sldIdLst>
            <p14:sldId id="301"/>
            <p14:sldId id="312"/>
          </p14:sldIdLst>
        </p14:section>
        <p14:section name="SYSTEM MODEL" id="{3634A92E-ADB6-CE42-BE50-EECB3D07BDC5}">
          <p14:sldIdLst>
            <p14:sldId id="313"/>
            <p14:sldId id="317"/>
          </p14:sldIdLst>
        </p14:section>
        <p14:section name="SATELLITE CHANNEL MODEL" id="{158B801C-CB75-1A4B-BA41-FBD5474778A6}">
          <p14:sldIdLst>
            <p14:sldId id="376"/>
            <p14:sldId id="383"/>
            <p14:sldId id="380"/>
            <p14:sldId id="382"/>
            <p14:sldId id="381"/>
          </p14:sldIdLst>
        </p14:section>
        <p14:section name="OUTRO" id="{BFBD6C70-805E-5A4F-B1A9-E2507E720D2F}">
          <p14:sldIdLst>
            <p14:sldId id="266"/>
          </p14:sldIdLst>
        </p14:section>
        <p14:section name="DRAFT SLIDES" id="{204E1D69-ED81-B546-B70D-3F2E89FD4166}">
          <p14:sldIdLst>
            <p14:sldId id="377"/>
            <p14:sldId id="378"/>
            <p14:sldId id="379"/>
          </p14:sldIdLst>
        </p14:section>
      </p14:sectionLst>
    </p:ext>
    <p:ext uri="{EFAFB233-063F-42B5-8137-9DF3F51BA10A}">
      <p15:sldGuideLst xmlns:p15="http://schemas.microsoft.com/office/powerpoint/2012/main">
        <p15:guide id="3" orient="horz" pos="3543" userDrawn="1">
          <p15:clr>
            <a:srgbClr val="A4A3A4"/>
          </p15:clr>
        </p15:guide>
        <p15:guide id="4" pos="211" userDrawn="1">
          <p15:clr>
            <a:srgbClr val="A4A3A4"/>
          </p15:clr>
        </p15:guide>
        <p15:guide id="5" orient="horz" pos="4133" userDrawn="1">
          <p15:clr>
            <a:srgbClr val="A4A3A4"/>
          </p15:clr>
        </p15:guide>
        <p15:guide id="9" orient="horz" pos="1480" userDrawn="1">
          <p15:clr>
            <a:srgbClr val="A4A3A4"/>
          </p15:clr>
        </p15:guide>
        <p15:guide id="10" orient="horz" pos="2251" userDrawn="1">
          <p15:clr>
            <a:srgbClr val="A4A3A4"/>
          </p15:clr>
        </p15:guide>
        <p15:guide id="12" pos="7446" userDrawn="1">
          <p15:clr>
            <a:srgbClr val="A4A3A4"/>
          </p15:clr>
        </p15:guide>
        <p15:guide id="13" pos="359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86602"/>
    <a:srgbClr val="1E64C8"/>
    <a:srgbClr val="1E840F"/>
    <a:srgbClr val="8BBEE8"/>
    <a:srgbClr val="C8D8F0"/>
    <a:srgbClr val="E9F0FA"/>
    <a:srgbClr val="AEB050"/>
    <a:srgbClr val="FFD2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5758FB7-9AC5-4552-8A53-C91805E547FA}" styleName="Themed Style 1 –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5A111915-BE36-4E01-A7E5-04B1672EAD32}" styleName="Light Style 2 –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F2DE63D5-997A-4646-A377-4702673A728D}" styleName="Light Style 2 –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4C1A8A3-306A-4EB7-A6B1-4F7E0EB9C5D6}" styleName="Medium Style 3 –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ABFCF23-3B69-468F-B69F-88F6DE6A72F2}" styleName="Medium Style 1 –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922" autoAdjust="0"/>
    <p:restoredTop sz="77888"/>
  </p:normalViewPr>
  <p:slideViewPr>
    <p:cSldViewPr snapToGrid="0" showGuides="1">
      <p:cViewPr varScale="1">
        <p:scale>
          <a:sx n="123" d="100"/>
          <a:sy n="123" d="100"/>
        </p:scale>
        <p:origin x="2208" y="192"/>
      </p:cViewPr>
      <p:guideLst>
        <p:guide orient="horz" pos="3543"/>
        <p:guide pos="211"/>
        <p:guide orient="horz" pos="4133"/>
        <p:guide orient="horz" pos="1480"/>
        <p:guide orient="horz" pos="2251"/>
        <p:guide pos="7446"/>
        <p:guide pos="359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159" d="100"/>
          <a:sy n="159" d="100"/>
        </p:scale>
        <p:origin x="5320" y="17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B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C0EFEC-C3FA-3C4A-B7F4-DA1C3F57E471}" type="datetimeFigureOut">
              <a:t>13/04/2026</a:t>
            </a:fld>
            <a:endParaRPr lang="en-B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B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522D08-1F01-BB49-AF51-EBB99F15D995}" type="slidenum"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0904875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BE" dirty="0"/>
              <a:t>The Rice factor K quantifies the strength of the deterministic LoS component relative to the scattered multipath.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BE" dirty="0"/>
              <a:t>f_D is the Doppler Frequency limit.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522D08-1F01-BB49-AF51-EBB99F15D995}" type="slidenum">
              <a:rPr lang="en-BE" smtClean="0"/>
              <a:t>5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499403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T_RTT: the round-trip time. This is how long it takes for a signal to go from BS to UT and back (twice the propagation delay).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 err="1"/>
              <a:t>T_c</a:t>
            </a:r>
            <a:r>
              <a:rPr lang="en-GB" dirty="0"/>
              <a:t>: the coherence time. The channel is assumed to be constant during this period.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 err="1"/>
              <a:t>T_block</a:t>
            </a:r>
            <a:r>
              <a:rPr lang="en-GB" dirty="0"/>
              <a:t>: the block period. Also, the sample period </a:t>
            </a:r>
            <a:r>
              <a:rPr lang="en-GB" dirty="0" err="1"/>
              <a:t>T_sample</a:t>
            </a:r>
            <a:r>
              <a:rPr lang="en-GB" dirty="0"/>
              <a:t> of the channel realization. Tb &lt;= Tc, so the channel is assumed to be constant during the transmission of one block (block fading).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 err="1"/>
              <a:t>T_symbol</a:t>
            </a:r>
            <a:r>
              <a:rPr lang="en-GB" dirty="0"/>
              <a:t>: the symbol period.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GB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 err="1"/>
              <a:t>CSI_delay</a:t>
            </a:r>
            <a:r>
              <a:rPr lang="en-GB" dirty="0"/>
              <a:t>: the delay on the CSI expressed in block periods.</a:t>
            </a:r>
            <a:endParaRPr lang="en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522D08-1F01-BB49-AF51-EBB99F15D995}" type="slidenum">
              <a:rPr lang="en-BE" smtClean="0"/>
              <a:t>6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5152808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522D08-1F01-BB49-AF51-EBB99F15D995}" type="slidenum">
              <a:rPr lang="en-BE" smtClean="0"/>
              <a:t>13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9001404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://www.ugent.be/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BE7AAA61-02E7-BAC9-EA05-6C3E6931C9AE}"/>
              </a:ext>
            </a:extLst>
          </p:cNvPr>
          <p:cNvSpPr/>
          <p:nvPr userDrawn="1"/>
        </p:nvSpPr>
        <p:spPr>
          <a:xfrm>
            <a:off x="334962" y="904834"/>
            <a:ext cx="11857038" cy="4727381"/>
          </a:xfrm>
          <a:prstGeom prst="rect">
            <a:avLst/>
          </a:prstGeom>
          <a:solidFill>
            <a:srgbClr val="1E64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F6D2043D-6EB9-0864-5E05-87A3F67AF25E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708775" y="904834"/>
            <a:ext cx="5483225" cy="4727616"/>
          </a:xfrm>
          <a:prstGeom prst="rect">
            <a:avLst/>
          </a:prstGeom>
          <a:noFill/>
        </p:spPr>
        <p:txBody>
          <a:bodyPr/>
          <a:lstStyle>
            <a:lvl1pPr marL="0" indent="0">
              <a:buFontTx/>
              <a:buNone/>
              <a:defRPr b="0" i="1" baseline="0">
                <a:solidFill>
                  <a:schemeClr val="bg1"/>
                </a:solidFill>
              </a:defRPr>
            </a:lvl1pPr>
          </a:lstStyle>
          <a:p>
            <a:r>
              <a:rPr lang="nl-BE" dirty="0"/>
              <a:t>Click </a:t>
            </a:r>
            <a:r>
              <a:rPr lang="nl-BE" dirty="0" err="1"/>
              <a:t>to</a:t>
            </a:r>
            <a:r>
              <a:rPr lang="nl-BE" dirty="0"/>
              <a:t> </a:t>
            </a:r>
            <a:r>
              <a:rPr lang="nl-BE" dirty="0" err="1"/>
              <a:t>add</a:t>
            </a:r>
            <a:r>
              <a:rPr lang="nl-BE" dirty="0"/>
              <a:t> picture</a:t>
            </a:r>
            <a:endParaRPr lang="en-BE" dirty="0"/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3BA10A23-5DA3-9A1E-8E84-29F7F107D9C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8206" y="1076122"/>
            <a:ext cx="5800725" cy="25331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1" i="0" cap="all" baseline="0">
                <a:solidFill>
                  <a:schemeClr val="bg1"/>
                </a:solidFill>
                <a:latin typeface="UGent Panno Text" panose="02000506040000040003" pitchFamily="2" charset="0"/>
              </a:defRPr>
            </a:lvl1pPr>
          </a:lstStyle>
          <a:p>
            <a:pPr lvl="0"/>
            <a:r>
              <a:rPr lang="nl-BE" dirty="0"/>
              <a:t>Click </a:t>
            </a:r>
            <a:r>
              <a:rPr lang="nl-BE" dirty="0" err="1"/>
              <a:t>to</a:t>
            </a:r>
            <a:r>
              <a:rPr lang="nl-BE" dirty="0"/>
              <a:t> </a:t>
            </a:r>
            <a:r>
              <a:rPr lang="nl-BE" dirty="0" err="1"/>
              <a:t>add</a:t>
            </a:r>
            <a:r>
              <a:rPr lang="nl-BE" dirty="0"/>
              <a:t> </a:t>
            </a:r>
            <a:r>
              <a:rPr lang="nl-BE" dirty="0" err="1"/>
              <a:t>department</a:t>
            </a:r>
            <a:endParaRPr lang="en-GB" dirty="0"/>
          </a:p>
        </p:txBody>
      </p:sp>
      <p:sp>
        <p:nvSpPr>
          <p:cNvPr id="21" name="Text Placeholder 15">
            <a:extLst>
              <a:ext uri="{FF2B5EF4-FFF2-40B4-BE49-F238E27FC236}">
                <a16:creationId xmlns:a16="http://schemas.microsoft.com/office/drawing/2014/main" id="{62DBA8D7-7A6E-681C-61D6-629E37255DC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88206" y="1336460"/>
            <a:ext cx="5800725" cy="25331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0" i="0" cap="all" baseline="0">
                <a:solidFill>
                  <a:schemeClr val="bg1"/>
                </a:solidFill>
                <a:latin typeface="UGent Panno Text" panose="02000506040000040003" pitchFamily="2" charset="0"/>
              </a:defRPr>
            </a:lvl1pPr>
          </a:lstStyle>
          <a:p>
            <a:pPr lvl="0"/>
            <a:r>
              <a:rPr lang="nl-BE" dirty="0"/>
              <a:t>Click </a:t>
            </a:r>
            <a:r>
              <a:rPr lang="nl-BE" dirty="0" err="1"/>
              <a:t>to</a:t>
            </a:r>
            <a:r>
              <a:rPr lang="nl-BE" dirty="0"/>
              <a:t> </a:t>
            </a:r>
            <a:r>
              <a:rPr lang="nl-BE" dirty="0" err="1"/>
              <a:t>add</a:t>
            </a:r>
            <a:r>
              <a:rPr lang="nl-BE" dirty="0"/>
              <a:t> research </a:t>
            </a:r>
            <a:r>
              <a:rPr lang="nl-BE" dirty="0" err="1"/>
              <a:t>group</a:t>
            </a:r>
            <a:endParaRPr lang="en-GB" dirty="0"/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99674CE-CC5A-6E5E-B20B-6D1ECE87588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5820" y="4947903"/>
            <a:ext cx="5868987" cy="33855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cap="none" baseline="0">
                <a:solidFill>
                  <a:schemeClr val="bg1"/>
                </a:solidFill>
                <a:latin typeface="UGent Panno Text" panose="02000506040000040003" pitchFamily="2" charset="0"/>
              </a:defRPr>
            </a:lvl1pPr>
          </a:lstStyle>
          <a:p>
            <a:r>
              <a:rPr lang="en-GB" noProof="0" dirty="0"/>
              <a:t>Click to add subtitle / presenter / date [dd-mm-</a:t>
            </a:r>
            <a:r>
              <a:rPr lang="en-GB" noProof="0" dirty="0" err="1"/>
              <a:t>yyyy</a:t>
            </a:r>
            <a:r>
              <a:rPr lang="en-GB" noProof="0" dirty="0"/>
              <a:t>]</a:t>
            </a:r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3C3B384C-5F63-0027-60E1-3323498634AF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3993515" y="5845558"/>
            <a:ext cx="1929765" cy="69889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aseline="0"/>
            </a:lvl1pPr>
          </a:lstStyle>
          <a:p>
            <a:r>
              <a:rPr lang="en-BE"/>
              <a:t>Partner Logo 2</a:t>
            </a:r>
          </a:p>
        </p:txBody>
      </p:sp>
      <p:sp>
        <p:nvSpPr>
          <p:cNvPr id="6" name="Picture Placeholder 3">
            <a:extLst>
              <a:ext uri="{FF2B5EF4-FFF2-40B4-BE49-F238E27FC236}">
                <a16:creationId xmlns:a16="http://schemas.microsoft.com/office/drawing/2014/main" id="{47C46CF3-3266-0AE4-E490-2AB34D0D8D7C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086475" y="5845558"/>
            <a:ext cx="1929765" cy="69889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aseline="0"/>
            </a:lvl1pPr>
          </a:lstStyle>
          <a:p>
            <a:r>
              <a:rPr lang="en-BE"/>
              <a:t>Partner Logo 3</a:t>
            </a:r>
          </a:p>
        </p:txBody>
      </p:sp>
      <p:sp>
        <p:nvSpPr>
          <p:cNvPr id="7" name="Picture Placeholder 3">
            <a:extLst>
              <a:ext uri="{FF2B5EF4-FFF2-40B4-BE49-F238E27FC236}">
                <a16:creationId xmlns:a16="http://schemas.microsoft.com/office/drawing/2014/main" id="{3B1542A1-6AC8-E18C-CF5F-D1E4308D374A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8179435" y="5845558"/>
            <a:ext cx="1929765" cy="69889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aseline="0"/>
            </a:lvl1pPr>
          </a:lstStyle>
          <a:p>
            <a:r>
              <a:rPr lang="en-BE"/>
              <a:t>Partner Logo 4</a:t>
            </a:r>
          </a:p>
        </p:txBody>
      </p:sp>
      <p:sp>
        <p:nvSpPr>
          <p:cNvPr id="3" name="Text Placeholder 15">
            <a:extLst>
              <a:ext uri="{FF2B5EF4-FFF2-40B4-BE49-F238E27FC236}">
                <a16:creationId xmlns:a16="http://schemas.microsoft.com/office/drawing/2014/main" id="{5CD99CC8-1C66-FA5B-C68B-CA8D27A118F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4196" y="2126254"/>
            <a:ext cx="5632959" cy="2601271"/>
          </a:xfrm>
          <a:prstGeom prst="rect">
            <a:avLst/>
          </a:prstGeom>
        </p:spPr>
        <p:txBody>
          <a:bodyPr anchor="b" anchorCtr="0"/>
          <a:lstStyle>
            <a:lvl1pPr marL="0" indent="0">
              <a:lnSpc>
                <a:spcPts val="6800"/>
              </a:lnSpc>
              <a:spcBef>
                <a:spcPts val="0"/>
              </a:spcBef>
              <a:buNone/>
              <a:defRPr sz="6500" b="1" i="0" cap="none" baseline="0">
                <a:solidFill>
                  <a:schemeClr val="bg1"/>
                </a:solidFill>
                <a:latin typeface="UGent Panno Text" panose="02000506040000040003" pitchFamily="2" charset="0"/>
              </a:defRPr>
            </a:lvl1pPr>
          </a:lstStyle>
          <a:p>
            <a:pPr lvl="0"/>
            <a:r>
              <a:rPr lang="en-GB" dirty="0"/>
              <a:t>Click to add title</a:t>
            </a:r>
          </a:p>
        </p:txBody>
      </p:sp>
      <p:pic>
        <p:nvPicPr>
          <p:cNvPr id="8" name="Afbeelding 17">
            <a:extLst>
              <a:ext uri="{FF2B5EF4-FFF2-40B4-BE49-F238E27FC236}">
                <a16:creationId xmlns:a16="http://schemas.microsoft.com/office/drawing/2014/main" id="{377D64E3-D8A5-11E3-0E0C-76355B8A07A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-3506" y="-39239"/>
            <a:ext cx="3126706" cy="1042236"/>
          </a:xfrm>
          <a:prstGeom prst="rect">
            <a:avLst/>
          </a:prstGeom>
        </p:spPr>
      </p:pic>
      <p:sp>
        <p:nvSpPr>
          <p:cNvPr id="2" name="Picture Placeholder 3">
            <a:extLst>
              <a:ext uri="{FF2B5EF4-FFF2-40B4-BE49-F238E27FC236}">
                <a16:creationId xmlns:a16="http://schemas.microsoft.com/office/drawing/2014/main" id="{0581EEBD-3A2E-3F65-A7CB-B3DD05283A4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900555" y="5852592"/>
            <a:ext cx="1929765" cy="69889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aseline="0"/>
            </a:lvl1pPr>
          </a:lstStyle>
          <a:p>
            <a:r>
              <a:rPr lang="en-BE"/>
              <a:t>Partner Logo 1</a:t>
            </a:r>
          </a:p>
        </p:txBody>
      </p:sp>
    </p:spTree>
    <p:extLst>
      <p:ext uri="{BB962C8B-B14F-4D97-AF65-F5344CB8AC3E}">
        <p14:creationId xmlns:p14="http://schemas.microsoft.com/office/powerpoint/2010/main" val="38882136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pos="4226" userDrawn="1">
          <p15:clr>
            <a:srgbClr val="FBAE40"/>
          </p15:clr>
        </p15:guide>
        <p15:guide id="4" pos="415" userDrawn="1">
          <p15:clr>
            <a:srgbClr val="FBAE40"/>
          </p15:clr>
        </p15:guide>
        <p15:guide id="5" orient="horz" pos="2568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BE7AAA61-02E7-BAC9-EA05-6C3E6931C9AE}"/>
              </a:ext>
            </a:extLst>
          </p:cNvPr>
          <p:cNvSpPr/>
          <p:nvPr userDrawn="1"/>
        </p:nvSpPr>
        <p:spPr>
          <a:xfrm>
            <a:off x="334962" y="-7643"/>
            <a:ext cx="11857038" cy="5632215"/>
          </a:xfrm>
          <a:prstGeom prst="rect">
            <a:avLst/>
          </a:prstGeom>
          <a:solidFill>
            <a:srgbClr val="1E64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F6D2043D-6EB9-0864-5E05-87A3F67AF25E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708775" y="0"/>
            <a:ext cx="5483225" cy="5632450"/>
          </a:xfrm>
          <a:prstGeom prst="rect">
            <a:avLst/>
          </a:prstGeom>
          <a:noFill/>
        </p:spPr>
        <p:txBody>
          <a:bodyPr/>
          <a:lstStyle>
            <a:lvl1pPr marL="0" indent="0">
              <a:buFontTx/>
              <a:buNone/>
              <a:defRPr b="0" i="1" baseline="0">
                <a:solidFill>
                  <a:schemeClr val="bg1"/>
                </a:solidFill>
              </a:defRPr>
            </a:lvl1pPr>
          </a:lstStyle>
          <a:p>
            <a:r>
              <a:rPr lang="nl-BE" dirty="0"/>
              <a:t>Click </a:t>
            </a:r>
            <a:r>
              <a:rPr lang="nl-BE" dirty="0" err="1"/>
              <a:t>to</a:t>
            </a:r>
            <a:r>
              <a:rPr lang="nl-BE" dirty="0"/>
              <a:t> </a:t>
            </a:r>
            <a:r>
              <a:rPr lang="nl-BE" dirty="0" err="1"/>
              <a:t>add</a:t>
            </a:r>
            <a:r>
              <a:rPr lang="nl-BE" dirty="0"/>
              <a:t> picture</a:t>
            </a:r>
            <a:endParaRPr lang="en-BE" dirty="0"/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8696E979-5DD6-A9D0-6C24-A5369197D4E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4196" y="1904921"/>
            <a:ext cx="5632959" cy="3597780"/>
          </a:xfrm>
          <a:prstGeom prst="rect">
            <a:avLst/>
          </a:prstGeom>
        </p:spPr>
        <p:txBody>
          <a:bodyPr anchor="b" anchorCtr="0"/>
          <a:lstStyle>
            <a:lvl1pPr marL="0" indent="0">
              <a:lnSpc>
                <a:spcPts val="6800"/>
              </a:lnSpc>
              <a:spcBef>
                <a:spcPts val="0"/>
              </a:spcBef>
              <a:buNone/>
              <a:defRPr sz="6500" b="1" i="0" cap="none" baseline="0">
                <a:solidFill>
                  <a:schemeClr val="bg1"/>
                </a:solidFill>
                <a:latin typeface="UGent Panno Text" panose="02000506040000040003" pitchFamily="2" charset="0"/>
              </a:defRPr>
            </a:lvl1pPr>
          </a:lstStyle>
          <a:p>
            <a:pPr lvl="0"/>
            <a:r>
              <a:rPr lang="en-GB" dirty="0"/>
              <a:t>Click to add chapter title</a:t>
            </a:r>
          </a:p>
        </p:txBody>
      </p:sp>
    </p:spTree>
    <p:extLst>
      <p:ext uri="{BB962C8B-B14F-4D97-AF65-F5344CB8AC3E}">
        <p14:creationId xmlns:p14="http://schemas.microsoft.com/office/powerpoint/2010/main" val="17695497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4226">
          <p15:clr>
            <a:srgbClr val="FBAE40"/>
          </p15:clr>
        </p15:guide>
        <p15:guide id="4" pos="211" userDrawn="1">
          <p15:clr>
            <a:srgbClr val="FBAE40"/>
          </p15:clr>
        </p15:guide>
        <p15:guide id="5" orient="horz" pos="3543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3B9B38-4062-3544-B884-9B34D23BDCA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42609" y="1889759"/>
            <a:ext cx="10893106" cy="378968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aseline="0">
                <a:latin typeface="UGent Panno Text" panose="02000506040000040003" pitchFamily="2" charset="0"/>
              </a:defRPr>
            </a:lvl1pPr>
            <a:lvl2pPr marL="9525" indent="263525">
              <a:buClr>
                <a:srgbClr val="1E64C8"/>
              </a:buClr>
              <a:tabLst/>
              <a:defRPr baseline="0">
                <a:latin typeface="UGent Panno Text" panose="02000506040000040003" pitchFamily="2" charset="0"/>
              </a:defRPr>
            </a:lvl2pPr>
            <a:lvl3pPr marL="801688" indent="-263525">
              <a:buClr>
                <a:srgbClr val="1E64C8"/>
              </a:buClr>
              <a:tabLst/>
              <a:defRPr baseline="0">
                <a:latin typeface="UGent Panno Text" panose="02000506040000040003" pitchFamily="2" charset="0"/>
              </a:defRPr>
            </a:lvl3pPr>
            <a:lvl4pPr>
              <a:defRPr baseline="0">
                <a:latin typeface="UGent Panno Text" panose="02000506040000040003" pitchFamily="2" charset="0"/>
              </a:defRPr>
            </a:lvl4pPr>
            <a:lvl5pPr>
              <a:defRPr baseline="0">
                <a:latin typeface="UGent Panno Text" panose="02000506040000040003" pitchFamily="2" charset="0"/>
              </a:defRPr>
            </a:lvl5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674F96B-ACC8-7B86-3350-B2CBDF35102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42925" y="1150143"/>
            <a:ext cx="10893106" cy="5492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aseline="0">
                <a:solidFill>
                  <a:srgbClr val="8BBEE8"/>
                </a:solidFill>
                <a:latin typeface="UGent Panno Text" panose="02000506040000040003" pitchFamily="2" charset="0"/>
              </a:defRPr>
            </a:lvl1pPr>
          </a:lstStyle>
          <a:p>
            <a:r>
              <a:rPr lang="en-GB" sz="2800" b="0" i="0" baseline="0" dirty="0">
                <a:latin typeface="UGent Panno Text SemiLight" panose="02000406040000040003" pitchFamily="2" charset="0"/>
              </a:rPr>
              <a:t>Click to add subtitle</a:t>
            </a:r>
            <a:endParaRPr lang="en-BE" sz="2800" b="0" i="0" baseline="0" dirty="0">
              <a:latin typeface="UGent Panno Text SemiLight" panose="02000406040000040003" pitchFamily="2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B6986D91-BB3B-0E85-A2F8-E3C6F52F54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2609" y="250995"/>
            <a:ext cx="10893422" cy="893656"/>
          </a:xfrm>
          <a:prstGeom prst="rect">
            <a:avLst/>
          </a:prstGeom>
        </p:spPr>
        <p:txBody>
          <a:bodyPr tIns="0" bIns="0"/>
          <a:lstStyle>
            <a:lvl1pPr>
              <a:defRPr sz="4400" b="1" i="0" cap="none" baseline="0">
                <a:solidFill>
                  <a:srgbClr val="1E64C8"/>
                </a:solidFill>
                <a:latin typeface="UGent Panno Text" panose="02000506040000040003" pitchFamily="2" charset="0"/>
              </a:defRPr>
            </a:lvl1pPr>
          </a:lstStyle>
          <a:p>
            <a:r>
              <a:rPr lang="en-GB" dirty="0"/>
              <a:t>Click to add title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37115649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25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3B9B38-4062-3544-B884-9B34D23BDCA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42609" y="1889759"/>
            <a:ext cx="5340031" cy="378968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aseline="0">
                <a:latin typeface="UGent Panno Text" panose="02000506040000040003" pitchFamily="2" charset="0"/>
              </a:defRPr>
            </a:lvl1pPr>
            <a:lvl2pPr marL="9525" indent="263525">
              <a:buClr>
                <a:srgbClr val="1E64C8"/>
              </a:buClr>
              <a:tabLst/>
              <a:defRPr baseline="0">
                <a:latin typeface="UGent Panno Text" panose="02000506040000040003" pitchFamily="2" charset="0"/>
              </a:defRPr>
            </a:lvl2pPr>
            <a:lvl3pPr marL="801688" indent="-263525">
              <a:buClr>
                <a:srgbClr val="1E64C8"/>
              </a:buClr>
              <a:tabLst/>
              <a:defRPr baseline="0">
                <a:latin typeface="UGent Panno Text" panose="02000506040000040003" pitchFamily="2" charset="0"/>
              </a:defRPr>
            </a:lvl3pPr>
            <a:lvl4pPr>
              <a:defRPr baseline="0">
                <a:latin typeface="UGent Panno Text" panose="02000506040000040003" pitchFamily="2" charset="0"/>
              </a:defRPr>
            </a:lvl4pPr>
            <a:lvl5pPr>
              <a:defRPr baseline="0">
                <a:latin typeface="UGent Panno Text" panose="02000506040000040003" pitchFamily="2" charset="0"/>
              </a:defRPr>
            </a:lvl5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5D27489-CE6E-43ED-8317-F7C9B416AAF4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6107575" y="1889759"/>
            <a:ext cx="5340031" cy="378968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aseline="0">
                <a:latin typeface="UGent Panno Text" panose="02000506040000040003" pitchFamily="2" charset="0"/>
              </a:defRPr>
            </a:lvl1pPr>
            <a:lvl2pPr marL="9525" indent="263525">
              <a:buClr>
                <a:srgbClr val="1E64C8"/>
              </a:buClr>
              <a:tabLst/>
              <a:defRPr baseline="0">
                <a:latin typeface="UGent Panno Text" panose="02000506040000040003" pitchFamily="2" charset="0"/>
              </a:defRPr>
            </a:lvl2pPr>
            <a:lvl3pPr marL="801688" indent="-263525">
              <a:buClr>
                <a:srgbClr val="1E64C8"/>
              </a:buClr>
              <a:tabLst/>
              <a:defRPr baseline="0">
                <a:latin typeface="UGent Panno Text" panose="02000506040000040003" pitchFamily="2" charset="0"/>
              </a:defRPr>
            </a:lvl3pPr>
            <a:lvl4pPr>
              <a:defRPr baseline="0">
                <a:latin typeface="UGent Panno Text" panose="02000506040000040003" pitchFamily="2" charset="0"/>
              </a:defRPr>
            </a:lvl4pPr>
            <a:lvl5pPr>
              <a:defRPr baseline="0">
                <a:latin typeface="UGent Panno Text" panose="02000506040000040003" pitchFamily="2" charset="0"/>
              </a:defRPr>
            </a:lvl5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9CA775B9-7A5D-D3BA-EB26-3B1C77C0C30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42925" y="1150143"/>
            <a:ext cx="10893106" cy="5492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aseline="0">
                <a:solidFill>
                  <a:srgbClr val="8BBEE8"/>
                </a:solidFill>
                <a:latin typeface="UGent Panno Text" panose="02000506040000040003" pitchFamily="2" charset="0"/>
              </a:defRPr>
            </a:lvl1pPr>
          </a:lstStyle>
          <a:p>
            <a:r>
              <a:rPr lang="en-GB" sz="2800" b="0" i="0" baseline="0" dirty="0">
                <a:latin typeface="UGent Panno Text SemiLight" panose="02000406040000040003" pitchFamily="2" charset="0"/>
              </a:rPr>
              <a:t>Click to add subtitle</a:t>
            </a:r>
            <a:endParaRPr lang="en-BE" sz="2800" b="0" i="0" baseline="0" dirty="0">
              <a:latin typeface="UGent Panno Text SemiLight" panose="02000406040000040003" pitchFamily="2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3C2FBC6-E436-D1CA-B831-5045F9D5781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2609" y="250995"/>
            <a:ext cx="10893422" cy="893656"/>
          </a:xfrm>
          <a:prstGeom prst="rect">
            <a:avLst/>
          </a:prstGeom>
        </p:spPr>
        <p:txBody>
          <a:bodyPr tIns="0" bIns="0"/>
          <a:lstStyle>
            <a:lvl1pPr>
              <a:defRPr sz="4400" b="1" i="0" cap="none" baseline="0">
                <a:solidFill>
                  <a:srgbClr val="1E64C8"/>
                </a:solidFill>
                <a:latin typeface="UGent Panno Text" panose="02000506040000040003" pitchFamily="2" charset="0"/>
              </a:defRPr>
            </a:lvl1pPr>
          </a:lstStyle>
          <a:p>
            <a:r>
              <a:rPr lang="en-GB" dirty="0"/>
              <a:t>Click to add title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6011297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pos="7197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3B9B38-4062-3544-B884-9B34D23BDCA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42609" y="1889759"/>
            <a:ext cx="5340031" cy="378968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aseline="0">
                <a:latin typeface="UGent Panno Text" panose="02000506040000040003" pitchFamily="2" charset="0"/>
              </a:defRPr>
            </a:lvl1pPr>
            <a:lvl2pPr marL="9525" indent="263525">
              <a:buClr>
                <a:srgbClr val="1E64C8"/>
              </a:buClr>
              <a:tabLst/>
              <a:defRPr baseline="0">
                <a:latin typeface="UGent Panno Text" panose="02000506040000040003" pitchFamily="2" charset="0"/>
              </a:defRPr>
            </a:lvl2pPr>
            <a:lvl3pPr marL="801688" indent="-263525">
              <a:buClr>
                <a:srgbClr val="1E64C8"/>
              </a:buClr>
              <a:tabLst/>
              <a:defRPr baseline="0">
                <a:latin typeface="UGent Panno Text" panose="02000506040000040003" pitchFamily="2" charset="0"/>
              </a:defRPr>
            </a:lvl3pPr>
            <a:lvl4pPr>
              <a:defRPr baseline="0">
                <a:latin typeface="UGent Panno Text" panose="02000506040000040003" pitchFamily="2" charset="0"/>
              </a:defRPr>
            </a:lvl4pPr>
            <a:lvl5pPr>
              <a:defRPr baseline="0">
                <a:latin typeface="UGent Panno Text" panose="02000506040000040003" pitchFamily="2" charset="0"/>
              </a:defRPr>
            </a:lvl5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CB15F7A-2857-1665-65A2-912D2635A33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6000" y="3429000"/>
            <a:ext cx="5761038" cy="3132137"/>
          </a:xfrm>
          <a:prstGeom prst="rect">
            <a:avLst/>
          </a:prstGeom>
          <a:solidFill>
            <a:srgbClr val="8BBEE8"/>
          </a:solidFill>
        </p:spPr>
        <p:txBody>
          <a:bodyPr lIns="216000" tIns="216000"/>
          <a:lstStyle>
            <a:lvl1pPr marL="0" indent="0">
              <a:buNone/>
              <a:defRPr sz="2000" baseline="0">
                <a:solidFill>
                  <a:schemeClr val="bg1"/>
                </a:solidFill>
                <a:latin typeface="UGent Panno Text" panose="02000506040000040003" pitchFamily="2" charset="0"/>
              </a:defRPr>
            </a:lvl1pPr>
          </a:lstStyle>
          <a:p>
            <a:pPr lvl="0"/>
            <a:r>
              <a:rPr lang="en-GB" dirty="0"/>
              <a:t>Click to add text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0FE049FB-53CE-0D06-5EAF-F7D996BBD1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42925" y="1150143"/>
            <a:ext cx="10893106" cy="5492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aseline="0">
                <a:solidFill>
                  <a:srgbClr val="8BBEE8"/>
                </a:solidFill>
                <a:latin typeface="UGent Panno Text" panose="02000506040000040003" pitchFamily="2" charset="0"/>
              </a:defRPr>
            </a:lvl1pPr>
          </a:lstStyle>
          <a:p>
            <a:r>
              <a:rPr lang="en-GB" sz="2800" b="0" i="0" baseline="0" dirty="0">
                <a:latin typeface="UGent Panno Text SemiLight" panose="02000406040000040003" pitchFamily="2" charset="0"/>
              </a:rPr>
              <a:t>Click to add subtitle</a:t>
            </a:r>
            <a:endParaRPr lang="en-BE" sz="2800" b="0" i="0" baseline="0" dirty="0">
              <a:latin typeface="UGent Panno Text SemiLight" panose="02000406040000040003" pitchFamily="2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BB3EDE80-0BDF-4564-E27A-18B047ECA9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2609" y="250995"/>
            <a:ext cx="10893422" cy="893656"/>
          </a:xfrm>
          <a:prstGeom prst="rect">
            <a:avLst/>
          </a:prstGeom>
        </p:spPr>
        <p:txBody>
          <a:bodyPr tIns="0" bIns="0"/>
          <a:lstStyle>
            <a:lvl1pPr>
              <a:defRPr sz="4400" b="1" i="0" cap="none" baseline="0">
                <a:solidFill>
                  <a:srgbClr val="1E64C8"/>
                </a:solidFill>
                <a:latin typeface="UGent Panno Text" panose="02000506040000040003" pitchFamily="2" charset="0"/>
              </a:defRPr>
            </a:lvl1pPr>
          </a:lstStyle>
          <a:p>
            <a:r>
              <a:rPr lang="en-GB" dirty="0"/>
              <a:t>Click to add title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27420363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7469" userDrawn="1">
          <p15:clr>
            <a:srgbClr val="FBAE40"/>
          </p15:clr>
        </p15:guide>
        <p15:guide id="4" orient="horz" pos="4133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3B9B38-4062-3544-B884-9B34D23BDCA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42609" y="1889759"/>
            <a:ext cx="5340031" cy="378968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aseline="0">
                <a:latin typeface="UGent Panno Text" panose="02000506040000040003" pitchFamily="2" charset="0"/>
              </a:defRPr>
            </a:lvl1pPr>
            <a:lvl2pPr marL="9525" indent="263525">
              <a:buClr>
                <a:srgbClr val="1E64C8"/>
              </a:buClr>
              <a:tabLst/>
              <a:defRPr baseline="0">
                <a:latin typeface="UGent Panno Text" panose="02000506040000040003" pitchFamily="2" charset="0"/>
              </a:defRPr>
            </a:lvl2pPr>
            <a:lvl3pPr marL="801688" indent="-263525">
              <a:buClr>
                <a:srgbClr val="1E64C8"/>
              </a:buClr>
              <a:tabLst/>
              <a:defRPr baseline="0">
                <a:latin typeface="UGent Panno Text" panose="02000506040000040003" pitchFamily="2" charset="0"/>
              </a:defRPr>
            </a:lvl3pPr>
            <a:lvl4pPr>
              <a:defRPr baseline="0">
                <a:latin typeface="UGent Panno Text" panose="02000506040000040003" pitchFamily="2" charset="0"/>
              </a:defRPr>
            </a:lvl4pPr>
            <a:lvl5pPr>
              <a:defRPr baseline="0">
                <a:latin typeface="UGent Panno Text" panose="02000506040000040003" pitchFamily="2" charset="0"/>
              </a:defRPr>
            </a:lvl5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2A61780A-83DC-D87E-7E9D-4AAE6AB2CEE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096000" y="0"/>
            <a:ext cx="5761038" cy="6561138"/>
          </a:xfrm>
          <a:prstGeom prst="rect">
            <a:avLst/>
          </a:prstGeom>
          <a:solidFill>
            <a:schemeClr val="bg1">
              <a:alpha val="10106"/>
            </a:schemeClr>
          </a:solidFill>
        </p:spPr>
        <p:txBody>
          <a:bodyPr/>
          <a:lstStyle>
            <a:lvl1pPr marL="0" indent="0">
              <a:buNone/>
              <a:defRPr b="0" i="1" baseline="0"/>
            </a:lvl1pPr>
          </a:lstStyle>
          <a:p>
            <a:r>
              <a:rPr lang="nl-BE" dirty="0"/>
              <a:t>Click </a:t>
            </a:r>
            <a:r>
              <a:rPr lang="nl-BE" dirty="0" err="1"/>
              <a:t>to</a:t>
            </a:r>
            <a:r>
              <a:rPr lang="nl-BE" dirty="0"/>
              <a:t> </a:t>
            </a:r>
            <a:r>
              <a:rPr lang="nl-BE" dirty="0" err="1"/>
              <a:t>add</a:t>
            </a:r>
            <a:r>
              <a:rPr lang="nl-BE" dirty="0"/>
              <a:t> picture</a:t>
            </a:r>
            <a:endParaRPr lang="en-BE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638AEE2A-8AAD-71AA-7952-D0105F9D9D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2609" y="357529"/>
            <a:ext cx="5340031" cy="1532230"/>
          </a:xfrm>
          <a:prstGeom prst="rect">
            <a:avLst/>
          </a:prstGeom>
        </p:spPr>
        <p:txBody>
          <a:bodyPr anchor="t" anchorCtr="0"/>
          <a:lstStyle>
            <a:lvl1pPr>
              <a:lnSpc>
                <a:spcPts val="4880"/>
              </a:lnSpc>
              <a:defRPr sz="4400" b="1" i="0" cap="none" baseline="0">
                <a:solidFill>
                  <a:srgbClr val="1E64C8"/>
                </a:solidFill>
                <a:latin typeface="UGent Panno Text" panose="02000506040000040003" pitchFamily="2" charset="0"/>
              </a:defRPr>
            </a:lvl1pPr>
          </a:lstStyle>
          <a:p>
            <a:r>
              <a:rPr lang="en-GB" dirty="0"/>
              <a:t>Click to add title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26594405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7469" userDrawn="1">
          <p15:clr>
            <a:srgbClr val="FBAE40"/>
          </p15:clr>
        </p15:guide>
        <p15:guide id="4" orient="horz" pos="4133" userDrawn="1">
          <p15:clr>
            <a:srgbClr val="FBAE40"/>
          </p15:clr>
        </p15:guide>
        <p15:guide id="5" orient="horz" pos="527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E60491DC-DD02-8C0D-3C43-4759716D260A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334963" y="0"/>
            <a:ext cx="11857037" cy="5624513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b="0" i="1" baseline="0"/>
            </a:lvl1pPr>
          </a:lstStyle>
          <a:p>
            <a:r>
              <a:rPr lang="nl-BE" dirty="0"/>
              <a:t>Click </a:t>
            </a:r>
            <a:r>
              <a:rPr lang="nl-BE" dirty="0" err="1"/>
              <a:t>to</a:t>
            </a:r>
            <a:r>
              <a:rPr lang="nl-BE" dirty="0"/>
              <a:t> </a:t>
            </a:r>
            <a:r>
              <a:rPr lang="nl-BE" dirty="0" err="1"/>
              <a:t>add</a:t>
            </a:r>
            <a:r>
              <a:rPr lang="nl-BE" dirty="0"/>
              <a:t> picture</a:t>
            </a:r>
            <a:endParaRPr lang="en-BE" dirty="0"/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79928919-EA26-6E09-2403-4922D79229C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6000" y="2960688"/>
            <a:ext cx="5761038" cy="3600450"/>
          </a:xfrm>
          <a:prstGeom prst="rect">
            <a:avLst/>
          </a:prstGeom>
          <a:solidFill>
            <a:srgbClr val="8BBEE8"/>
          </a:solidFill>
        </p:spPr>
        <p:txBody>
          <a:bodyPr lIns="288000" tIns="144000"/>
          <a:lstStyle>
            <a:lvl1pPr marL="0" indent="0">
              <a:lnSpc>
                <a:spcPct val="100000"/>
              </a:lnSpc>
              <a:buNone/>
              <a:defRPr sz="2000" b="0" i="0" baseline="0">
                <a:solidFill>
                  <a:schemeClr val="bg1"/>
                </a:solidFill>
                <a:latin typeface="UGent Panno Text" panose="02000506040000040003" pitchFamily="2" charset="0"/>
              </a:defRPr>
            </a:lvl1pPr>
          </a:lstStyle>
          <a:p>
            <a:pPr lvl="0"/>
            <a:r>
              <a:rPr lang="en-GB" dirty="0"/>
              <a:t>Click to add text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22626908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7469">
          <p15:clr>
            <a:srgbClr val="FBAE40"/>
          </p15:clr>
        </p15:guide>
        <p15:guide id="4" orient="horz" pos="4133">
          <p15:clr>
            <a:srgbClr val="FBAE40"/>
          </p15:clr>
        </p15:guide>
        <p15:guide id="5" orient="horz" pos="3543">
          <p15:clr>
            <a:srgbClr val="FBAE40"/>
          </p15:clr>
        </p15:guide>
        <p15:guide id="6" pos="211">
          <p15:clr>
            <a:srgbClr val="FBAE40"/>
          </p15:clr>
        </p15:guide>
        <p15:guide id="7" orient="horz" pos="1865" userDrawn="1">
          <p15:clr>
            <a:srgbClr val="FBAE40"/>
          </p15:clr>
        </p15:guide>
        <p15:guide id="8" pos="4021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9">
            <a:extLst>
              <a:ext uri="{FF2B5EF4-FFF2-40B4-BE49-F238E27FC236}">
                <a16:creationId xmlns:a16="http://schemas.microsoft.com/office/drawing/2014/main" id="{D8A7D59B-53F4-BEBC-DECB-70532BA2E89C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334964" y="0"/>
            <a:ext cx="8426236" cy="5624513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b="0" i="1" baseline="0"/>
            </a:lvl1pPr>
          </a:lstStyle>
          <a:p>
            <a:r>
              <a:rPr lang="nl-BE" dirty="0"/>
              <a:t>Click </a:t>
            </a:r>
            <a:r>
              <a:rPr lang="nl-BE" dirty="0" err="1"/>
              <a:t>to</a:t>
            </a:r>
            <a:r>
              <a:rPr lang="nl-BE" dirty="0"/>
              <a:t> </a:t>
            </a:r>
            <a:r>
              <a:rPr lang="nl-BE" dirty="0" err="1"/>
              <a:t>add</a:t>
            </a:r>
            <a:r>
              <a:rPr lang="nl-BE" dirty="0"/>
              <a:t> picture</a:t>
            </a:r>
            <a:endParaRPr lang="en-BE" dirty="0"/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CFE686B0-9020-8A92-0329-A8A99BFE9AA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6000" y="3429000"/>
            <a:ext cx="5761038" cy="3132137"/>
          </a:xfrm>
          <a:prstGeom prst="rect">
            <a:avLst/>
          </a:prstGeom>
          <a:solidFill>
            <a:schemeClr val="bg1"/>
          </a:solidFill>
        </p:spPr>
        <p:txBody>
          <a:bodyPr lIns="216000" tIns="216000"/>
          <a:lstStyle>
            <a:lvl1pPr marL="0" indent="0">
              <a:buNone/>
              <a:defRPr sz="2400" b="1" i="0" baseline="0">
                <a:solidFill>
                  <a:srgbClr val="1E64C8"/>
                </a:solidFill>
                <a:latin typeface="UGent Panno Text" panose="02000506040000040003" pitchFamily="2" charset="0"/>
              </a:defRPr>
            </a:lvl1pPr>
          </a:lstStyle>
          <a:p>
            <a:pPr lvl="0"/>
            <a:r>
              <a:rPr lang="en-GB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10319734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543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pos="211" userDrawn="1">
          <p15:clr>
            <a:srgbClr val="FBAE40"/>
          </p15:clr>
        </p15:guide>
        <p15:guide id="4" pos="5518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424342D-546E-7B37-2676-BAAD35536F28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9F0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7CB6634-3E7A-5251-E883-2E5086975CE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43815" y="5632331"/>
            <a:ext cx="1531620" cy="1225554"/>
          </a:xfrm>
          <a:prstGeom prst="rect">
            <a:avLst/>
          </a:prstGeom>
        </p:spPr>
      </p:pic>
      <p:sp>
        <p:nvSpPr>
          <p:cNvPr id="7" name="Media Placeholder 6">
            <a:extLst>
              <a:ext uri="{FF2B5EF4-FFF2-40B4-BE49-F238E27FC236}">
                <a16:creationId xmlns:a16="http://schemas.microsoft.com/office/drawing/2014/main" id="{FC62665B-E898-7EE2-2118-04E6DA6F3F16}"/>
              </a:ext>
            </a:extLst>
          </p:cNvPr>
          <p:cNvSpPr>
            <a:spLocks noGrp="1"/>
          </p:cNvSpPr>
          <p:nvPr>
            <p:ph type="media" sz="quarter" idx="10" hasCustomPrompt="1"/>
          </p:nvPr>
        </p:nvSpPr>
        <p:spPr>
          <a:xfrm>
            <a:off x="1803400" y="647012"/>
            <a:ext cx="8582025" cy="4822825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b="0" i="1" baseline="0"/>
            </a:lvl1pPr>
          </a:lstStyle>
          <a:p>
            <a:r>
              <a:rPr lang="en-GB" dirty="0"/>
              <a:t>Click to add video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4951F26E-CB45-E98F-4538-724A7F98AE27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35503" y="2526636"/>
            <a:ext cx="1520993" cy="1135012"/>
          </a:xfrm>
          <a:prstGeom prst="rect">
            <a:avLst/>
          </a:prstGeom>
          <a:effectLst>
            <a:outerShdw blurRad="50800" dist="79774" dir="2700000" sx="95000" sy="95000" algn="tl" rotWithShape="0">
              <a:prstClr val="black">
                <a:alpha val="42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66032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543">
          <p15:clr>
            <a:srgbClr val="FBAE40"/>
          </p15:clr>
        </p15:guide>
        <p15:guide id="2" pos="3840">
          <p15:clr>
            <a:srgbClr val="FBAE40"/>
          </p15:clr>
        </p15:guide>
        <p15:guide id="3" pos="211">
          <p15:clr>
            <a:srgbClr val="FBAE40"/>
          </p15:clr>
        </p15:guide>
        <p15:guide id="4" pos="5518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hlinkClick r:id="rId2"/>
            <a:extLst>
              <a:ext uri="{FF2B5EF4-FFF2-40B4-BE49-F238E27FC236}">
                <a16:creationId xmlns:a16="http://schemas.microsoft.com/office/drawing/2014/main" id="{362F20F1-ED28-85C0-71DB-505E68838417}"/>
              </a:ext>
            </a:extLst>
          </p:cNvPr>
          <p:cNvSpPr/>
          <p:nvPr userDrawn="1"/>
        </p:nvSpPr>
        <p:spPr>
          <a:xfrm>
            <a:off x="334962" y="904834"/>
            <a:ext cx="11857038" cy="4727381"/>
          </a:xfrm>
          <a:prstGeom prst="rect">
            <a:avLst/>
          </a:prstGeom>
          <a:solidFill>
            <a:srgbClr val="1E64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5E68D4D5-0FA9-E53F-F53B-B98FE92BBC7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09307" y="1288131"/>
            <a:ext cx="5800725" cy="36846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1" i="0" baseline="0">
                <a:solidFill>
                  <a:schemeClr val="bg1"/>
                </a:solidFill>
                <a:latin typeface="UGent Panno Text" panose="02000506040000040003" pitchFamily="2" charset="0"/>
              </a:defRPr>
            </a:lvl1pPr>
          </a:lstStyle>
          <a:p>
            <a:pPr lvl="0"/>
            <a:r>
              <a:rPr lang="nl-BE" dirty="0"/>
              <a:t>Click </a:t>
            </a:r>
            <a:r>
              <a:rPr lang="nl-BE" dirty="0" err="1"/>
              <a:t>to</a:t>
            </a:r>
            <a:r>
              <a:rPr lang="nl-BE" dirty="0"/>
              <a:t> </a:t>
            </a:r>
            <a:r>
              <a:rPr lang="nl-BE" dirty="0" err="1"/>
              <a:t>add</a:t>
            </a:r>
            <a:r>
              <a:rPr lang="nl-BE" dirty="0"/>
              <a:t> name presenter</a:t>
            </a:r>
            <a:endParaRPr lang="en-GB" dirty="0"/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DC9F327B-FF93-9563-C292-045730830A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209306" y="1744365"/>
            <a:ext cx="5800725" cy="36846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 i="0" baseline="0">
                <a:solidFill>
                  <a:schemeClr val="bg1"/>
                </a:solidFill>
                <a:latin typeface="UGent Panno Text" panose="02000506040000040003" pitchFamily="2" charset="0"/>
              </a:defRPr>
            </a:lvl1pPr>
          </a:lstStyle>
          <a:p>
            <a:pPr lvl="0"/>
            <a:r>
              <a:rPr lang="nl-BE" dirty="0"/>
              <a:t>Click </a:t>
            </a:r>
            <a:r>
              <a:rPr lang="nl-BE" dirty="0" err="1"/>
              <a:t>to</a:t>
            </a:r>
            <a:r>
              <a:rPr lang="nl-BE" dirty="0"/>
              <a:t> </a:t>
            </a:r>
            <a:r>
              <a:rPr lang="nl-BE" dirty="0" err="1"/>
              <a:t>add</a:t>
            </a:r>
            <a:r>
              <a:rPr lang="nl-BE" dirty="0"/>
              <a:t> </a:t>
            </a:r>
            <a:r>
              <a:rPr lang="nl-BE" dirty="0" err="1"/>
              <a:t>function</a:t>
            </a:r>
            <a:r>
              <a:rPr lang="nl-BE" dirty="0"/>
              <a:t> presenter</a:t>
            </a:r>
            <a:endParaRPr lang="en-GB" dirty="0"/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2B695713-4E1B-201D-D5EB-461CBF7EBA5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09306" y="2514594"/>
            <a:ext cx="5800725" cy="36846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 i="0" cap="all" baseline="0">
                <a:solidFill>
                  <a:schemeClr val="bg1"/>
                </a:solidFill>
                <a:latin typeface="UGent Panno Text" panose="02000506040000040003" pitchFamily="2" charset="0"/>
              </a:defRPr>
            </a:lvl1pPr>
          </a:lstStyle>
          <a:p>
            <a:pPr lvl="0"/>
            <a:r>
              <a:rPr lang="nl-BE" dirty="0"/>
              <a:t>Click </a:t>
            </a:r>
            <a:r>
              <a:rPr lang="nl-BE" dirty="0" err="1"/>
              <a:t>to</a:t>
            </a:r>
            <a:r>
              <a:rPr lang="nl-BE" dirty="0"/>
              <a:t> </a:t>
            </a:r>
            <a:r>
              <a:rPr lang="nl-BE" dirty="0" err="1"/>
              <a:t>add</a:t>
            </a:r>
            <a:r>
              <a:rPr lang="nl-BE" dirty="0"/>
              <a:t> </a:t>
            </a:r>
            <a:r>
              <a:rPr lang="nl-BE" dirty="0" err="1"/>
              <a:t>department</a:t>
            </a:r>
            <a:r>
              <a:rPr lang="nl-BE" dirty="0"/>
              <a:t> or research </a:t>
            </a:r>
            <a:r>
              <a:rPr lang="nl-BE" dirty="0" err="1"/>
              <a:t>group</a:t>
            </a:r>
            <a:endParaRPr lang="en-GB" dirty="0"/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FE657102-1BE8-0D9D-E03D-6B6E915D876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09306" y="3448928"/>
            <a:ext cx="5800725" cy="36846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 i="0" baseline="0">
                <a:solidFill>
                  <a:schemeClr val="bg1"/>
                </a:solidFill>
                <a:latin typeface="UGent Panno Text" panose="02000506040000040003" pitchFamily="2" charset="0"/>
              </a:defRPr>
            </a:lvl1pPr>
          </a:lstStyle>
          <a:p>
            <a:pPr lvl="0"/>
            <a:r>
              <a:rPr lang="nl-BE" dirty="0"/>
              <a:t>Click </a:t>
            </a:r>
            <a:r>
              <a:rPr lang="nl-BE" dirty="0" err="1"/>
              <a:t>to</a:t>
            </a:r>
            <a:r>
              <a:rPr lang="nl-BE" dirty="0"/>
              <a:t> </a:t>
            </a:r>
            <a:r>
              <a:rPr lang="nl-BE" dirty="0" err="1"/>
              <a:t>add</a:t>
            </a:r>
            <a:r>
              <a:rPr lang="nl-BE" dirty="0"/>
              <a:t> email </a:t>
            </a:r>
            <a:r>
              <a:rPr lang="nl-BE" dirty="0" err="1"/>
              <a:t>address</a:t>
            </a:r>
            <a:endParaRPr lang="en-GB" dirty="0"/>
          </a:p>
        </p:txBody>
      </p:sp>
      <p:sp>
        <p:nvSpPr>
          <p:cNvPr id="21" name="Text Placeholder 15">
            <a:extLst>
              <a:ext uri="{FF2B5EF4-FFF2-40B4-BE49-F238E27FC236}">
                <a16:creationId xmlns:a16="http://schemas.microsoft.com/office/drawing/2014/main" id="{86142B73-FD37-BBD7-B358-4DD6E2FC11F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09305" y="3906540"/>
            <a:ext cx="5800725" cy="36846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 i="0" baseline="0">
                <a:solidFill>
                  <a:schemeClr val="bg1"/>
                </a:solidFill>
                <a:latin typeface="UGent Panno Text" panose="02000506040000040003" pitchFamily="2" charset="0"/>
              </a:defRPr>
            </a:lvl1pPr>
          </a:lstStyle>
          <a:p>
            <a:pPr lvl="0"/>
            <a:r>
              <a:rPr lang="nl-BE" dirty="0"/>
              <a:t>Click </a:t>
            </a:r>
            <a:r>
              <a:rPr lang="nl-BE" dirty="0" err="1"/>
              <a:t>to</a:t>
            </a:r>
            <a:r>
              <a:rPr lang="nl-BE" dirty="0"/>
              <a:t> </a:t>
            </a:r>
            <a:r>
              <a:rPr lang="nl-BE" dirty="0" err="1"/>
              <a:t>add</a:t>
            </a:r>
            <a:r>
              <a:rPr lang="nl-BE" dirty="0"/>
              <a:t> </a:t>
            </a:r>
            <a:r>
              <a:rPr lang="nl-BE" dirty="0" err="1"/>
              <a:t>phone</a:t>
            </a:r>
            <a:r>
              <a:rPr lang="nl-BE" dirty="0"/>
              <a:t> </a:t>
            </a:r>
            <a:r>
              <a:rPr lang="nl-BE" dirty="0" err="1"/>
              <a:t>number</a:t>
            </a:r>
            <a:endParaRPr lang="en-GB" dirty="0"/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341BF6EC-7ACA-8D9F-5C30-803E5DD79E4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209305" y="4379321"/>
            <a:ext cx="5800725" cy="36846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 i="0" baseline="0">
                <a:solidFill>
                  <a:schemeClr val="bg1"/>
                </a:solidFill>
                <a:latin typeface="UGent Panno Text" panose="02000506040000040003" pitchFamily="2" charset="0"/>
              </a:defRPr>
            </a:lvl1pPr>
          </a:lstStyle>
          <a:p>
            <a:pPr lvl="0"/>
            <a:r>
              <a:rPr lang="nl-BE" dirty="0"/>
              <a:t>Click </a:t>
            </a:r>
            <a:r>
              <a:rPr lang="nl-BE" dirty="0" err="1"/>
              <a:t>to</a:t>
            </a:r>
            <a:r>
              <a:rPr lang="nl-BE" dirty="0"/>
              <a:t> </a:t>
            </a:r>
            <a:r>
              <a:rPr lang="nl-BE" dirty="0" err="1"/>
              <a:t>add</a:t>
            </a:r>
            <a:r>
              <a:rPr lang="nl-BE" dirty="0"/>
              <a:t> </a:t>
            </a:r>
            <a:r>
              <a:rPr lang="nl-BE" dirty="0" err="1"/>
              <a:t>cell</a:t>
            </a:r>
            <a:r>
              <a:rPr lang="nl-BE" dirty="0"/>
              <a:t> </a:t>
            </a:r>
            <a:r>
              <a:rPr lang="nl-BE" dirty="0" err="1"/>
              <a:t>phone</a:t>
            </a:r>
            <a:r>
              <a:rPr lang="nl-BE" dirty="0"/>
              <a:t> </a:t>
            </a:r>
            <a:r>
              <a:rPr lang="nl-BE" dirty="0" err="1"/>
              <a:t>number</a:t>
            </a:r>
            <a:endParaRPr lang="en-GB" dirty="0"/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FF87902B-45B8-AF60-EDBD-FCD5EFD0614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341671" y="2572340"/>
            <a:ext cx="2652130" cy="3600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700" b="0" i="0" baseline="0">
                <a:solidFill>
                  <a:schemeClr val="bg1"/>
                </a:solidFill>
                <a:latin typeface="UGent Panno Text" panose="02000506040000040003" pitchFamily="2" charset="0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Picture Placeholder 14">
            <a:extLst>
              <a:ext uri="{FF2B5EF4-FFF2-40B4-BE49-F238E27FC236}">
                <a16:creationId xmlns:a16="http://schemas.microsoft.com/office/drawing/2014/main" id="{88FF502E-8D06-7F3E-2B5A-7C3BB3F17DCE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8903448" y="2572340"/>
            <a:ext cx="360000" cy="360000"/>
          </a:xfrm>
        </p:spPr>
        <p:txBody>
          <a:bodyPr>
            <a:normAutofit/>
          </a:bodyPr>
          <a:lstStyle>
            <a:lvl1pPr>
              <a:defRPr sz="600" baseline="0"/>
            </a:lvl1pPr>
          </a:lstStyle>
          <a:p>
            <a:r>
              <a:rPr lang="en-GB"/>
              <a:t>Click icon to add picture</a:t>
            </a:r>
            <a:endParaRPr lang="en-BE" dirty="0"/>
          </a:p>
        </p:txBody>
      </p:sp>
      <p:sp>
        <p:nvSpPr>
          <p:cNvPr id="22" name="Text Placeholder 15">
            <a:extLst>
              <a:ext uri="{FF2B5EF4-FFF2-40B4-BE49-F238E27FC236}">
                <a16:creationId xmlns:a16="http://schemas.microsoft.com/office/drawing/2014/main" id="{EE6C3D79-39D2-1CC1-710A-71F43764734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341671" y="3006178"/>
            <a:ext cx="2652130" cy="3600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700" b="0" i="0" baseline="0">
                <a:solidFill>
                  <a:schemeClr val="bg1"/>
                </a:solidFill>
                <a:latin typeface="UGent Panno Text" panose="02000506040000040003" pitchFamily="2" charset="0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3" name="Picture Placeholder 14">
            <a:extLst>
              <a:ext uri="{FF2B5EF4-FFF2-40B4-BE49-F238E27FC236}">
                <a16:creationId xmlns:a16="http://schemas.microsoft.com/office/drawing/2014/main" id="{35C7FD63-C24F-9766-4D38-14E96DC1DEDF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8903448" y="3006178"/>
            <a:ext cx="360000" cy="360000"/>
          </a:xfrm>
        </p:spPr>
        <p:txBody>
          <a:bodyPr>
            <a:normAutofit/>
          </a:bodyPr>
          <a:lstStyle>
            <a:lvl1pPr>
              <a:defRPr sz="600" baseline="0"/>
            </a:lvl1pPr>
          </a:lstStyle>
          <a:p>
            <a:r>
              <a:rPr lang="en-GB"/>
              <a:t>Click icon to add picture</a:t>
            </a:r>
            <a:endParaRPr lang="en-BE"/>
          </a:p>
        </p:txBody>
      </p:sp>
      <p:sp>
        <p:nvSpPr>
          <p:cNvPr id="25" name="Text Placeholder 15">
            <a:extLst>
              <a:ext uri="{FF2B5EF4-FFF2-40B4-BE49-F238E27FC236}">
                <a16:creationId xmlns:a16="http://schemas.microsoft.com/office/drawing/2014/main" id="{07A2FB37-D7D0-D120-A655-7C75B68BBD64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9341671" y="3440016"/>
            <a:ext cx="2652130" cy="3600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700" b="0" i="0" baseline="0">
                <a:solidFill>
                  <a:schemeClr val="bg1"/>
                </a:solidFill>
                <a:latin typeface="UGent Panno Text" panose="02000506040000040003" pitchFamily="2" charset="0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6" name="Picture Placeholder 14">
            <a:extLst>
              <a:ext uri="{FF2B5EF4-FFF2-40B4-BE49-F238E27FC236}">
                <a16:creationId xmlns:a16="http://schemas.microsoft.com/office/drawing/2014/main" id="{03C7886B-E8EB-BF9C-5EAB-500C666EA069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8903448" y="3440016"/>
            <a:ext cx="360000" cy="360000"/>
          </a:xfrm>
        </p:spPr>
        <p:txBody>
          <a:bodyPr>
            <a:normAutofit/>
          </a:bodyPr>
          <a:lstStyle>
            <a:lvl1pPr>
              <a:defRPr sz="600" baseline="0"/>
            </a:lvl1pPr>
          </a:lstStyle>
          <a:p>
            <a:r>
              <a:rPr lang="en-GB"/>
              <a:t>Click icon to add picture</a:t>
            </a:r>
            <a:endParaRPr lang="en-BE"/>
          </a:p>
        </p:txBody>
      </p:sp>
      <p:sp>
        <p:nvSpPr>
          <p:cNvPr id="27" name="Text Placeholder 15">
            <a:extLst>
              <a:ext uri="{FF2B5EF4-FFF2-40B4-BE49-F238E27FC236}">
                <a16:creationId xmlns:a16="http://schemas.microsoft.com/office/drawing/2014/main" id="{58188310-B4F5-84E8-1582-FA7CC5C711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341671" y="3873854"/>
            <a:ext cx="2652130" cy="3600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700" b="0" i="0" baseline="0">
                <a:solidFill>
                  <a:schemeClr val="bg1"/>
                </a:solidFill>
                <a:latin typeface="UGent Panno Text" panose="02000506040000040003" pitchFamily="2" charset="0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8" name="Picture Placeholder 14">
            <a:extLst>
              <a:ext uri="{FF2B5EF4-FFF2-40B4-BE49-F238E27FC236}">
                <a16:creationId xmlns:a16="http://schemas.microsoft.com/office/drawing/2014/main" id="{D6AAACB1-04C7-44D6-2E19-7196D2FAE160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8903448" y="3873854"/>
            <a:ext cx="360000" cy="360000"/>
          </a:xfrm>
        </p:spPr>
        <p:txBody>
          <a:bodyPr>
            <a:normAutofit/>
          </a:bodyPr>
          <a:lstStyle>
            <a:lvl1pPr>
              <a:defRPr sz="600" baseline="0"/>
            </a:lvl1pPr>
          </a:lstStyle>
          <a:p>
            <a:r>
              <a:rPr lang="en-GB"/>
              <a:t>Click icon to add picture</a:t>
            </a:r>
            <a:endParaRPr lang="en-BE"/>
          </a:p>
        </p:txBody>
      </p:sp>
      <p:sp>
        <p:nvSpPr>
          <p:cNvPr id="29" name="Text Placeholder 15">
            <a:extLst>
              <a:ext uri="{FF2B5EF4-FFF2-40B4-BE49-F238E27FC236}">
                <a16:creationId xmlns:a16="http://schemas.microsoft.com/office/drawing/2014/main" id="{66746C4A-1A2B-73F9-2735-FCADDF6790B5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9341671" y="4307692"/>
            <a:ext cx="2652130" cy="3600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700" b="0" i="0" baseline="0">
                <a:solidFill>
                  <a:schemeClr val="bg1"/>
                </a:solidFill>
                <a:latin typeface="UGent Panno Text" panose="02000506040000040003" pitchFamily="2" charset="0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0" name="Picture Placeholder 14">
            <a:extLst>
              <a:ext uri="{FF2B5EF4-FFF2-40B4-BE49-F238E27FC236}">
                <a16:creationId xmlns:a16="http://schemas.microsoft.com/office/drawing/2014/main" id="{680C7AB2-4763-95A8-4FA3-AE9A97C677E3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8903448" y="4307692"/>
            <a:ext cx="360000" cy="360000"/>
          </a:xfrm>
        </p:spPr>
        <p:txBody>
          <a:bodyPr>
            <a:normAutofit/>
          </a:bodyPr>
          <a:lstStyle>
            <a:lvl1pPr>
              <a:defRPr sz="600" baseline="0"/>
            </a:lvl1pPr>
          </a:lstStyle>
          <a:p>
            <a:r>
              <a:rPr lang="en-GB"/>
              <a:t>Click icon to add picture</a:t>
            </a:r>
            <a:endParaRPr lang="en-BE"/>
          </a:p>
        </p:txBody>
      </p:sp>
      <p:sp>
        <p:nvSpPr>
          <p:cNvPr id="31" name="Text Placeholder 15">
            <a:extLst>
              <a:ext uri="{FF2B5EF4-FFF2-40B4-BE49-F238E27FC236}">
                <a16:creationId xmlns:a16="http://schemas.microsoft.com/office/drawing/2014/main" id="{FDB81306-A097-1971-ACA8-4EBE7A81B91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8903448" y="4971369"/>
            <a:ext cx="2652130" cy="360000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0" i="0" baseline="0">
                <a:solidFill>
                  <a:schemeClr val="bg1"/>
                </a:solidFill>
                <a:latin typeface="UGent Panno Text" panose="02000506040000040003" pitchFamily="2" charset="0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pic>
        <p:nvPicPr>
          <p:cNvPr id="5" name="Afbeelding 17">
            <a:extLst>
              <a:ext uri="{FF2B5EF4-FFF2-40B4-BE49-F238E27FC236}">
                <a16:creationId xmlns:a16="http://schemas.microsoft.com/office/drawing/2014/main" id="{1268C458-54E6-556D-8781-D86A10F2D6A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-3506" y="-39239"/>
            <a:ext cx="3126706" cy="1042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41092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  <p15:guide id="3" pos="21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8064DE9-30A2-2B74-537F-01BD484D90F8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rcRect/>
          <a:stretch/>
        </p:blipFill>
        <p:spPr>
          <a:xfrm>
            <a:off x="43815" y="5632331"/>
            <a:ext cx="1531620" cy="1225554"/>
          </a:xfrm>
          <a:prstGeom prst="rect">
            <a:avLst/>
          </a:prstGeom>
        </p:spPr>
      </p:pic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854843F8-C4AC-387E-D09E-8057C939F3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856085" y="6356350"/>
            <a:ext cx="48649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UGent Panno Text" panose="02000506040000040003" pitchFamily="2" charset="0"/>
              </a:defRPr>
            </a:lvl1pPr>
          </a:lstStyle>
          <a:p>
            <a:endParaRPr lang="en-BE"/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9057CCB8-6D9D-26CA-514D-DC21CF29C2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69622" y="6356350"/>
            <a:ext cx="13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UGent Panno Text" panose="02000506040000040003" pitchFamily="2" charset="0"/>
              </a:defRPr>
            </a:lvl1pPr>
          </a:lstStyle>
          <a:p>
            <a:fld id="{3C1D3A25-F5F4-AF4A-8239-A533218656DA}" type="slidenum">
              <a:rPr lang="en-BE"/>
              <a:pPr/>
              <a:t>‹#›</a:t>
            </a:fld>
            <a:endParaRPr lang="en-BE"/>
          </a:p>
        </p:txBody>
      </p:sp>
      <p:sp>
        <p:nvSpPr>
          <p:cNvPr id="21" name="Date Placeholder 20">
            <a:extLst>
              <a:ext uri="{FF2B5EF4-FFF2-40B4-BE49-F238E27FC236}">
                <a16:creationId xmlns:a16="http://schemas.microsoft.com/office/drawing/2014/main" id="{9ACE937C-4427-1E12-DDEC-0A500F85C8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669002" y="6356350"/>
            <a:ext cx="29385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UGent Panno Text" panose="02000506040000040003" pitchFamily="2" charset="0"/>
              </a:defRPr>
            </a:lvl1pPr>
          </a:lstStyle>
          <a:p>
            <a:fld id="{3257FDC4-781E-E84B-ACE4-EF1686371FEC}" type="datetimeFigureOut">
              <a:rPr lang="en-BE"/>
              <a:pPr/>
              <a:t>13/04/2026</a:t>
            </a:fld>
            <a:endParaRPr lang="en-BE"/>
          </a:p>
        </p:txBody>
      </p:sp>
      <p:sp>
        <p:nvSpPr>
          <p:cNvPr id="24" name="Title Placeholder 16">
            <a:extLst>
              <a:ext uri="{FF2B5EF4-FFF2-40B4-BE49-F238E27FC236}">
                <a16:creationId xmlns:a16="http://schemas.microsoft.com/office/drawing/2014/main" id="{7BD70135-BFF5-C1D3-7EAF-CD09E5AA0E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2609" y="365126"/>
            <a:ext cx="10811191" cy="7794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 dirty="0"/>
              <a:t>Klik om stijl te bewerken</a:t>
            </a:r>
            <a:endParaRPr lang="en-BE" dirty="0"/>
          </a:p>
        </p:txBody>
      </p:sp>
      <p:sp>
        <p:nvSpPr>
          <p:cNvPr id="25" name="Text Placeholder 18">
            <a:extLst>
              <a:ext uri="{FF2B5EF4-FFF2-40B4-BE49-F238E27FC236}">
                <a16:creationId xmlns:a16="http://schemas.microsoft.com/office/drawing/2014/main" id="{79072CE6-E1B8-1EA7-B3C8-10C89DDC5E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2609" y="1825625"/>
            <a:ext cx="10811191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8519339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0" r:id="rId3"/>
    <p:sldLayoutId id="2147483661" r:id="rId4"/>
    <p:sldLayoutId id="2147483663" r:id="rId5"/>
    <p:sldLayoutId id="2147483662" r:id="rId6"/>
    <p:sldLayoutId id="2147483668" r:id="rId7"/>
    <p:sldLayoutId id="2147483654" r:id="rId8"/>
    <p:sldLayoutId id="2147483666" r:id="rId9"/>
    <p:sldLayoutId id="2147483667" r:id="rId10"/>
  </p:sldLayoutIdLst>
  <p:txStyles>
    <p:titleStyle>
      <a:lvl1pPr marL="0" marR="0" indent="0" algn="l" defTabSz="914400" rtl="0" eaLnBrk="1" fontAlgn="auto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kern="1200" cap="none" baseline="0">
          <a:solidFill>
            <a:srgbClr val="1E64C8"/>
          </a:solidFill>
          <a:latin typeface="UGent Panno Text Medium" panose="02000506040000040003" pitchFamily="2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800" kern="1200">
          <a:solidFill>
            <a:schemeClr val="tx1"/>
          </a:solidFill>
          <a:latin typeface="UGent Panno Text" panose="02000506040000040003" pitchFamily="2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1E64C8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UGent Panno Text" panose="02000506040000040003" pitchFamily="2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1E64C8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UGent Panno Text" panose="02000506040000040003" pitchFamily="2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1E64C8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UGent Panno Text" panose="02000506040000040003" pitchFamily="2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1E64C8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UGent Panno Text" panose="02000506040000040003" pitchFamily="2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linkedin.com/school/ghent-university" TargetMode="External"/><Relationship Id="rId3" Type="http://schemas.openxmlformats.org/officeDocument/2006/relationships/image" Target="../media/image25.svg"/><Relationship Id="rId7" Type="http://schemas.openxmlformats.org/officeDocument/2006/relationships/image" Target="../media/image27.svg"/><Relationship Id="rId12" Type="http://schemas.openxmlformats.org/officeDocument/2006/relationships/hyperlink" Target="http://www.ugent.be/" TargetMode="External"/><Relationship Id="rId2" Type="http://schemas.openxmlformats.org/officeDocument/2006/relationships/hyperlink" Target="https://www.facebook.com/ugent/" TargetMode="External"/><Relationship Id="rId1" Type="http://schemas.openxmlformats.org/officeDocument/2006/relationships/slideLayout" Target="../slideLayouts/slideLayout10.xml"/><Relationship Id="rId6" Type="http://schemas.openxmlformats.org/officeDocument/2006/relationships/hyperlink" Target="https://www.instagram.com/ugent/" TargetMode="External"/><Relationship Id="rId11" Type="http://schemas.openxmlformats.org/officeDocument/2006/relationships/image" Target="../media/image29.svg"/><Relationship Id="rId5" Type="http://schemas.openxmlformats.org/officeDocument/2006/relationships/image" Target="../media/image26.svg"/><Relationship Id="rId10" Type="http://schemas.openxmlformats.org/officeDocument/2006/relationships/hyperlink" Target="http://www.youtube.com/user/UniversiteitGent" TargetMode="External"/><Relationship Id="rId4" Type="http://schemas.openxmlformats.org/officeDocument/2006/relationships/hyperlink" Target="https://www.twitter.com/ugent" TargetMode="External"/><Relationship Id="rId9" Type="http://schemas.openxmlformats.org/officeDocument/2006/relationships/image" Target="../media/image28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svg"/><Relationship Id="rId7" Type="http://schemas.openxmlformats.org/officeDocument/2006/relationships/image" Target="../media/image900.png"/><Relationship Id="rId2" Type="http://schemas.openxmlformats.org/officeDocument/2006/relationships/image" Target="../media/image30.sv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90.png"/><Relationship Id="rId5" Type="http://schemas.openxmlformats.org/officeDocument/2006/relationships/image" Target="../media/image880.png"/><Relationship Id="rId4" Type="http://schemas.openxmlformats.org/officeDocument/2006/relationships/image" Target="../media/image87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0.png"/><Relationship Id="rId7" Type="http://schemas.openxmlformats.org/officeDocument/2006/relationships/image" Target="../media/image32.svg"/><Relationship Id="rId2" Type="http://schemas.openxmlformats.org/officeDocument/2006/relationships/image" Target="../media/image31.sv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4.png"/><Relationship Id="rId5" Type="http://schemas.openxmlformats.org/officeDocument/2006/relationships/image" Target="../media/image93.png"/><Relationship Id="rId4" Type="http://schemas.openxmlformats.org/officeDocument/2006/relationships/image" Target="../media/image920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svg"/><Relationship Id="rId3" Type="http://schemas.openxmlformats.org/officeDocument/2006/relationships/image" Target="../media/image31.svg"/><Relationship Id="rId7" Type="http://schemas.openxmlformats.org/officeDocument/2006/relationships/image" Target="../media/image9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8.png"/><Relationship Id="rId5" Type="http://schemas.openxmlformats.org/officeDocument/2006/relationships/image" Target="../media/image97.png"/><Relationship Id="rId4" Type="http://schemas.openxmlformats.org/officeDocument/2006/relationships/image" Target="../media/image96.png"/><Relationship Id="rId9" Type="http://schemas.openxmlformats.org/officeDocument/2006/relationships/image" Target="../media/image10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4C24E2-8742-78CB-C3F1-07D657E943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5B669136-86AD-0159-82AA-14CEB0334C8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AFCF8F4B-3FCA-EE96-54D7-DB166294F44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fontScale="85000" lnSpcReduction="20000"/>
          </a:bodyPr>
          <a:lstStyle/>
          <a:p>
            <a:endParaRPr lang="en-BE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B32D74B-39BA-87B2-5CB1-967A962649E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85000" lnSpcReduction="20000"/>
          </a:bodyPr>
          <a:lstStyle/>
          <a:p>
            <a:endParaRPr lang="en-BE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107B840-194D-F887-2C2F-46798E08636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BE" dirty="0"/>
          </a:p>
        </p:txBody>
      </p:sp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04F0712C-4B59-D2D7-57E0-99420852AD4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78CE30F3-7283-19D0-68BC-C9CAB7D002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28" name="Picture Placeholder 27">
            <a:extLst>
              <a:ext uri="{FF2B5EF4-FFF2-40B4-BE49-F238E27FC236}">
                <a16:creationId xmlns:a16="http://schemas.microsoft.com/office/drawing/2014/main" id="{B20C31CD-24C3-1A80-B208-50D8A84E129C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8F1B66F1-03CB-96BE-2610-B5C1B12A39B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4196" y="2126254"/>
            <a:ext cx="11511134" cy="2601271"/>
          </a:xfrm>
        </p:spPr>
        <p:txBody>
          <a:bodyPr>
            <a:normAutofit/>
          </a:bodyPr>
          <a:lstStyle/>
          <a:p>
            <a:r>
              <a:rPr lang="en-BE" sz="6000" dirty="0"/>
              <a:t>MU-MIMO</a:t>
            </a:r>
          </a:p>
          <a:p>
            <a:r>
              <a:rPr lang="en-BE" sz="6000" dirty="0"/>
              <a:t>Satellite Precoding Techniques</a:t>
            </a:r>
          </a:p>
        </p:txBody>
      </p:sp>
      <p:sp>
        <p:nvSpPr>
          <p:cNvPr id="3" name="Picture Placeholder 24">
            <a:extLst>
              <a:ext uri="{FF2B5EF4-FFF2-40B4-BE49-F238E27FC236}">
                <a16:creationId xmlns:a16="http://schemas.microsoft.com/office/drawing/2014/main" id="{7CA3A590-0155-56E0-4F96-0AF193335EA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900555" y="5852592"/>
            <a:ext cx="1929765" cy="698896"/>
          </a:xfrm>
        </p:spPr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556799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F69CC61-0CDE-3E5B-272B-2DA17EC4BA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BE" dirty="0"/>
              <a:t>Introduction</a:t>
            </a:r>
          </a:p>
        </p:txBody>
      </p:sp>
      <p:pic>
        <p:nvPicPr>
          <p:cNvPr id="6" name="Picture 5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DA387A2B-4315-07E5-C8CD-499A569154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2668" y="912434"/>
            <a:ext cx="7426663" cy="5548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29759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3D055A5-F3E4-F026-81AD-3B147F1880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2609" y="162221"/>
            <a:ext cx="10893422" cy="893656"/>
          </a:xfrm>
        </p:spPr>
        <p:txBody>
          <a:bodyPr/>
          <a:lstStyle/>
          <a:p>
            <a:r>
              <a:rPr lang="en-BE" dirty="0"/>
              <a:t>System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1">
                <a:extLst>
                  <a:ext uri="{FF2B5EF4-FFF2-40B4-BE49-F238E27FC236}">
                    <a16:creationId xmlns:a16="http://schemas.microsoft.com/office/drawing/2014/main" id="{8FB2A0E4-A24D-C614-BC03-D9F99BFFA2C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42609" y="2621898"/>
                <a:ext cx="10605121" cy="487680"/>
              </a:xfrm>
            </p:spPr>
            <p:txBody>
              <a:bodyPr>
                <a:noAutofit/>
              </a:bodyPr>
              <a:lstStyle/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BE" sz="2600" dirty="0"/>
                  <a:t>The received signal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600" i="1">
                            <a:latin typeface="Cambria Math" panose="02040503050406030204" pitchFamily="18" charset="0"/>
                          </a:rPr>
                          <m:t>𝐲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600" b="0" i="1" smtClean="0">
                            <a:latin typeface="Cambria Math" panose="02040503050406030204" pitchFamily="18" charset="0"/>
                          </a:rPr>
                          <m:t>k</m:t>
                        </m:r>
                      </m:sub>
                    </m:sSub>
                  </m:oMath>
                </a14:m>
                <a:r>
                  <a:rPr lang="en-BE" sz="2600" dirty="0"/>
                  <a:t>  at UT</a:t>
                </a:r>
                <a:r>
                  <a:rPr lang="en-BE" sz="2600" baseline="-25000" dirty="0"/>
                  <a:t>k</a:t>
                </a:r>
                <a:r>
                  <a:rPr lang="en-BE" sz="2600" dirty="0"/>
                  <a:t> can be written in terms of the transmitted signal </a:t>
                </a:r>
                <a14:m>
                  <m:oMath xmlns:m="http://schemas.openxmlformats.org/officeDocument/2006/math"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𝐱</m:t>
                    </m:r>
                  </m:oMath>
                </a14:m>
                <a:r>
                  <a:rPr lang="en-BE" sz="2600" dirty="0"/>
                  <a:t> as: </a:t>
                </a:r>
              </a:p>
            </p:txBody>
          </p:sp>
        </mc:Choice>
        <mc:Fallback xmlns="">
          <p:sp>
            <p:nvSpPr>
              <p:cNvPr id="5" name="Content Placeholder 1">
                <a:extLst>
                  <a:ext uri="{FF2B5EF4-FFF2-40B4-BE49-F238E27FC236}">
                    <a16:creationId xmlns:a16="http://schemas.microsoft.com/office/drawing/2014/main" id="{8FB2A0E4-A24D-C614-BC03-D9F99BFFA2C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42609" y="2621898"/>
                <a:ext cx="10605121" cy="487680"/>
              </a:xfrm>
              <a:blipFill>
                <a:blip r:embed="rId2"/>
                <a:stretch>
                  <a:fillRect l="-837" t="-17949" b="-25641"/>
                </a:stretch>
              </a:blipFill>
            </p:spPr>
            <p:txBody>
              <a:bodyPr/>
              <a:lstStyle/>
              <a:p>
                <a:r>
                  <a:rPr lang="en-B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FF65633-D501-67D3-66BA-8B615F773861}"/>
                  </a:ext>
                </a:extLst>
              </p:cNvPr>
              <p:cNvSpPr txBox="1"/>
              <p:nvPr/>
            </p:nvSpPr>
            <p:spPr>
              <a:xfrm>
                <a:off x="4779506" y="3193381"/>
                <a:ext cx="2472215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𝐲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k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= 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0" smtClean="0">
                              <a:latin typeface="Cambria Math" panose="02040503050406030204" pitchFamily="18" charset="0"/>
                            </a:rPr>
                            <m:t>𝐇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k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𝐱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 + 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0" smtClean="0">
                              <a:latin typeface="Cambria Math" panose="02040503050406030204" pitchFamily="18" charset="0"/>
                            </a:rPr>
                            <m:t>𝐧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k</m:t>
                          </m:r>
                        </m:sub>
                      </m:sSub>
                    </m:oMath>
                  </m:oMathPara>
                </a14:m>
                <a:endParaRPr lang="en-BE" sz="2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FF65633-D501-67D3-66BA-8B615F7738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79506" y="3193381"/>
                <a:ext cx="2472215" cy="369332"/>
              </a:xfrm>
              <a:prstGeom prst="rect">
                <a:avLst/>
              </a:prstGeom>
              <a:blipFill>
                <a:blip r:embed="rId3"/>
                <a:stretch>
                  <a:fillRect l="-2041" t="-10000" b="-33333"/>
                </a:stretch>
              </a:blipFill>
            </p:spPr>
            <p:txBody>
              <a:bodyPr/>
              <a:lstStyle/>
              <a:p>
                <a:r>
                  <a:rPr lang="en-B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1">
                <a:extLst>
                  <a:ext uri="{FF2B5EF4-FFF2-40B4-BE49-F238E27FC236}">
                    <a16:creationId xmlns:a16="http://schemas.microsoft.com/office/drawing/2014/main" id="{A619BADA-0065-5D63-7946-03DD181BF84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42609" y="4030575"/>
                <a:ext cx="10605121" cy="48768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fontScale="92500"/>
              </a:bodyPr>
              <a:lstStyle>
                <a:lvl1pPr marL="0" indent="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2800" kern="1200" baseline="0">
                    <a:solidFill>
                      <a:schemeClr val="tx1"/>
                    </a:solidFill>
                    <a:latin typeface="UGent Panno Text" panose="02000506040000040003" pitchFamily="2" charset="0"/>
                    <a:ea typeface="+mn-ea"/>
                    <a:cs typeface="+mn-cs"/>
                  </a:defRPr>
                </a:lvl1pPr>
                <a:lvl2pPr marL="9525" indent="263525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1E64C8"/>
                  </a:buClr>
                  <a:buFont typeface="Arial" panose="020B0604020202020204" pitchFamily="34" charset="0"/>
                  <a:buChar char="•"/>
                  <a:tabLst/>
                  <a:defRPr sz="2400" kern="1200" baseline="0">
                    <a:solidFill>
                      <a:schemeClr val="tx1"/>
                    </a:solidFill>
                    <a:latin typeface="UGent Panno Text" panose="02000506040000040003" pitchFamily="2" charset="0"/>
                    <a:ea typeface="+mn-ea"/>
                    <a:cs typeface="+mn-cs"/>
                  </a:defRPr>
                </a:lvl2pPr>
                <a:lvl3pPr marL="801688" indent="-263525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1E64C8"/>
                  </a:buClr>
                  <a:buFont typeface="Arial" panose="020B0604020202020204" pitchFamily="34" charset="0"/>
                  <a:buChar char="•"/>
                  <a:tabLst/>
                  <a:defRPr sz="2000" kern="1200" baseline="0">
                    <a:solidFill>
                      <a:schemeClr val="tx1"/>
                    </a:solidFill>
                    <a:latin typeface="UGent Panno Text" panose="02000506040000040003" pitchFamily="2" charset="0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1E64C8"/>
                  </a:buClr>
                  <a:buFont typeface="Arial" panose="020B0604020202020204" pitchFamily="34" charset="0"/>
                  <a:buChar char="•"/>
                  <a:defRPr sz="1800" kern="1200" baseline="0">
                    <a:solidFill>
                      <a:schemeClr val="tx1"/>
                    </a:solidFill>
                    <a:latin typeface="UGent Panno Text" panose="02000506040000040003" pitchFamily="2" charset="0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1E64C8"/>
                  </a:buClr>
                  <a:buFont typeface="Arial" panose="020B0604020202020204" pitchFamily="34" charset="0"/>
                  <a:buChar char="•"/>
                  <a:defRPr sz="1800" kern="1200" baseline="0">
                    <a:solidFill>
                      <a:schemeClr val="tx1"/>
                    </a:solidFill>
                    <a:latin typeface="UGent Panno Text" panose="02000506040000040003" pitchFamily="2" charset="0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BE" dirty="0"/>
                  <a:t>The received signal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𝐲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i="1" smtClean="0">
                            <a:latin typeface="Cambria Math" panose="02040503050406030204" pitchFamily="18" charset="0"/>
                          </a:rPr>
                          <m:t>k</m:t>
                        </m:r>
                      </m:sub>
                    </m:sSub>
                  </m:oMath>
                </a14:m>
                <a:r>
                  <a:rPr lang="en-BE" dirty="0"/>
                  <a:t>  at UT</a:t>
                </a:r>
                <a:r>
                  <a:rPr lang="en-BE" baseline="-25000" dirty="0"/>
                  <a:t>k</a:t>
                </a:r>
                <a:r>
                  <a:rPr lang="en-BE" dirty="0"/>
                  <a:t> </a:t>
                </a:r>
                <a:r>
                  <a:rPr lang="en-US" dirty="0"/>
                  <a:t>is combined to obtain the scaled decision variable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𝐳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k</m:t>
                        </m:r>
                      </m:sub>
                    </m:sSub>
                  </m:oMath>
                </a14:m>
                <a:r>
                  <a:rPr lang="en-BE" dirty="0"/>
                  <a:t>:   </a:t>
                </a:r>
              </a:p>
            </p:txBody>
          </p:sp>
        </mc:Choice>
        <mc:Fallback xmlns="">
          <p:sp>
            <p:nvSpPr>
              <p:cNvPr id="7" name="Content Placeholder 1">
                <a:extLst>
                  <a:ext uri="{FF2B5EF4-FFF2-40B4-BE49-F238E27FC236}">
                    <a16:creationId xmlns:a16="http://schemas.microsoft.com/office/drawing/2014/main" id="{A619BADA-0065-5D63-7946-03DD181BF8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2609" y="4030575"/>
                <a:ext cx="10605121" cy="487680"/>
              </a:xfrm>
              <a:prstGeom prst="rect">
                <a:avLst/>
              </a:prstGeom>
              <a:blipFill>
                <a:blip r:embed="rId4"/>
                <a:stretch>
                  <a:fillRect l="-837" t="-17949" b="-25641"/>
                </a:stretch>
              </a:blipFill>
            </p:spPr>
            <p:txBody>
              <a:bodyPr/>
              <a:lstStyle/>
              <a:p>
                <a:r>
                  <a:rPr lang="en-B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8FA2C49-3EF3-F68D-D453-98E1DC46A859}"/>
                  </a:ext>
                </a:extLst>
              </p:cNvPr>
              <p:cNvSpPr txBox="1"/>
              <p:nvPr/>
            </p:nvSpPr>
            <p:spPr>
              <a:xfrm>
                <a:off x="5098695" y="4654188"/>
                <a:ext cx="176792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0" smtClean="0">
                              <a:latin typeface="Cambria Math" panose="02040503050406030204" pitchFamily="18" charset="0"/>
                            </a:rPr>
                            <m:t>𝐳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k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= 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0" smtClean="0">
                              <a:latin typeface="Cambria Math" panose="02040503050406030204" pitchFamily="18" charset="0"/>
                            </a:rPr>
                            <m:t>𝐆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k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𝐲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400" i="1">
                              <a:latin typeface="Cambria Math" panose="02040503050406030204" pitchFamily="18" charset="0"/>
                            </a:rPr>
                            <m:t>k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 </m:t>
                      </m:r>
                    </m:oMath>
                  </m:oMathPara>
                </a14:m>
                <a:endParaRPr lang="en-BE" sz="24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8FA2C49-3EF3-F68D-D453-98E1DC46A8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98695" y="4654188"/>
                <a:ext cx="1767920" cy="369332"/>
              </a:xfrm>
              <a:prstGeom prst="rect">
                <a:avLst/>
              </a:prstGeom>
              <a:blipFill>
                <a:blip r:embed="rId5"/>
                <a:stretch>
                  <a:fillRect l="-2143" t="-10000" r="-6429" b="-36667"/>
                </a:stretch>
              </a:blipFill>
            </p:spPr>
            <p:txBody>
              <a:bodyPr/>
              <a:lstStyle/>
              <a:p>
                <a:r>
                  <a:rPr lang="en-B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1">
                <a:extLst>
                  <a:ext uri="{FF2B5EF4-FFF2-40B4-BE49-F238E27FC236}">
                    <a16:creationId xmlns:a16="http://schemas.microsoft.com/office/drawing/2014/main" id="{F04425AF-E7FB-13A1-3028-8CDAE422072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42609" y="1191810"/>
                <a:ext cx="10605121" cy="893656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0" indent="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2800" kern="1200" baseline="0">
                    <a:solidFill>
                      <a:schemeClr val="tx1"/>
                    </a:solidFill>
                    <a:latin typeface="UGent Panno Text" panose="02000506040000040003" pitchFamily="2" charset="0"/>
                    <a:ea typeface="+mn-ea"/>
                    <a:cs typeface="+mn-cs"/>
                  </a:defRPr>
                </a:lvl1pPr>
                <a:lvl2pPr marL="9525" indent="263525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1E64C8"/>
                  </a:buClr>
                  <a:buFont typeface="Arial" panose="020B0604020202020204" pitchFamily="34" charset="0"/>
                  <a:buChar char="•"/>
                  <a:tabLst/>
                  <a:defRPr sz="2400" kern="1200" baseline="0">
                    <a:solidFill>
                      <a:schemeClr val="tx1"/>
                    </a:solidFill>
                    <a:latin typeface="UGent Panno Text" panose="02000506040000040003" pitchFamily="2" charset="0"/>
                    <a:ea typeface="+mn-ea"/>
                    <a:cs typeface="+mn-cs"/>
                  </a:defRPr>
                </a:lvl2pPr>
                <a:lvl3pPr marL="801688" indent="-263525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1E64C8"/>
                  </a:buClr>
                  <a:buFont typeface="Arial" panose="020B0604020202020204" pitchFamily="34" charset="0"/>
                  <a:buChar char="•"/>
                  <a:tabLst/>
                  <a:defRPr sz="2000" kern="1200" baseline="0">
                    <a:solidFill>
                      <a:schemeClr val="tx1"/>
                    </a:solidFill>
                    <a:latin typeface="UGent Panno Text" panose="02000506040000040003" pitchFamily="2" charset="0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1E64C8"/>
                  </a:buClr>
                  <a:buFont typeface="Arial" panose="020B0604020202020204" pitchFamily="34" charset="0"/>
                  <a:buChar char="•"/>
                  <a:defRPr sz="1800" kern="1200" baseline="0">
                    <a:solidFill>
                      <a:schemeClr val="tx1"/>
                    </a:solidFill>
                    <a:latin typeface="UGent Panno Text" panose="02000506040000040003" pitchFamily="2" charset="0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1E64C8"/>
                  </a:buClr>
                  <a:buFont typeface="Arial" panose="020B0604020202020204" pitchFamily="34" charset="0"/>
                  <a:buChar char="•"/>
                  <a:defRPr sz="1800" kern="1200" baseline="0">
                    <a:solidFill>
                      <a:schemeClr val="tx1"/>
                    </a:solidFill>
                    <a:latin typeface="UGent Panno Text" panose="02000506040000040003" pitchFamily="2" charset="0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BE" sz="2600" dirty="0"/>
                  <a:t>The transmitted signal </a:t>
                </a:r>
                <a14:m>
                  <m:oMath xmlns:m="http://schemas.openxmlformats.org/officeDocument/2006/math">
                    <m:r>
                      <a:rPr lang="en-US" sz="2600" i="1" smtClean="0">
                        <a:latin typeface="Cambria Math" panose="02040503050406030204" pitchFamily="18" charset="0"/>
                      </a:rPr>
                      <m:t>𝐱</m:t>
                    </m:r>
                  </m:oMath>
                </a14:m>
                <a:r>
                  <a:rPr lang="en-BE" sz="2600" dirty="0"/>
                  <a:t> </a:t>
                </a:r>
                <a:r>
                  <a:rPr lang="en-US" sz="2600" dirty="0"/>
                  <a:t>is constructed at the BS by precoding the data streams:</a:t>
                </a:r>
                <a:endParaRPr lang="en-BE" sz="2600" dirty="0"/>
              </a:p>
            </p:txBody>
          </p:sp>
        </mc:Choice>
        <mc:Fallback xmlns="">
          <p:sp>
            <p:nvSpPr>
              <p:cNvPr id="9" name="Content Placeholder 1">
                <a:extLst>
                  <a:ext uri="{FF2B5EF4-FFF2-40B4-BE49-F238E27FC236}">
                    <a16:creationId xmlns:a16="http://schemas.microsoft.com/office/drawing/2014/main" id="{F04425AF-E7FB-13A1-3028-8CDAE42207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2609" y="1191810"/>
                <a:ext cx="10605121" cy="893656"/>
              </a:xfrm>
              <a:prstGeom prst="rect">
                <a:avLst/>
              </a:prstGeom>
              <a:blipFill>
                <a:blip r:embed="rId6"/>
                <a:stretch>
                  <a:fillRect l="-837" t="-11268"/>
                </a:stretch>
              </a:blipFill>
            </p:spPr>
            <p:txBody>
              <a:bodyPr/>
              <a:lstStyle/>
              <a:p>
                <a:r>
                  <a:rPr lang="en-B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A2603B5-13E2-0541-8C1A-E82495AD26AB}"/>
                  </a:ext>
                </a:extLst>
              </p:cNvPr>
              <p:cNvSpPr txBox="1"/>
              <p:nvPr/>
            </p:nvSpPr>
            <p:spPr>
              <a:xfrm>
                <a:off x="4376299" y="1627877"/>
                <a:ext cx="3439395" cy="76136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0" smtClean="0">
                          <a:latin typeface="Cambria Math" panose="02040503050406030204" pitchFamily="18" charset="0"/>
                        </a:rPr>
                        <m:t>𝐱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= </m:t>
                      </m:r>
                      <m:nary>
                        <m:naryPr>
                          <m:chr m:val="∑"/>
                          <m:limLoc m:val="subSup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  <m:brk m:alnAt="25"/>
                            </m:rP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k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K</m:t>
                          </m:r>
                        </m:sup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1" i="0" smtClean="0">
                                  <a:latin typeface="Cambria Math" panose="02040503050406030204" pitchFamily="18" charset="0"/>
                                </a:rPr>
                                <m:t>𝐅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k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 ⋅ 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1" i="0" smtClean="0">
                                  <a:latin typeface="Cambria Math" panose="02040503050406030204" pitchFamily="18" charset="0"/>
                                </a:rPr>
                                <m:t>𝐚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k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BE" sz="24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A2603B5-13E2-0541-8C1A-E82495AD26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76299" y="1627877"/>
                <a:ext cx="3439395" cy="761362"/>
              </a:xfrm>
              <a:prstGeom prst="rect">
                <a:avLst/>
              </a:prstGeom>
              <a:blipFill>
                <a:blip r:embed="rId7"/>
                <a:stretch>
                  <a:fillRect t="-172131" b="-257377"/>
                </a:stretch>
              </a:blipFill>
            </p:spPr>
            <p:txBody>
              <a:bodyPr/>
              <a:lstStyle/>
              <a:p>
                <a:r>
                  <a:rPr lang="en-B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A56EFAD-92E3-838A-1ABC-92767240CF13}"/>
                  </a:ext>
                </a:extLst>
              </p:cNvPr>
              <p:cNvSpPr txBox="1"/>
              <p:nvPr/>
            </p:nvSpPr>
            <p:spPr>
              <a:xfrm>
                <a:off x="4766016" y="6084276"/>
                <a:ext cx="2631105" cy="36933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0">
                          <a:latin typeface="Cambria Math" panose="02040503050406030204" pitchFamily="18" charset="0"/>
                        </a:rPr>
                        <m:t>𝐳</m:t>
                      </m:r>
                      <m:r>
                        <a:rPr lang="en-US" sz="2400" b="1" i="0" smtClean="0">
                          <a:latin typeface="Cambria Math" panose="02040503050406030204" pitchFamily="18" charset="0"/>
                        </a:rPr>
                        <m:t>= </m:t>
                      </m:r>
                      <m:r>
                        <a:rPr lang="en-US" sz="2400" b="1" i="0" smtClean="0">
                          <a:latin typeface="Cambria Math" panose="02040503050406030204" pitchFamily="18" charset="0"/>
                        </a:rPr>
                        <m:t>𝐆𝐇𝐅</m:t>
                      </m:r>
                      <m:r>
                        <a:rPr lang="en-US" sz="2400" b="1" i="0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sz="2400" b="1" i="0" smtClean="0">
                          <a:latin typeface="Cambria Math" panose="02040503050406030204" pitchFamily="18" charset="0"/>
                        </a:rPr>
                        <m:t>𝐚</m:t>
                      </m:r>
                      <m:r>
                        <a:rPr lang="en-US" sz="2400" b="1" i="0" smtClean="0">
                          <a:latin typeface="Cambria Math" panose="02040503050406030204" pitchFamily="18" charset="0"/>
                        </a:rPr>
                        <m:t> +</m:t>
                      </m:r>
                      <m:r>
                        <a:rPr lang="en-US" sz="2400" b="1" i="0" smtClean="0">
                          <a:latin typeface="Cambria Math" panose="02040503050406030204" pitchFamily="18" charset="0"/>
                        </a:rPr>
                        <m:t>𝐆</m:t>
                      </m:r>
                      <m:r>
                        <a:rPr lang="en-US" sz="2400" b="1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1" i="0" smtClean="0">
                          <a:latin typeface="Cambria Math" panose="02040503050406030204" pitchFamily="18" charset="0"/>
                        </a:rPr>
                        <m:t>𝐧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 </m:t>
                      </m:r>
                    </m:oMath>
                  </m:oMathPara>
                </a14:m>
                <a:endParaRPr lang="en-BE" sz="24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A56EFAD-92E3-838A-1ABC-92767240CF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6016" y="6084276"/>
                <a:ext cx="2631105" cy="369332"/>
              </a:xfrm>
              <a:prstGeom prst="rect">
                <a:avLst/>
              </a:prstGeom>
              <a:blipFill>
                <a:blip r:embed="rId8"/>
                <a:stretch>
                  <a:fillRect l="-957" t="-6452" r="-4306" b="-32258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B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08421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C0BDD59-91C0-A918-0CC1-9FBA945DD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E" dirty="0"/>
              <a:t>System Model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4203129-74C9-8861-3C7C-0ACDA4658B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573" y="1412409"/>
            <a:ext cx="5596850" cy="142898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1CF4BE3-AF22-8B58-C851-2B30658952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4247" y="3109150"/>
            <a:ext cx="6779250" cy="143445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72D2E9A-47A2-E21C-E369-A1215D6038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7327" y="4916422"/>
            <a:ext cx="7613619" cy="1434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56550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C5AFE67-E93C-66E2-3463-801012FE0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E" dirty="0"/>
              <a:t>Satellite Channel Model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1FADD63-4C2F-01F1-3BB4-5C29C921159B}"/>
                  </a:ext>
                </a:extLst>
              </p:cNvPr>
              <p:cNvSpPr txBox="1"/>
              <p:nvPr/>
            </p:nvSpPr>
            <p:spPr>
              <a:xfrm>
                <a:off x="475552" y="1356875"/>
                <a:ext cx="11240895" cy="36835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BE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>
                              <a:latin typeface="Cambria Math" panose="02040503050406030204" pitchFamily="18" charset="0"/>
                            </a:rPr>
                            <m:t>𝐇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000" i="1">
                              <a:latin typeface="Cambria Math" panose="02040503050406030204" pitchFamily="18" charset="0"/>
                            </a:rPr>
                            <m:t>k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m</m:t>
                          </m:r>
                        </m:e>
                      </m:d>
                      <m: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000" i="1"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2000" i="1">
                              <a:latin typeface="Cambria Math" panose="02040503050406030204" pitchFamily="18" charset="0"/>
                            </a:rPr>
                            <m:t>j</m:t>
                          </m:r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ϕ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000" i="1">
                                  <a:latin typeface="Cambria Math" panose="02040503050406030204" pitchFamily="18" charset="0"/>
                                </a:rPr>
                                <m:t>k</m:t>
                              </m:r>
                            </m:sub>
                          </m:sSub>
                        </m:sup>
                      </m:sSup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ad>
                            <m:radPr>
                              <m:degHide m:val="on"/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box>
                                <m:box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boxPr>
                                <m:e>
                                  <m:argPr>
                                    <m:argSz m:val="-1"/>
                                  </m:argPr>
                                  <m:f>
                                    <m:f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𝐾</m:t>
                                      </m:r>
                                    </m:num>
                                    <m:den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𝐾</m:t>
                                      </m:r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+1</m:t>
                                      </m:r>
                                    </m:den>
                                  </m:f>
                                </m:e>
                              </m:box>
                            </m:e>
                          </m:rad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+</m:t>
                          </m:r>
                          <m:rad>
                            <m:radPr>
                              <m:degHide m:val="on"/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box>
                                <m:box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boxPr>
                                <m:e>
                                  <m:argPr>
                                    <m:argSz m:val="-1"/>
                                  </m:argPr>
                                  <m:f>
                                    <m:f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𝐾</m:t>
                                      </m:r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+1</m:t>
                                      </m:r>
                                    </m:den>
                                  </m:f>
                                </m:e>
                              </m:box>
                            </m:e>
                          </m:rad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⋅</m:t>
                          </m:r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1">
                                  <a:latin typeface="Cambria Math" panose="02040503050406030204" pitchFamily="18" charset="0"/>
                                </a:rPr>
                                <m:t>𝐇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000" i="1">
                                  <a:latin typeface="Cambria Math" panose="02040503050406030204" pitchFamily="18" charset="0"/>
                                </a:rPr>
                                <m:t>NLoS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m:rPr>
                                  <m:sty m:val="p"/>
                                </m:rPr>
                                <a:rPr lang="en-US" sz="2000" i="1">
                                  <a:latin typeface="Cambria Math" panose="02040503050406030204" pitchFamily="18" charset="0"/>
                                </a:rPr>
                                <m:t>k</m:t>
                              </m:r>
                            </m:sub>
                          </m:sSub>
                          <m:d>
                            <m:dPr>
                              <m:begChr m:val="["/>
                              <m:endChr m:val="]"/>
                              <m:ctrlPr>
                                <a:rPr lang="en-US" sz="20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m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BE" sz="2000" dirty="0"/>
              </a:p>
              <a:p>
                <a:pPr marL="800100" lvl="1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BE" sz="2000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∈</m:t>
                    </m:r>
                    <m:d>
                      <m:dPr>
                        <m:begChr m:val="["/>
                        <m:endChr m:val="[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0, ∞</m:t>
                        </m:r>
                      </m:e>
                    </m:d>
                  </m:oMath>
                </a14:m>
                <a:r>
                  <a:rPr lang="en-BE" i="1" dirty="0"/>
                  <a:t>   </a:t>
                </a:r>
                <a:r>
                  <a:rPr lang="en-BE" dirty="0"/>
                  <a:t>: The “Rice-factor”.</a:t>
                </a:r>
              </a:p>
              <a:p>
                <a:pPr marL="800100" lvl="1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ϕ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k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 ∈</m:t>
                    </m:r>
                    <m:d>
                      <m:dPr>
                        <m:begChr m:val="["/>
                        <m:endChr m:val="[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m:rPr>
                            <m:sty m:val="p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π</m:t>
                        </m:r>
                      </m:e>
                    </m:d>
                  </m:oMath>
                </a14:m>
                <a:r>
                  <a:rPr lang="en-BE" dirty="0"/>
                  <a:t> : The arbitrary channel phase. </a:t>
                </a:r>
              </a:p>
              <a:p>
                <a:pPr marL="800100" lvl="1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NLoS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m:rPr>
                            <m:sty m:val="p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k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t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ℂ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NrxNt</m:t>
                        </m:r>
                      </m:sup>
                    </m:sSup>
                  </m:oMath>
                </a14:m>
                <a:r>
                  <a:rPr lang="en-BE" dirty="0"/>
                  <a:t> : The No Line-of-Sight (NLoS) components.</a:t>
                </a:r>
              </a:p>
              <a:p>
                <a:pPr lvl="1">
                  <a:lnSpc>
                    <a:spcPct val="200000"/>
                  </a:lnSpc>
                </a:pPr>
                <a:r>
                  <a:rPr lang="en-BE" dirty="0"/>
                  <a:t>	The entries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1"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600" i="1">
                            <a:latin typeface="Cambria Math" panose="02040503050406030204" pitchFamily="18" charset="0"/>
                          </a:rPr>
                          <m:t>NLoS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m:rPr>
                            <m:sty m:val="p"/>
                          </m:rPr>
                          <a:rPr lang="en-US" sz="1600" i="1">
                            <a:latin typeface="Cambria Math" panose="02040503050406030204" pitchFamily="18" charset="0"/>
                          </a:rPr>
                          <m:t>k</m:t>
                        </m:r>
                      </m:sub>
                    </m:sSub>
                    <m:d>
                      <m:d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1600" i="1">
                            <a:latin typeface="Cambria Math" panose="02040503050406030204" pitchFamily="18" charset="0"/>
                          </a:rPr>
                          <m:t>t</m:t>
                        </m:r>
                      </m:e>
                    </m:d>
                  </m:oMath>
                </a14:m>
                <a:r>
                  <a:rPr lang="en-BE" sz="1600" dirty="0"/>
                  <a:t> </a:t>
                </a:r>
                <a:r>
                  <a:rPr lang="en-BE" dirty="0"/>
                  <a:t>are i.i.d. zero-mean unit-variance complex Gaussian random processes: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en-US" sz="16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b="1">
                                    <a:latin typeface="Cambria Math" panose="02040503050406030204" pitchFamily="18" charset="0"/>
                                  </a:rPr>
                                  <m:t>𝐇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NLoS</m:t>
                                </m:r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k</m:t>
                                </m:r>
                              </m:sub>
                            </m:sSub>
                          </m:e>
                        </m:d>
                      </m:e>
                      <m:sub>
                        <m:r>
                          <m:rPr>
                            <m:sty m:val="p"/>
                          </m:rPr>
                          <a:rPr lang="en-US" sz="1600" b="0" i="1" smtClean="0">
                            <a:latin typeface="Cambria Math" panose="02040503050406030204" pitchFamily="18" charset="0"/>
                          </a:rPr>
                          <m:t>i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sz="1600" b="0" i="1" smtClean="0">
                            <a:latin typeface="Cambria Math" panose="02040503050406030204" pitchFamily="18" charset="0"/>
                          </a:rPr>
                          <m:t>j</m:t>
                        </m:r>
                      </m:sub>
                    </m:sSub>
                    <m:d>
                      <m:d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1600" i="1">
                            <a:latin typeface="Cambria Math" panose="02040503050406030204" pitchFamily="18" charset="0"/>
                          </a:rPr>
                          <m:t>t</m:t>
                        </m:r>
                      </m:e>
                    </m:d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 ∼</m:t>
                    </m:r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𝒩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ℂ</m:t>
                        </m:r>
                      </m:sub>
                    </m:sSub>
                    <m:d>
                      <m:d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0  1</m:t>
                        </m:r>
                      </m:e>
                    </m:d>
                  </m:oMath>
                </a14:m>
                <a:endParaRPr lang="en-BE" dirty="0"/>
              </a:p>
              <a:p>
                <a:pPr lvl="1"/>
                <a:r>
                  <a:rPr lang="en-BE" dirty="0"/>
                  <a:t>	Each process is correlated in time! The PSD is given by: 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400" b="0" i="1" smtClean="0">
                        <a:latin typeface="Cambria Math" panose="02040503050406030204" pitchFamily="18" charset="0"/>
                      </a:rPr>
                      <m:t>S</m:t>
                    </m:r>
                    <m:d>
                      <m:d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1400" b="0" i="1" smtClean="0">
                            <a:latin typeface="Cambria Math" panose="02040503050406030204" pitchFamily="18" charset="0"/>
                          </a:rPr>
                          <m:t>f</m:t>
                        </m:r>
                      </m:e>
                    </m:d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 = </m:t>
                    </m:r>
                    <m:sSup>
                      <m:sSup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sz="1400" i="1">
                                <a:latin typeface="Cambria Math" panose="02040503050406030204" pitchFamily="18" charset="0"/>
                              </a:rPr>
                              <m:t>π</m:t>
                            </m:r>
                            <m:sSub>
                              <m:sSubPr>
                                <m:ctrlPr>
                                  <a:rPr lang="en-US" sz="1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f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D</m:t>
                                </m:r>
                              </m:sub>
                            </m:sSub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ad>
                              <m:radPr>
                                <m:degHide m:val="on"/>
                                <m:ctrlPr>
                                  <a:rPr lang="en-US" sz="1400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1 − </m:t>
                                </m:r>
                                <m:sSup>
                                  <m:sSupPr>
                                    <m:ctrlPr>
                                      <a:rPr lang="en-US" sz="1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sz="1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box>
                                          <m:boxPr>
                                            <m:ctrlPr>
                                              <a:rPr lang="en-US" sz="14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boxPr>
                                          <m:e>
                                            <m:argPr>
                                              <m:argSz m:val="-1"/>
                                            </m:argPr>
                                            <m:f>
                                              <m:fPr>
                                                <m:ctrlPr>
                                                  <a:rPr lang="en-US" sz="1400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fPr>
                                              <m:num>
                                                <m:r>
                                                  <m:rPr>
                                                    <m:sty m:val="p"/>
                                                  </m:rPr>
                                                  <a:rPr lang="en-US" sz="1400" i="1">
                                                    <a:latin typeface="Cambria Math" panose="02040503050406030204" pitchFamily="18" charset="0"/>
                                                  </a:rPr>
                                                  <m:t>f</m:t>
                                                </m:r>
                                              </m:num>
                                              <m:den>
                                                <m:sSub>
                                                  <m:sSubPr>
                                                    <m:ctrlPr>
                                                      <a:rPr lang="en-US" sz="1400" i="1"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m:rPr>
                                                        <m:sty m:val="p"/>
                                                      </m:rPr>
                                                      <a:rPr lang="en-US" sz="1400" i="1">
                                                        <a:latin typeface="Cambria Math" panose="02040503050406030204" pitchFamily="18" charset="0"/>
                                                      </a:rPr>
                                                      <m:t>f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m:rPr>
                                                        <m:sty m:val="p"/>
                                                      </m:rPr>
                                                      <a:rPr lang="en-US" sz="1400" i="1">
                                                        <a:latin typeface="Cambria Math" panose="02040503050406030204" pitchFamily="18" charset="0"/>
                                                      </a:rPr>
                                                      <m:t>D</m:t>
                                                    </m:r>
                                                  </m:sub>
                                                </m:sSub>
                                              </m:den>
                                            </m:f>
                                          </m:e>
                                        </m:box>
                                      </m:e>
                                    </m:d>
                                  </m:e>
                                  <m:sup>
                                    <m:r>
                                      <a:rPr lang="en-US" sz="14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rad>
                          </m:e>
                        </m:d>
                      </m:e>
                      <m:sup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BE" dirty="0"/>
                  <a:t>(Clarke’s Fading Model)</a:t>
                </a: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1FADD63-4C2F-01F1-3BB4-5C29C92115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552" y="1356875"/>
                <a:ext cx="11240895" cy="368357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B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860123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CB1C2D-4C43-30F5-42F3-7891B0A5752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BE" dirty="0"/>
              <a:t>Outdated CSI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190D1D0-9664-0AFE-F6A1-C1B7BE9EF5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E" dirty="0"/>
              <a:t>Satellite Channel Model</a:t>
            </a:r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D66D878E-4453-DDE1-E76A-9ADC74D149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1200" y="2381250"/>
            <a:ext cx="7772400" cy="1979083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6972CA91-E83A-BAA6-9486-5B51084730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03400" y="2476500"/>
            <a:ext cx="7772400" cy="1724644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302A2089-B9E7-D095-1CB6-88A077E8970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0" y="2279650"/>
            <a:ext cx="7772400" cy="1488681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BE3B0266-820A-896B-FD85-F66E5DCF26F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81200" y="2171700"/>
            <a:ext cx="7772400" cy="2374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90109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5C2CFE-FC16-A658-250F-0A128634629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BE" dirty="0"/>
              <a:t>Time Correlation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950C4F9-70C9-DB70-AF20-197E555BC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E" dirty="0"/>
              <a:t>Satellite Channel Model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0F64EDB-EF78-F3B9-D658-DF26C6FC61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399" y="1699418"/>
            <a:ext cx="11100485" cy="4349768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8DD686D8-CD1C-322A-260A-71B748C261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399" y="1704910"/>
            <a:ext cx="11100485" cy="4349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41584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E4F2C8-8364-7F17-B954-80060350AC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214BD7-492D-39B5-0552-46B4E78B097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BE" dirty="0"/>
              <a:t>Time Correlation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045970B-7408-BFFA-28C4-0D14189B43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E" dirty="0"/>
              <a:t>Satellite Channel Model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98854FE-A35A-97F7-5904-6C1E00F0AB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969" y="1699418"/>
            <a:ext cx="11287125" cy="442290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8D48B90-A1F8-4075-6FD6-4DB3494F8A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968" y="1693926"/>
            <a:ext cx="11287125" cy="4407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16699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71DEB3C-F867-CC00-EA89-0FA1064A5A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E2FBDB-1889-4DD0-8C5E-72FB7E48B0F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6A986C9-9120-612B-9365-9F3300EA41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0328819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2AFB090-EE48-C52D-A9B3-CA15628B3CD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BE" dirty="0"/>
              <a:t>Wannes Baes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CBF859C-EF25-E859-0840-BF74EA43BE7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09305" y="1656598"/>
            <a:ext cx="5800725" cy="368467"/>
          </a:xfrm>
        </p:spPr>
        <p:txBody>
          <a:bodyPr/>
          <a:lstStyle/>
          <a:p>
            <a:r>
              <a:rPr lang="en-BE" dirty="0"/>
              <a:t>Supervisors: Prof. Dr. Ir. Nele Noels, Dr. Ir. Rodrigo Moreas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FD2CFEB-677A-B83F-CFDB-90118506510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BE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BD67EFC-A88F-9E12-B872-30801B29318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BE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FC84DF40-A8E4-A4C0-41A6-1A74F29D77C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BE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FD089646-7A82-08E2-1DD1-E731C701F46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GB" dirty="0"/>
              <a:t>w</a:t>
            </a:r>
            <a:r>
              <a:rPr lang="en-BE" dirty="0"/>
              <a:t>annes.baes@ugent.be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0CDE9F60-5335-8234-C2B9-04577C026E7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BE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Universiteit Gent</a:t>
            </a:r>
          </a:p>
        </p:txBody>
      </p:sp>
      <p:pic>
        <p:nvPicPr>
          <p:cNvPr id="26" name="Picture Placeholder 25">
            <a:hlinkClick r:id="rId2"/>
            <a:extLst>
              <a:ext uri="{FF2B5EF4-FFF2-40B4-BE49-F238E27FC236}">
                <a16:creationId xmlns:a16="http://schemas.microsoft.com/office/drawing/2014/main" id="{9FB3CC2D-5390-0564-222E-B6D410FE8E9A}"/>
              </a:ext>
            </a:extLst>
          </p:cNvPr>
          <p:cNvPicPr>
            <a:picLocks noGrp="1" noChangeAspect="1"/>
          </p:cNvPicPr>
          <p:nvPr>
            <p:ph type="pic" sz="quarter" idx="23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8894981" y="2572339"/>
            <a:ext cx="368467" cy="368467"/>
          </a:xfrm>
        </p:spPr>
      </p:pic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EA51C031-1C30-2E75-2A1D-8E6C4E6B2254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r>
              <a:rPr lang="en-BE"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@ugent</a:t>
            </a:r>
          </a:p>
        </p:txBody>
      </p:sp>
      <p:pic>
        <p:nvPicPr>
          <p:cNvPr id="28" name="Picture Placeholder 27">
            <a:hlinkClick r:id="rId4"/>
            <a:extLst>
              <a:ext uri="{FF2B5EF4-FFF2-40B4-BE49-F238E27FC236}">
                <a16:creationId xmlns:a16="http://schemas.microsoft.com/office/drawing/2014/main" id="{F13E02E3-9776-71EE-3CD3-32BF2BC344F9}"/>
              </a:ext>
            </a:extLst>
          </p:cNvPr>
          <p:cNvPicPr>
            <a:picLocks noGrp="1" noChangeAspect="1"/>
          </p:cNvPicPr>
          <p:nvPr>
            <p:ph type="pic" sz="quarter" idx="25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220" b="220"/>
          <a:stretch>
            <a:fillRect/>
          </a:stretch>
        </p:blipFill>
        <p:spPr/>
      </p:pic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B6740C27-80C4-02E0-7320-A7188529E9F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r>
              <a:rPr lang="en-BE"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@ugent</a:t>
            </a:r>
          </a:p>
        </p:txBody>
      </p:sp>
      <p:pic>
        <p:nvPicPr>
          <p:cNvPr id="30" name="Picture Placeholder 29">
            <a:hlinkClick r:id="rId6"/>
            <a:extLst>
              <a:ext uri="{FF2B5EF4-FFF2-40B4-BE49-F238E27FC236}">
                <a16:creationId xmlns:a16="http://schemas.microsoft.com/office/drawing/2014/main" id="{DCB2E44B-9803-9221-55A5-7FB71673D7CB}"/>
              </a:ext>
            </a:extLst>
          </p:cNvPr>
          <p:cNvPicPr>
            <a:picLocks noGrp="1" noChangeAspect="1"/>
          </p:cNvPicPr>
          <p:nvPr>
            <p:ph type="pic" sz="quarter" idx="27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>
            <a:fillRect/>
          </a:stretch>
        </p:blipFill>
        <p:spPr/>
      </p:pic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01BF99A9-B150-15CF-D33F-A6B680D26CE5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r>
              <a:rPr lang="en-BE" dirty="0"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Ghent University</a:t>
            </a:r>
          </a:p>
        </p:txBody>
      </p:sp>
      <p:pic>
        <p:nvPicPr>
          <p:cNvPr id="32" name="Picture Placeholder 31">
            <a:hlinkClick r:id="rId8"/>
            <a:extLst>
              <a:ext uri="{FF2B5EF4-FFF2-40B4-BE49-F238E27FC236}">
                <a16:creationId xmlns:a16="http://schemas.microsoft.com/office/drawing/2014/main" id="{BD12A29D-A1BF-F2EF-147B-299658A590D5}"/>
              </a:ext>
            </a:extLst>
          </p:cNvPr>
          <p:cNvPicPr>
            <a:picLocks noGrp="1" noChangeAspect="1"/>
          </p:cNvPicPr>
          <p:nvPr>
            <p:ph type="pic" sz="quarter" idx="29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>
            <a:fillRect/>
          </a:stretch>
        </p:blipFill>
        <p:spPr/>
      </p:pic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2192002C-8789-CB1D-F78C-332D8BAB32BA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/>
        <p:txBody>
          <a:bodyPr/>
          <a:lstStyle/>
          <a:p>
            <a:r>
              <a:rPr lang="en-GB" dirty="0"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y</a:t>
            </a:r>
            <a:r>
              <a:rPr lang="en-BE" dirty="0"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outube.com/ugent</a:t>
            </a:r>
          </a:p>
        </p:txBody>
      </p:sp>
      <p:pic>
        <p:nvPicPr>
          <p:cNvPr id="34" name="Picture Placeholder 33">
            <a:hlinkClick r:id="rId10"/>
            <a:extLst>
              <a:ext uri="{FF2B5EF4-FFF2-40B4-BE49-F238E27FC236}">
                <a16:creationId xmlns:a16="http://schemas.microsoft.com/office/drawing/2014/main" id="{DD1E2D79-EBEB-979E-7D1E-782F984DFE26}"/>
              </a:ext>
            </a:extLst>
          </p:cNvPr>
          <p:cNvPicPr>
            <a:picLocks noGrp="1" noChangeAspect="1"/>
          </p:cNvPicPr>
          <p:nvPr>
            <p:ph type="pic" sz="quarter" idx="31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 t="220" b="220"/>
          <a:stretch>
            <a:fillRect/>
          </a:stretch>
        </p:blipFill>
        <p:spPr/>
      </p:pic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9492567-30DB-0137-66D2-DE1B68BD4C17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r>
              <a:rPr lang="en-BE"/>
              <a:t>www.ugent.be</a:t>
            </a:r>
          </a:p>
        </p:txBody>
      </p:sp>
      <p:sp>
        <p:nvSpPr>
          <p:cNvPr id="3" name="Rectangle 2">
            <a:hlinkClick r:id="rId12"/>
            <a:extLst>
              <a:ext uri="{FF2B5EF4-FFF2-40B4-BE49-F238E27FC236}">
                <a16:creationId xmlns:a16="http://schemas.microsoft.com/office/drawing/2014/main" id="{55F21908-4484-A8B3-AC27-DAC9BB754A79}"/>
              </a:ext>
            </a:extLst>
          </p:cNvPr>
          <p:cNvSpPr/>
          <p:nvPr/>
        </p:nvSpPr>
        <p:spPr>
          <a:xfrm>
            <a:off x="8739398" y="4971369"/>
            <a:ext cx="1869260" cy="46647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4826045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5DE998-B8A2-C4A8-848E-B8AC55BDD66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BE" dirty="0"/>
              <a:t>Rayleigh Fading Channel 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E8674B6-7AA1-8982-4326-48ECD1F40A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E" dirty="0"/>
              <a:t>Channel Estimation</a:t>
            </a:r>
          </a:p>
        </p:txBody>
      </p:sp>
      <p:pic>
        <p:nvPicPr>
          <p:cNvPr id="5" name="Graphic 4" descr="Cell Tower with solid fill">
            <a:extLst>
              <a:ext uri="{FF2B5EF4-FFF2-40B4-BE49-F238E27FC236}">
                <a16:creationId xmlns:a16="http://schemas.microsoft.com/office/drawing/2014/main" id="{1F9AFFA3-E9C9-9DCD-3A88-9AA3C3D5485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273918" y="2355727"/>
            <a:ext cx="1717363" cy="1717363"/>
          </a:xfrm>
          <a:prstGeom prst="rect">
            <a:avLst/>
          </a:prstGeom>
        </p:spPr>
      </p:pic>
      <p:pic>
        <p:nvPicPr>
          <p:cNvPr id="6" name="Graphic 5" descr="Speaker phone with solid fill">
            <a:extLst>
              <a:ext uri="{FF2B5EF4-FFF2-40B4-BE49-F238E27FC236}">
                <a16:creationId xmlns:a16="http://schemas.microsoft.com/office/drawing/2014/main" id="{0677B96F-BE16-1500-1C2F-6C87395C15D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400539" y="2541168"/>
            <a:ext cx="1346479" cy="1346479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D1C525E-8567-B3A5-3617-B7238BE9E670}"/>
              </a:ext>
            </a:extLst>
          </p:cNvPr>
          <p:cNvCxnSpPr>
            <a:cxnSpLocks/>
          </p:cNvCxnSpPr>
          <p:nvPr/>
        </p:nvCxnSpPr>
        <p:spPr>
          <a:xfrm>
            <a:off x="4240266" y="2974037"/>
            <a:ext cx="3968649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029BE198-7775-AE87-7479-159C1A5416C3}"/>
              </a:ext>
            </a:extLst>
          </p:cNvPr>
          <p:cNvSpPr txBox="1"/>
          <p:nvPr/>
        </p:nvSpPr>
        <p:spPr>
          <a:xfrm>
            <a:off x="5522670" y="2635483"/>
            <a:ext cx="134647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>
                <a:solidFill>
                  <a:schemeClr val="accent3"/>
                </a:solidFill>
              </a:rPr>
              <a:t>p</a:t>
            </a:r>
            <a:r>
              <a:rPr lang="en-BE" sz="1600" dirty="0">
                <a:solidFill>
                  <a:schemeClr val="accent3"/>
                </a:solidFill>
              </a:rPr>
              <a:t>ilots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89D25A0B-4422-F1E4-B53C-D11F83E6AB97}"/>
              </a:ext>
            </a:extLst>
          </p:cNvPr>
          <p:cNvCxnSpPr>
            <a:cxnSpLocks/>
          </p:cNvCxnSpPr>
          <p:nvPr/>
        </p:nvCxnSpPr>
        <p:spPr>
          <a:xfrm flipH="1">
            <a:off x="4240266" y="3260505"/>
            <a:ext cx="3968649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8976F46-41C8-544B-8023-7B9C915BFDB0}"/>
                  </a:ext>
                </a:extLst>
              </p:cNvPr>
              <p:cNvSpPr txBox="1"/>
              <p:nvPr/>
            </p:nvSpPr>
            <p:spPr>
              <a:xfrm>
                <a:off x="5519314" y="2967898"/>
                <a:ext cx="1346479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dirty="0">
                    <a:solidFill>
                      <a:schemeClr val="accent3"/>
                    </a:solidFill>
                  </a:rPr>
                  <a:t>feedback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1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600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</m:sub>
                    </m:sSub>
                  </m:oMath>
                </a14:m>
                <a:r>
                  <a:rPr lang="en-US" sz="1600" dirty="0">
                    <a:solidFill>
                      <a:schemeClr val="accent3"/>
                    </a:solidFill>
                  </a:rPr>
                  <a:t>) </a:t>
                </a:r>
                <a:endParaRPr lang="en-BE" sz="1600" dirty="0">
                  <a:solidFill>
                    <a:schemeClr val="accent3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8976F46-41C8-544B-8023-7B9C915BFD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9314" y="2967898"/>
                <a:ext cx="1346479" cy="338554"/>
              </a:xfrm>
              <a:prstGeom prst="rect">
                <a:avLst/>
              </a:prstGeom>
              <a:blipFill>
                <a:blip r:embed="rId4"/>
                <a:stretch>
                  <a:fillRect t="-3571" b="-21429"/>
                </a:stretch>
              </a:blipFill>
            </p:spPr>
            <p:txBody>
              <a:bodyPr/>
              <a:lstStyle/>
              <a:p>
                <a:r>
                  <a:rPr lang="en-B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A94620D-2B6D-5581-D5BE-3D21CE325045}"/>
                  </a:ext>
                </a:extLst>
              </p:cNvPr>
              <p:cNvSpPr txBox="1"/>
              <p:nvPr/>
            </p:nvSpPr>
            <p:spPr>
              <a:xfrm>
                <a:off x="8208915" y="4267172"/>
                <a:ext cx="176851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dirty="0">
                    <a:solidFill>
                      <a:schemeClr val="accent3"/>
                    </a:solidFill>
                  </a:rPr>
                  <a:t>Estimate Channel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1" i="0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600" b="0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</m:sub>
                    </m:sSub>
                  </m:oMath>
                </a14:m>
                <a:endParaRPr lang="en-BE" sz="1600" dirty="0">
                  <a:solidFill>
                    <a:schemeClr val="accent3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A94620D-2B6D-5581-D5BE-3D21CE3250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08915" y="4267172"/>
                <a:ext cx="1768510" cy="338554"/>
              </a:xfrm>
              <a:prstGeom prst="rect">
                <a:avLst/>
              </a:prstGeom>
              <a:blipFill>
                <a:blip r:embed="rId5"/>
                <a:stretch>
                  <a:fillRect t="-7407" b="-25926"/>
                </a:stretch>
              </a:blipFill>
            </p:spPr>
            <p:txBody>
              <a:bodyPr/>
              <a:lstStyle/>
              <a:p>
                <a:r>
                  <a:rPr lang="en-B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8D745D8-BC11-2638-114F-5396AD2696AB}"/>
              </a:ext>
            </a:extLst>
          </p:cNvPr>
          <p:cNvCxnSpPr>
            <a:cxnSpLocks/>
          </p:cNvCxnSpPr>
          <p:nvPr/>
        </p:nvCxnSpPr>
        <p:spPr>
          <a:xfrm>
            <a:off x="4236910" y="3560239"/>
            <a:ext cx="3972005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8C722BD-56EF-81DD-1C52-7CCE94BF4596}"/>
                  </a:ext>
                </a:extLst>
              </p:cNvPr>
              <p:cNvSpPr txBox="1"/>
              <p:nvPr/>
            </p:nvSpPr>
            <p:spPr>
              <a:xfrm>
                <a:off x="5531452" y="3254365"/>
                <a:ext cx="1525965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dirty="0">
                    <a:solidFill>
                      <a:schemeClr val="accent3"/>
                    </a:solidFill>
                  </a:rPr>
                  <a:t>feedforward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1" i="0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𝐖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600" i="1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</m:sub>
                    </m:sSub>
                  </m:oMath>
                </a14:m>
                <a:r>
                  <a:rPr lang="en-US" sz="1600" dirty="0">
                    <a:solidFill>
                      <a:schemeClr val="accent3"/>
                    </a:solidFill>
                  </a:rPr>
                  <a:t>)</a:t>
                </a:r>
                <a:endParaRPr lang="en-BE" sz="1600" dirty="0">
                  <a:solidFill>
                    <a:schemeClr val="accent3"/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8C722BD-56EF-81DD-1C52-7CCE94BF45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31452" y="3254365"/>
                <a:ext cx="1525965" cy="338554"/>
              </a:xfrm>
              <a:prstGeom prst="rect">
                <a:avLst/>
              </a:prstGeom>
              <a:blipFill>
                <a:blip r:embed="rId6"/>
                <a:stretch>
                  <a:fillRect l="-826" t="-7407" r="-826" b="-25926"/>
                </a:stretch>
              </a:blipFill>
            </p:spPr>
            <p:txBody>
              <a:bodyPr/>
              <a:lstStyle/>
              <a:p>
                <a:r>
                  <a:rPr lang="en-B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D42C01D-738E-91E9-26C5-F871273B32EB}"/>
                  </a:ext>
                </a:extLst>
              </p:cNvPr>
              <p:cNvSpPr txBox="1"/>
              <p:nvPr/>
            </p:nvSpPr>
            <p:spPr>
              <a:xfrm>
                <a:off x="1822706" y="4267172"/>
                <a:ext cx="2417560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dirty="0">
                    <a:solidFill>
                      <a:schemeClr val="accent3"/>
                    </a:solidFill>
                  </a:rPr>
                  <a:t>Compute Compound Precoder </a:t>
                </a:r>
                <a14:m>
                  <m:oMath xmlns:m="http://schemas.openxmlformats.org/officeDocument/2006/math">
                    <m:r>
                      <a:rPr lang="en-US" sz="1600" b="1" i="0" smtClean="0">
                        <a:solidFill>
                          <a:schemeClr val="accent3"/>
                        </a:solidFill>
                        <a:latin typeface="Cambria Math" panose="02040503050406030204" pitchFamily="18" charset="0"/>
                      </a:rPr>
                      <m:t>𝐅</m:t>
                    </m:r>
                  </m:oMath>
                </a14:m>
                <a:r>
                  <a:rPr lang="en-US" sz="1600" dirty="0">
                    <a:solidFill>
                      <a:schemeClr val="accent3"/>
                    </a:solidFill>
                  </a:rPr>
                  <a:t> </a:t>
                </a:r>
                <a:br>
                  <a:rPr lang="en-US" sz="1600" dirty="0">
                    <a:solidFill>
                      <a:schemeClr val="accent3"/>
                    </a:solidFill>
                  </a:rPr>
                </a:br>
                <a:r>
                  <a:rPr lang="en-US" sz="1600" dirty="0">
                    <a:solidFill>
                      <a:schemeClr val="accent3"/>
                    </a:solidFill>
                  </a:rPr>
                  <a:t>&amp; Compound Combiner </a:t>
                </a:r>
                <a14:m>
                  <m:oMath xmlns:m="http://schemas.openxmlformats.org/officeDocument/2006/math">
                    <m:r>
                      <a:rPr lang="en-US" sz="1600" b="1" i="0" smtClean="0">
                        <a:solidFill>
                          <a:schemeClr val="accent3"/>
                        </a:solidFill>
                        <a:latin typeface="Cambria Math" panose="02040503050406030204" pitchFamily="18" charset="0"/>
                      </a:rPr>
                      <m:t>𝐖</m:t>
                    </m:r>
                  </m:oMath>
                </a14:m>
                <a:r>
                  <a:rPr lang="en-US" sz="1600" dirty="0">
                    <a:solidFill>
                      <a:schemeClr val="accent3"/>
                    </a:solidFill>
                  </a:rPr>
                  <a:t> </a:t>
                </a:r>
                <a:endParaRPr lang="en-BE" sz="1600" dirty="0">
                  <a:solidFill>
                    <a:schemeClr val="accent3"/>
                  </a:solidFill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D42C01D-738E-91E9-26C5-F871273B32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2706" y="4267172"/>
                <a:ext cx="2417560" cy="584775"/>
              </a:xfrm>
              <a:prstGeom prst="rect">
                <a:avLst/>
              </a:prstGeom>
              <a:blipFill>
                <a:blip r:embed="rId7"/>
                <a:stretch>
                  <a:fillRect l="-521" t="-4255" b="-12766"/>
                </a:stretch>
              </a:blipFill>
            </p:spPr>
            <p:txBody>
              <a:bodyPr/>
              <a:lstStyle/>
              <a:p>
                <a:r>
                  <a:rPr lang="en-B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363843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1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8" presetClass="entr" presetSubtype="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  <p:bldP spid="11" grpId="0"/>
      <p:bldP spid="13" grpId="0"/>
      <p:bldP spid="1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A5D359-2334-ED43-E822-64AE73A091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E8B46B-C4A6-6EA3-835C-EE1C0CB7684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BE" dirty="0"/>
              <a:t>Proposal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C7651AE-DF3D-CEE3-DB3B-2E9A155742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E" dirty="0"/>
              <a:t>Channel Estimation</a:t>
            </a:r>
          </a:p>
        </p:txBody>
      </p:sp>
      <p:pic>
        <p:nvPicPr>
          <p:cNvPr id="6" name="Graphic 5" descr="Speaker phone with solid fill">
            <a:extLst>
              <a:ext uri="{FF2B5EF4-FFF2-40B4-BE49-F238E27FC236}">
                <a16:creationId xmlns:a16="http://schemas.microsoft.com/office/drawing/2014/main" id="{57B781CE-D4F1-F2FB-2106-B5A177A9935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237603" y="2623374"/>
            <a:ext cx="1346479" cy="1346479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03C3865D-F555-3ABE-899C-45BA800E80B6}"/>
              </a:ext>
            </a:extLst>
          </p:cNvPr>
          <p:cNvCxnSpPr>
            <a:cxnSpLocks/>
          </p:cNvCxnSpPr>
          <p:nvPr/>
        </p:nvCxnSpPr>
        <p:spPr>
          <a:xfrm>
            <a:off x="4408281" y="2977508"/>
            <a:ext cx="359571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CFB9C002-E034-898C-F5BF-FB9C0EA73F60}"/>
              </a:ext>
            </a:extLst>
          </p:cNvPr>
          <p:cNvSpPr txBox="1"/>
          <p:nvPr/>
        </p:nvSpPr>
        <p:spPr>
          <a:xfrm>
            <a:off x="5311755" y="2684451"/>
            <a:ext cx="176850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>
                <a:solidFill>
                  <a:schemeClr val="accent3"/>
                </a:solidFill>
              </a:rPr>
              <a:t>p</a:t>
            </a:r>
            <a:r>
              <a:rPr lang="en-BE" sz="1600" dirty="0">
                <a:solidFill>
                  <a:schemeClr val="accent3"/>
                </a:solidFill>
              </a:rPr>
              <a:t>ilots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6A582AD-0D54-467E-CD54-9A3D055C913C}"/>
              </a:ext>
            </a:extLst>
          </p:cNvPr>
          <p:cNvCxnSpPr>
            <a:cxnSpLocks/>
          </p:cNvCxnSpPr>
          <p:nvPr/>
        </p:nvCxnSpPr>
        <p:spPr>
          <a:xfrm flipH="1">
            <a:off x="4388030" y="3286110"/>
            <a:ext cx="3615961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83F3146-9128-55CB-D596-C711350A2A5E}"/>
                  </a:ext>
                </a:extLst>
              </p:cNvPr>
              <p:cNvSpPr txBox="1"/>
              <p:nvPr/>
            </p:nvSpPr>
            <p:spPr>
              <a:xfrm>
                <a:off x="5321881" y="2993089"/>
                <a:ext cx="1768509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dirty="0">
                    <a:solidFill>
                      <a:schemeClr val="accent3"/>
                    </a:solidFill>
                  </a:rPr>
                  <a:t>feedback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1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600" i="1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</m:sub>
                    </m:sSub>
                  </m:oMath>
                </a14:m>
                <a:r>
                  <a:rPr lang="en-US" sz="1600" dirty="0">
                    <a:solidFill>
                      <a:schemeClr val="accent3"/>
                    </a:solidFill>
                  </a:rPr>
                  <a:t>) </a:t>
                </a:r>
                <a:endParaRPr lang="en-BE" sz="1600" dirty="0">
                  <a:solidFill>
                    <a:schemeClr val="accent3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83F3146-9128-55CB-D596-C711350A2A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1881" y="2993089"/>
                <a:ext cx="1768509" cy="338554"/>
              </a:xfrm>
              <a:prstGeom prst="rect">
                <a:avLst/>
              </a:prstGeom>
              <a:blipFill>
                <a:blip r:embed="rId3"/>
                <a:stretch>
                  <a:fillRect t="-3571" b="-21429"/>
                </a:stretch>
              </a:blipFill>
            </p:spPr>
            <p:txBody>
              <a:bodyPr/>
              <a:lstStyle/>
              <a:p>
                <a:r>
                  <a:rPr lang="en-B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1292843-8277-56F1-8E96-5B87F9A47398}"/>
                  </a:ext>
                </a:extLst>
              </p:cNvPr>
              <p:cNvSpPr txBox="1"/>
              <p:nvPr/>
            </p:nvSpPr>
            <p:spPr>
              <a:xfrm>
                <a:off x="8237603" y="4348088"/>
                <a:ext cx="176851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dirty="0">
                    <a:solidFill>
                      <a:schemeClr val="accent3"/>
                    </a:solidFill>
                  </a:rPr>
                  <a:t>Estimate Channel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1" i="0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600" b="0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</m:sub>
                    </m:sSub>
                  </m:oMath>
                </a14:m>
                <a:endParaRPr lang="en-BE" sz="1600" dirty="0">
                  <a:solidFill>
                    <a:schemeClr val="accent3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1292843-8277-56F1-8E96-5B87F9A473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37603" y="4348088"/>
                <a:ext cx="1768510" cy="338554"/>
              </a:xfrm>
              <a:prstGeom prst="rect">
                <a:avLst/>
              </a:prstGeom>
              <a:blipFill>
                <a:blip r:embed="rId4"/>
                <a:stretch>
                  <a:fillRect t="-7143" b="-21429"/>
                </a:stretch>
              </a:blipFill>
            </p:spPr>
            <p:txBody>
              <a:bodyPr/>
              <a:lstStyle/>
              <a:p>
                <a:r>
                  <a:rPr lang="en-B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8E5ADBB-1349-094E-35FA-6C4DFC0E67F0}"/>
              </a:ext>
            </a:extLst>
          </p:cNvPr>
          <p:cNvCxnSpPr>
            <a:cxnSpLocks/>
          </p:cNvCxnSpPr>
          <p:nvPr/>
        </p:nvCxnSpPr>
        <p:spPr>
          <a:xfrm>
            <a:off x="4388030" y="3664668"/>
            <a:ext cx="3651971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BAD7EBB-5566-F593-F968-DB4D13686FEE}"/>
                  </a:ext>
                </a:extLst>
              </p:cNvPr>
              <p:cNvSpPr txBox="1"/>
              <p:nvPr/>
            </p:nvSpPr>
            <p:spPr>
              <a:xfrm>
                <a:off x="5321881" y="3358794"/>
                <a:ext cx="1768509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dirty="0">
                    <a:solidFill>
                      <a:schemeClr val="accent3"/>
                    </a:solidFill>
                  </a:rPr>
                  <a:t>feedforward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1" i="0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𝐖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600" i="1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</m:sub>
                    </m:sSub>
                  </m:oMath>
                </a14:m>
                <a:r>
                  <a:rPr lang="en-US" sz="1600" dirty="0">
                    <a:solidFill>
                      <a:schemeClr val="accent3"/>
                    </a:solidFill>
                  </a:rPr>
                  <a:t>)</a:t>
                </a:r>
                <a:endParaRPr lang="en-BE" sz="1600" dirty="0">
                  <a:solidFill>
                    <a:schemeClr val="accent3"/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BAD7EBB-5566-F593-F968-DB4D13686F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1881" y="3358794"/>
                <a:ext cx="1768509" cy="338554"/>
              </a:xfrm>
              <a:prstGeom prst="rect">
                <a:avLst/>
              </a:prstGeom>
              <a:blipFill>
                <a:blip r:embed="rId5"/>
                <a:stretch>
                  <a:fillRect t="-3571" b="-21429"/>
                </a:stretch>
              </a:blipFill>
            </p:spPr>
            <p:txBody>
              <a:bodyPr/>
              <a:lstStyle/>
              <a:p>
                <a:r>
                  <a:rPr lang="en-B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B397A6A-E8DF-BED0-1776-B663EB1FE12B}"/>
                  </a:ext>
                </a:extLst>
              </p:cNvPr>
              <p:cNvSpPr txBox="1"/>
              <p:nvPr/>
            </p:nvSpPr>
            <p:spPr>
              <a:xfrm>
                <a:off x="1621756" y="4517365"/>
                <a:ext cx="2417560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dirty="0">
                    <a:solidFill>
                      <a:schemeClr val="accent3"/>
                    </a:solidFill>
                  </a:rPr>
                  <a:t>Compute Compound Precoder </a:t>
                </a:r>
                <a14:m>
                  <m:oMath xmlns:m="http://schemas.openxmlformats.org/officeDocument/2006/math">
                    <m:r>
                      <a:rPr lang="en-US" sz="1600" b="1" i="0" smtClean="0">
                        <a:solidFill>
                          <a:schemeClr val="accent3"/>
                        </a:solidFill>
                        <a:latin typeface="Cambria Math" panose="02040503050406030204" pitchFamily="18" charset="0"/>
                      </a:rPr>
                      <m:t>𝐅</m:t>
                    </m:r>
                  </m:oMath>
                </a14:m>
                <a:r>
                  <a:rPr lang="en-US" sz="1600" dirty="0">
                    <a:solidFill>
                      <a:schemeClr val="accent3"/>
                    </a:solidFill>
                  </a:rPr>
                  <a:t> </a:t>
                </a:r>
                <a:br>
                  <a:rPr lang="en-US" sz="1600" dirty="0">
                    <a:solidFill>
                      <a:schemeClr val="accent3"/>
                    </a:solidFill>
                  </a:rPr>
                </a:br>
                <a:r>
                  <a:rPr lang="en-US" sz="1600" dirty="0">
                    <a:solidFill>
                      <a:schemeClr val="accent3"/>
                    </a:solidFill>
                  </a:rPr>
                  <a:t>&amp; Compound Combiner </a:t>
                </a:r>
                <a14:m>
                  <m:oMath xmlns:m="http://schemas.openxmlformats.org/officeDocument/2006/math">
                    <m:r>
                      <a:rPr lang="en-US" sz="1600" b="1" i="0" smtClean="0">
                        <a:solidFill>
                          <a:schemeClr val="accent3"/>
                        </a:solidFill>
                        <a:latin typeface="Cambria Math" panose="02040503050406030204" pitchFamily="18" charset="0"/>
                      </a:rPr>
                      <m:t>𝐖</m:t>
                    </m:r>
                  </m:oMath>
                </a14:m>
                <a:r>
                  <a:rPr lang="en-US" sz="1600" dirty="0">
                    <a:solidFill>
                      <a:schemeClr val="accent3"/>
                    </a:solidFill>
                  </a:rPr>
                  <a:t> </a:t>
                </a:r>
                <a:endParaRPr lang="en-BE" sz="1600" dirty="0">
                  <a:solidFill>
                    <a:schemeClr val="accent3"/>
                  </a:solidFill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B397A6A-E8DF-BED0-1776-B663EB1FE1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1756" y="4517365"/>
                <a:ext cx="2417560" cy="584775"/>
              </a:xfrm>
              <a:prstGeom prst="rect">
                <a:avLst/>
              </a:prstGeom>
              <a:blipFill>
                <a:blip r:embed="rId6"/>
                <a:stretch>
                  <a:fillRect l="-521" t="-2128" b="-14894"/>
                </a:stretch>
              </a:blipFill>
            </p:spPr>
            <p:txBody>
              <a:bodyPr/>
              <a:lstStyle/>
              <a:p>
                <a:r>
                  <a:rPr lang="en-B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7" name="Graphic 16" descr="Satellite with solid fill">
            <a:extLst>
              <a:ext uri="{FF2B5EF4-FFF2-40B4-BE49-F238E27FC236}">
                <a16:creationId xmlns:a16="http://schemas.microsoft.com/office/drawing/2014/main" id="{CCD15C85-65D8-1A22-18D8-5E1F4BB2432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16200000">
            <a:off x="1946282" y="2412360"/>
            <a:ext cx="1768509" cy="1768509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7B0EC804-99C8-FBA5-79C3-A33AAD775FA8}"/>
              </a:ext>
            </a:extLst>
          </p:cNvPr>
          <p:cNvSpPr txBox="1"/>
          <p:nvPr/>
        </p:nvSpPr>
        <p:spPr>
          <a:xfrm>
            <a:off x="4798209" y="2049345"/>
            <a:ext cx="259558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sz="2000" dirty="0"/>
              <a:t>1. Initial Channel Estimation</a:t>
            </a:r>
          </a:p>
        </p:txBody>
      </p:sp>
    </p:spTree>
    <p:extLst>
      <p:ext uri="{BB962C8B-B14F-4D97-AF65-F5344CB8AC3E}">
        <p14:creationId xmlns:p14="http://schemas.microsoft.com/office/powerpoint/2010/main" val="8168961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1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8" presetClass="entr" presetSubtype="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  <p:bldP spid="11" grpId="0"/>
      <p:bldP spid="13" grpId="0"/>
      <p:bldP spid="1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39F26D-B0B8-4921-379F-2C29E3C200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8F647D-295B-7B78-09A4-843FCF46D63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BE" dirty="0"/>
              <a:t>Proposal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E0CAF72-8F87-33AF-A959-DD1A9CB98C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E" dirty="0"/>
              <a:t>Channel Estimation</a:t>
            </a:r>
          </a:p>
        </p:txBody>
      </p:sp>
      <p:pic>
        <p:nvPicPr>
          <p:cNvPr id="6" name="Graphic 5" descr="Speaker phone with solid fill">
            <a:extLst>
              <a:ext uri="{FF2B5EF4-FFF2-40B4-BE49-F238E27FC236}">
                <a16:creationId xmlns:a16="http://schemas.microsoft.com/office/drawing/2014/main" id="{E03F502E-5E1F-362E-79F5-7952878EE16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37603" y="2623374"/>
            <a:ext cx="1346479" cy="1346479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331CFB7A-253B-62C5-07EC-5A94FA3FBD77}"/>
              </a:ext>
            </a:extLst>
          </p:cNvPr>
          <p:cNvCxnSpPr>
            <a:cxnSpLocks/>
          </p:cNvCxnSpPr>
          <p:nvPr/>
        </p:nvCxnSpPr>
        <p:spPr>
          <a:xfrm>
            <a:off x="4408281" y="2977508"/>
            <a:ext cx="359571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455062DE-D4C3-FF2A-AB7B-A42DF219455F}"/>
              </a:ext>
            </a:extLst>
          </p:cNvPr>
          <p:cNvSpPr txBox="1"/>
          <p:nvPr/>
        </p:nvSpPr>
        <p:spPr>
          <a:xfrm>
            <a:off x="5311755" y="2684451"/>
            <a:ext cx="176850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>
                <a:solidFill>
                  <a:schemeClr val="accent3"/>
                </a:solidFill>
              </a:rPr>
              <a:t>p</a:t>
            </a:r>
            <a:r>
              <a:rPr lang="en-BE" sz="1600" dirty="0">
                <a:solidFill>
                  <a:schemeClr val="accent3"/>
                </a:solidFill>
              </a:rPr>
              <a:t>ilots + data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4423AC7-5560-BE6A-4915-B59E5B33632E}"/>
              </a:ext>
            </a:extLst>
          </p:cNvPr>
          <p:cNvCxnSpPr>
            <a:cxnSpLocks/>
          </p:cNvCxnSpPr>
          <p:nvPr/>
        </p:nvCxnSpPr>
        <p:spPr>
          <a:xfrm flipH="1">
            <a:off x="4388030" y="3333245"/>
            <a:ext cx="3615961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67D28C6-420A-4AB0-D422-C471C84CE678}"/>
                  </a:ext>
                </a:extLst>
              </p:cNvPr>
              <p:cNvSpPr txBox="1"/>
              <p:nvPr/>
            </p:nvSpPr>
            <p:spPr>
              <a:xfrm>
                <a:off x="5321881" y="3020835"/>
                <a:ext cx="1768509" cy="3452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dirty="0">
                    <a:solidFill>
                      <a:schemeClr val="accent3"/>
                    </a:solidFill>
                  </a:rPr>
                  <a:t>feedback: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1600" i="1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600" b="1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𝐇</m:t>
                            </m:r>
                          </m:e>
                        </m:acc>
                      </m:e>
                      <m:sub>
                        <m:r>
                          <m:rPr>
                            <m:sty m:val="p"/>
                          </m:rPr>
                          <a:rPr lang="en-US" sz="1600" i="1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sz="1600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1600" b="0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m</m:t>
                        </m:r>
                      </m:e>
                    </m:d>
                  </m:oMath>
                </a14:m>
                <a:r>
                  <a:rPr lang="en-US" sz="1600" dirty="0">
                    <a:solidFill>
                      <a:schemeClr val="accent3"/>
                    </a:solidFill>
                  </a:rPr>
                  <a:t> </a:t>
                </a:r>
                <a:endParaRPr lang="en-BE" sz="1600" dirty="0">
                  <a:solidFill>
                    <a:schemeClr val="accent3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67D28C6-420A-4AB0-D422-C471C84CE6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1881" y="3020835"/>
                <a:ext cx="1768509" cy="345223"/>
              </a:xfrm>
              <a:prstGeom prst="rect">
                <a:avLst/>
              </a:prstGeom>
              <a:blipFill>
                <a:blip r:embed="rId4"/>
                <a:stretch>
                  <a:fillRect t="-7407" b="-25926"/>
                </a:stretch>
              </a:blipFill>
            </p:spPr>
            <p:txBody>
              <a:bodyPr/>
              <a:lstStyle/>
              <a:p>
                <a:r>
                  <a:rPr lang="en-B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B9D0460-1373-13C4-B311-B5E60A6D53CB}"/>
                  </a:ext>
                </a:extLst>
              </p:cNvPr>
              <p:cNvSpPr txBox="1"/>
              <p:nvPr/>
            </p:nvSpPr>
            <p:spPr>
              <a:xfrm>
                <a:off x="7768796" y="4086508"/>
                <a:ext cx="2931102" cy="1087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 algn="ctr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1600" dirty="0">
                    <a:solidFill>
                      <a:schemeClr val="accent3"/>
                    </a:solidFill>
                  </a:rPr>
                  <a:t>Decode Data</a:t>
                </a:r>
              </a:p>
              <a:p>
                <a:pPr marL="285750" indent="-285750" algn="ctr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1600" dirty="0">
                    <a:solidFill>
                      <a:schemeClr val="accent3"/>
                    </a:solidFill>
                  </a:rPr>
                  <a:t>Estimate Channel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1600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600" b="1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𝐇</m:t>
                            </m:r>
                          </m:e>
                        </m:acc>
                      </m:e>
                      <m:sub>
                        <m:r>
                          <m:rPr>
                            <m:sty m:val="p"/>
                          </m:rPr>
                          <a:rPr lang="en-US" sz="1600" b="0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sz="1600" b="0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1600" b="0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m</m:t>
                        </m:r>
                      </m:e>
                    </m:d>
                  </m:oMath>
                </a14:m>
                <a:endParaRPr lang="en-BE" sz="1600" dirty="0">
                  <a:solidFill>
                    <a:schemeClr val="accent3"/>
                  </a:solidFill>
                </a:endParaRPr>
              </a:p>
              <a:p>
                <a:pPr algn="ctr"/>
                <a:r>
                  <a:rPr lang="en-BE" sz="1600" dirty="0">
                    <a:solidFill>
                      <a:schemeClr val="accent3"/>
                    </a:solidFill>
                  </a:rPr>
                  <a:t>(EM-algorithm)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B9D0460-1373-13C4-B311-B5E60A6D53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68796" y="4086508"/>
                <a:ext cx="2931102" cy="1087221"/>
              </a:xfrm>
              <a:prstGeom prst="rect">
                <a:avLst/>
              </a:prstGeom>
              <a:blipFill>
                <a:blip r:embed="rId5"/>
                <a:stretch>
                  <a:fillRect b="-6897"/>
                </a:stretch>
              </a:blipFill>
            </p:spPr>
            <p:txBody>
              <a:bodyPr/>
              <a:lstStyle/>
              <a:p>
                <a:r>
                  <a:rPr lang="en-B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D611B6C-4B5B-3F2F-0DEA-C62838FF85BA}"/>
              </a:ext>
            </a:extLst>
          </p:cNvPr>
          <p:cNvCxnSpPr>
            <a:cxnSpLocks/>
          </p:cNvCxnSpPr>
          <p:nvPr/>
        </p:nvCxnSpPr>
        <p:spPr>
          <a:xfrm>
            <a:off x="4388030" y="3664668"/>
            <a:ext cx="3651971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F66B4AE-9B69-B600-D5FA-1FB251A00966}"/>
                  </a:ext>
                </a:extLst>
              </p:cNvPr>
              <p:cNvSpPr txBox="1"/>
              <p:nvPr/>
            </p:nvSpPr>
            <p:spPr>
              <a:xfrm>
                <a:off x="5321881" y="3358794"/>
                <a:ext cx="1768509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dirty="0">
                    <a:solidFill>
                      <a:schemeClr val="accent3"/>
                    </a:solidFill>
                  </a:rPr>
                  <a:t>feedforward: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1" i="0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𝐆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600" i="1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</m:sub>
                    </m:sSub>
                  </m:oMath>
                </a14:m>
                <a:endParaRPr lang="en-BE" sz="1600" dirty="0">
                  <a:solidFill>
                    <a:schemeClr val="accent4"/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F66B4AE-9B69-B600-D5FA-1FB251A009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1881" y="3358794"/>
                <a:ext cx="1768509" cy="338554"/>
              </a:xfrm>
              <a:prstGeom prst="rect">
                <a:avLst/>
              </a:prstGeom>
              <a:blipFill>
                <a:blip r:embed="rId6"/>
                <a:stretch>
                  <a:fillRect t="-3571" b="-21429"/>
                </a:stretch>
              </a:blipFill>
            </p:spPr>
            <p:txBody>
              <a:bodyPr/>
              <a:lstStyle/>
              <a:p>
                <a:r>
                  <a:rPr lang="en-B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A8588AD-E548-B7B5-C80F-230F5D6DB926}"/>
                  </a:ext>
                </a:extLst>
              </p:cNvPr>
              <p:cNvSpPr txBox="1"/>
              <p:nvPr/>
            </p:nvSpPr>
            <p:spPr>
              <a:xfrm>
                <a:off x="1492101" y="4963641"/>
                <a:ext cx="2676867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dirty="0">
                    <a:solidFill>
                      <a:schemeClr val="accent3"/>
                    </a:solidFill>
                  </a:rPr>
                  <a:t>(2) Compute Compound Precoder </a:t>
                </a:r>
                <a14:m>
                  <m:oMath xmlns:m="http://schemas.openxmlformats.org/officeDocument/2006/math">
                    <m:r>
                      <a:rPr lang="en-US" sz="1600" b="1" i="0" smtClean="0">
                        <a:solidFill>
                          <a:schemeClr val="accent3"/>
                        </a:solidFill>
                        <a:latin typeface="Cambria Math" panose="02040503050406030204" pitchFamily="18" charset="0"/>
                      </a:rPr>
                      <m:t>𝐅</m:t>
                    </m:r>
                  </m:oMath>
                </a14:m>
                <a:r>
                  <a:rPr lang="en-US" sz="1600" dirty="0">
                    <a:solidFill>
                      <a:schemeClr val="accent3"/>
                    </a:solidFill>
                  </a:rPr>
                  <a:t> </a:t>
                </a:r>
                <a:br>
                  <a:rPr lang="en-US" sz="1600" dirty="0">
                    <a:solidFill>
                      <a:schemeClr val="accent3"/>
                    </a:solidFill>
                  </a:rPr>
                </a:br>
                <a:r>
                  <a:rPr lang="en-US" sz="1600" dirty="0">
                    <a:solidFill>
                      <a:schemeClr val="accent3"/>
                    </a:solidFill>
                  </a:rPr>
                  <a:t>&amp; Compound Combiner </a:t>
                </a:r>
                <a14:m>
                  <m:oMath xmlns:m="http://schemas.openxmlformats.org/officeDocument/2006/math">
                    <m:r>
                      <a:rPr lang="en-US" sz="1600" b="1" i="0" smtClean="0">
                        <a:solidFill>
                          <a:schemeClr val="accent3"/>
                        </a:solidFill>
                        <a:latin typeface="Cambria Math" panose="02040503050406030204" pitchFamily="18" charset="0"/>
                      </a:rPr>
                      <m:t>𝐆</m:t>
                    </m:r>
                  </m:oMath>
                </a14:m>
                <a:endParaRPr lang="en-BE" sz="1600" dirty="0">
                  <a:solidFill>
                    <a:schemeClr val="accent3"/>
                  </a:solidFill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A8588AD-E548-B7B5-C80F-230F5D6DB9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2101" y="4963641"/>
                <a:ext cx="2676867" cy="584775"/>
              </a:xfrm>
              <a:prstGeom prst="rect">
                <a:avLst/>
              </a:prstGeom>
              <a:blipFill>
                <a:blip r:embed="rId7"/>
                <a:stretch>
                  <a:fillRect t="-2128" b="-14894"/>
                </a:stretch>
              </a:blipFill>
            </p:spPr>
            <p:txBody>
              <a:bodyPr/>
              <a:lstStyle/>
              <a:p>
                <a:r>
                  <a:rPr lang="en-B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7" name="Graphic 16" descr="Satellite with solid fill">
            <a:extLst>
              <a:ext uri="{FF2B5EF4-FFF2-40B4-BE49-F238E27FC236}">
                <a16:creationId xmlns:a16="http://schemas.microsoft.com/office/drawing/2014/main" id="{9E441E56-D566-5C01-5DBE-CD196EB9EDE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16200000">
            <a:off x="1946282" y="2412360"/>
            <a:ext cx="1768509" cy="1768509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60ECA22B-1810-946E-497D-41F8854D8749}"/>
              </a:ext>
            </a:extLst>
          </p:cNvPr>
          <p:cNvSpPr txBox="1"/>
          <p:nvPr/>
        </p:nvSpPr>
        <p:spPr>
          <a:xfrm>
            <a:off x="5222825" y="1991879"/>
            <a:ext cx="19800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sz="2000" dirty="0"/>
              <a:t>2. Data Transmission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36C7A36F-ACCD-7573-FBA2-08506CA499CA}"/>
                  </a:ext>
                </a:extLst>
              </p:cNvPr>
              <p:cNvSpPr txBox="1"/>
              <p:nvPr/>
            </p:nvSpPr>
            <p:spPr>
              <a:xfrm>
                <a:off x="1492102" y="4317310"/>
                <a:ext cx="2676867" cy="7288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 algn="ctr">
                  <a:buAutoNum type="arabicParenBoth"/>
                </a:pPr>
                <a:r>
                  <a:rPr lang="en-BE" dirty="0">
                    <a:solidFill>
                      <a:schemeClr val="accent3"/>
                    </a:solidFill>
                  </a:rPr>
                  <a:t>Compute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̂"/>
                            <m:ctrlPr>
                              <a:rPr lang="en-US" i="1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𝐇</m:t>
                            </m:r>
                          </m:e>
                        </m:acc>
                      </m:e>
                      <m:sub>
                        <m:r>
                          <m:rPr>
                            <m:sty m:val="p"/>
                          </m:rPr>
                          <a:rPr lang="en-US" b="0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</m:sub>
                      <m:sup>
                        <m:d>
                          <m:dPr>
                            <m:begChr m:val="["/>
                            <m:endChr m:val="]"/>
                            <m:ctrlPr>
                              <a:rPr lang="en-US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b="0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AR</m:t>
                            </m:r>
                          </m:e>
                        </m:d>
                      </m:sup>
                    </m:sSubSup>
                    <m:d>
                      <m:dPr>
                        <m:begChr m:val="["/>
                        <m:endChr m:val="]"/>
                        <m:ctrlPr>
                          <a:rPr lang="en-US" i="1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i="1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m</m:t>
                        </m:r>
                        <m:r>
                          <a:rPr lang="en-US" b="0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</m:oMath>
                </a14:m>
                <a:endParaRPr lang="en-US" dirty="0">
                  <a:solidFill>
                    <a:schemeClr val="accent3"/>
                  </a:solidFill>
                </a:endParaRPr>
              </a:p>
              <a:p>
                <a:pPr algn="ctr"/>
                <a:r>
                  <a:rPr lang="en-BE" dirty="0">
                    <a:solidFill>
                      <a:schemeClr val="accent3"/>
                    </a:solidFill>
                  </a:rPr>
                  <a:t>(AR-Model)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36C7A36F-ACCD-7573-FBA2-08506CA499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2102" y="4317310"/>
                <a:ext cx="2676867" cy="728854"/>
              </a:xfrm>
              <a:prstGeom prst="rect">
                <a:avLst/>
              </a:prstGeom>
              <a:blipFill>
                <a:blip r:embed="rId9"/>
                <a:stretch>
                  <a:fillRect b="-10169"/>
                </a:stretch>
              </a:blipFill>
            </p:spPr>
            <p:txBody>
              <a:bodyPr/>
              <a:lstStyle/>
              <a:p>
                <a:r>
                  <a:rPr lang="en-B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376167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8" presetClass="entr" presetSubtype="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0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  <p:bldP spid="11" grpId="0"/>
      <p:bldP spid="13" grpId="0"/>
      <p:bldP spid="14" grpId="0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svg"/></Relationships>
</file>

<file path=ppt/theme/theme1.xml><?xml version="1.0" encoding="utf-8"?>
<a:theme xmlns:a="http://schemas.openxmlformats.org/drawingml/2006/main" name="Kantoorthema">
  <a:themeElements>
    <a:clrScheme name="UGent FAC">
      <a:dk1>
        <a:srgbClr val="000000"/>
      </a:dk1>
      <a:lt1>
        <a:srgbClr val="FFFFFF"/>
      </a:lt1>
      <a:dk2>
        <a:srgbClr val="1E64C8"/>
      </a:dk2>
      <a:lt2>
        <a:srgbClr val="FFFFFF"/>
      </a:lt2>
      <a:accent1>
        <a:srgbClr val="F1A32B"/>
      </a:accent1>
      <a:accent2>
        <a:srgbClr val="DC4E31"/>
      </a:accent2>
      <a:accent3>
        <a:srgbClr val="2C8CA5"/>
      </a:accent3>
      <a:accent4>
        <a:srgbClr val="E85E71"/>
      </a:accent4>
      <a:accent5>
        <a:srgbClr val="8BBED5"/>
      </a:accent5>
      <a:accent6>
        <a:srgbClr val="AEB047"/>
      </a:accent6>
      <a:hlink>
        <a:srgbClr val="1E64C8"/>
      </a:hlink>
      <a:folHlink>
        <a:srgbClr val="1E64C8"/>
      </a:folHlink>
    </a:clrScheme>
    <a:fontScheme name="UGent">
      <a:majorFont>
        <a:latin typeface="UGent Panno Text SemiBold"/>
        <a:ea typeface=""/>
        <a:cs typeface=""/>
      </a:majorFont>
      <a:minorFont>
        <a:latin typeface="UGent Panno Tex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/>
          </a:stretch>
        </a:blipFill>
        <a:ln>
          <a:noFill/>
        </a:ln>
      </a:spPr>
      <a:bodyPr/>
      <a:lstStyle>
        <a:defPPr algn="l">
          <a:defRPr/>
        </a:defPPr>
      </a:lstStyle>
      <a:style>
        <a:lnRef idx="2">
          <a:scrgbClr r="0" g="0" b="0"/>
        </a:lnRef>
        <a:fillRef idx="1">
          <a:scrgbClr r="0" g="0" b="0"/>
        </a:fillRef>
        <a:effectRef idx="0">
          <a:schemeClr val="dk2">
            <a:tint val="40000"/>
            <a:hueOff val="0"/>
            <a:satOff val="0"/>
            <a:lumOff val="0"/>
            <a:alphaOff val="0"/>
          </a:schemeClr>
        </a:effectRef>
        <a:fontRef idx="minor">
          <a:schemeClr val="lt1">
            <a:hueOff val="0"/>
            <a:satOff val="0"/>
            <a:lumOff val="0"/>
            <a:alphaOff val="0"/>
          </a:schemeClr>
        </a:fontRef>
      </a:style>
    </a:spDef>
  </a:objectDefaults>
  <a:extraClrSchemeLst/>
  <a:extLst>
    <a:ext uri="{05A4C25C-085E-4340-85A3-A5531E510DB2}">
      <thm15:themeFamily xmlns:thm15="http://schemas.microsoft.com/office/thememl/2012/main" name="Presentatie1" id="{CADDFB91-C688-4600-9637-E64F35C1E4BE}" vid="{E1B6215B-46C5-4A02-9A90-726F133FF51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Kantoorthema</Template>
  <TotalTime>11504</TotalTime>
  <Words>476</Words>
  <Application>Microsoft Macintosh PowerPoint</Application>
  <PresentationFormat>Widescreen</PresentationFormat>
  <Paragraphs>72</Paragraphs>
  <Slides>13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Arial</vt:lpstr>
      <vt:lpstr>Calibri</vt:lpstr>
      <vt:lpstr>Cambria Math</vt:lpstr>
      <vt:lpstr>UGent Panno Text</vt:lpstr>
      <vt:lpstr>UGent Panno Text Medium</vt:lpstr>
      <vt:lpstr>UGent Panno Text SemiLight</vt:lpstr>
      <vt:lpstr>Kantoorthema</vt:lpstr>
      <vt:lpstr>PowerPoint Presentation</vt:lpstr>
      <vt:lpstr>Introduction</vt:lpstr>
      <vt:lpstr>System Model</vt:lpstr>
      <vt:lpstr>System Model</vt:lpstr>
      <vt:lpstr>Satellite Channel Model</vt:lpstr>
      <vt:lpstr>Satellite Channel Model</vt:lpstr>
      <vt:lpstr>Satellite Channel Model</vt:lpstr>
      <vt:lpstr>Satellite Channel Model</vt:lpstr>
      <vt:lpstr>PowerPoint Presentation</vt:lpstr>
      <vt:lpstr>PowerPoint Presentation</vt:lpstr>
      <vt:lpstr>Channel Estimation</vt:lpstr>
      <vt:lpstr>Channel Estimation</vt:lpstr>
      <vt:lpstr>Channel Estimation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Wannes Baes</dc:creator>
  <cp:lastModifiedBy>Wannes Baes</cp:lastModifiedBy>
  <cp:revision>60</cp:revision>
  <dcterms:created xsi:type="dcterms:W3CDTF">2025-11-25T17:27:12Z</dcterms:created>
  <dcterms:modified xsi:type="dcterms:W3CDTF">2026-04-14T14:54:24Z</dcterms:modified>
</cp:coreProperties>
</file>